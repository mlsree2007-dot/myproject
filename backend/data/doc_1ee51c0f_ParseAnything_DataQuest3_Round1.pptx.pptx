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mo Bold" charset="1" panose="020B0704020202020204"/>
      <p:regular r:id="rId13"/>
    </p:embeddedFont>
    <p:embeddedFont>
      <p:font typeface="Arimo" charset="1" panose="020B0604020202020204"/>
      <p:regular r:id="rId14"/>
    </p:embeddedFont>
    <p:embeddedFont>
      <p:font typeface="Calibri (MS) Bold" charset="1" panose="020F070203040403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32918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38953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44988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387512" y="945832"/>
            <a:ext cx="1674495" cy="1263015"/>
            <a:chOff x="0" y="0"/>
            <a:chExt cx="223266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116330" y="0"/>
              <a:ext cx="1116330" cy="842010"/>
            </a:xfrm>
            <a:custGeom>
              <a:avLst/>
              <a:gdLst/>
              <a:ahLst/>
              <a:cxnLst/>
              <a:rect r="r" b="b" t="t" l="l"/>
              <a:pathLst>
                <a:path h="842010" w="1116330">
                  <a:moveTo>
                    <a:pt x="0" y="0"/>
                  </a:moveTo>
                  <a:cubicBezTo>
                    <a:pt x="616585" y="0"/>
                    <a:pt x="1116330" y="376936"/>
                    <a:pt x="111633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3550" t="0" r="-93550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116330" y="0"/>
              <a:ext cx="1116330" cy="842010"/>
            </a:xfrm>
            <a:custGeom>
              <a:avLst/>
              <a:gdLst/>
              <a:ahLst/>
              <a:cxnLst/>
              <a:rect r="r" b="b" t="t" l="l"/>
              <a:pathLst>
                <a:path h="842010" w="1116330">
                  <a:moveTo>
                    <a:pt x="0" y="0"/>
                  </a:moveTo>
                  <a:cubicBezTo>
                    <a:pt x="616585" y="0"/>
                    <a:pt x="1116330" y="376936"/>
                    <a:pt x="111633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193550" t="0" r="-93550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32674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597266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180272" y="7940993"/>
            <a:ext cx="1537335" cy="1125855"/>
            <a:chOff x="0" y="0"/>
            <a:chExt cx="2049780" cy="1501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024890" y="0"/>
              <a:ext cx="1024890" cy="750570"/>
            </a:xfrm>
            <a:custGeom>
              <a:avLst/>
              <a:gdLst/>
              <a:ahLst/>
              <a:cxnLst/>
              <a:rect r="r" b="b" t="t" l="l"/>
              <a:pathLst>
                <a:path h="750570" w="1024890">
                  <a:moveTo>
                    <a:pt x="0" y="0"/>
                  </a:moveTo>
                  <a:cubicBezTo>
                    <a:pt x="566039" y="0"/>
                    <a:pt x="1024890" y="336042"/>
                    <a:pt x="1024890" y="750570"/>
                  </a:cubicBezTo>
                  <a:lnTo>
                    <a:pt x="0" y="75057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7924" t="0" r="-87924" b="-100000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024890" y="0"/>
              <a:ext cx="1024890" cy="750570"/>
            </a:xfrm>
            <a:custGeom>
              <a:avLst/>
              <a:gdLst/>
              <a:ahLst/>
              <a:cxnLst/>
              <a:rect r="r" b="b" t="t" l="l"/>
              <a:pathLst>
                <a:path h="750570" w="1024890">
                  <a:moveTo>
                    <a:pt x="0" y="0"/>
                  </a:moveTo>
                  <a:cubicBezTo>
                    <a:pt x="566039" y="0"/>
                    <a:pt x="1024890" y="336042"/>
                    <a:pt x="1024890" y="75057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187924" t="0" r="-87924" b="-100000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2119503" y="8428863"/>
            <a:ext cx="150114" cy="150114"/>
            <a:chOff x="0" y="0"/>
            <a:chExt cx="200152" cy="2001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3628263" y="7880223"/>
            <a:ext cx="150114" cy="150114"/>
            <a:chOff x="0" y="0"/>
            <a:chExt cx="200152" cy="2001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-10800000">
            <a:off x="2468880" y="1138428"/>
            <a:ext cx="329184" cy="384048"/>
            <a:chOff x="0" y="0"/>
            <a:chExt cx="438912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8912" cy="512064"/>
            </a:xfrm>
            <a:custGeom>
              <a:avLst/>
              <a:gdLst/>
              <a:ahLst/>
              <a:cxnLst/>
              <a:rect r="r" b="b" t="t" l="l"/>
              <a:pathLst>
                <a:path h="512064" w="438912">
                  <a:moveTo>
                    <a:pt x="0" y="512064"/>
                  </a:moveTo>
                  <a:lnTo>
                    <a:pt x="219456" y="0"/>
                  </a:lnTo>
                  <a:lnTo>
                    <a:pt x="438912" y="51206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510028" y="1028700"/>
            <a:ext cx="246888" cy="137160"/>
            <a:chOff x="0" y="0"/>
            <a:chExt cx="329184" cy="1828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" cy="182880"/>
            </a:xfrm>
            <a:custGeom>
              <a:avLst/>
              <a:gdLst/>
              <a:ahLst/>
              <a:cxnLst/>
              <a:rect r="r" b="b" t="t" l="l"/>
              <a:pathLst>
                <a:path h="182880" w="329184">
                  <a:moveTo>
                    <a:pt x="0" y="36576"/>
                  </a:moveTo>
                  <a:cubicBezTo>
                    <a:pt x="0" y="16383"/>
                    <a:pt x="16383" y="0"/>
                    <a:pt x="36576" y="0"/>
                  </a:cubicBezTo>
                  <a:lnTo>
                    <a:pt x="292608" y="0"/>
                  </a:lnTo>
                  <a:cubicBezTo>
                    <a:pt x="312801" y="0"/>
                    <a:pt x="329184" y="16383"/>
                    <a:pt x="329184" y="36576"/>
                  </a:cubicBezTo>
                  <a:lnTo>
                    <a:pt x="329184" y="146304"/>
                  </a:lnTo>
                  <a:cubicBezTo>
                    <a:pt x="329184" y="166497"/>
                    <a:pt x="312801" y="182880"/>
                    <a:pt x="292608" y="182880"/>
                  </a:cubicBezTo>
                  <a:lnTo>
                    <a:pt x="36576" y="182880"/>
                  </a:lnTo>
                  <a:cubicBezTo>
                    <a:pt x="16383" y="182880"/>
                    <a:pt x="0" y="166497"/>
                    <a:pt x="0" y="146304"/>
                  </a:cubicBez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99182" y="1234440"/>
            <a:ext cx="68580" cy="68580"/>
            <a:chOff x="0" y="0"/>
            <a:chExt cx="91440" cy="91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" cy="91440"/>
            </a:xfrm>
            <a:custGeom>
              <a:avLst/>
              <a:gdLst/>
              <a:ahLst/>
              <a:cxnLst/>
              <a:rect r="r" b="b" t="t" l="l"/>
              <a:pathLst>
                <a:path h="91440" w="91440">
                  <a:moveTo>
                    <a:pt x="0" y="45720"/>
                  </a:moveTo>
                  <a:cubicBezTo>
                    <a:pt x="0" y="20447"/>
                    <a:pt x="20447" y="0"/>
                    <a:pt x="45720" y="0"/>
                  </a:cubicBezTo>
                  <a:cubicBezTo>
                    <a:pt x="70993" y="0"/>
                    <a:pt x="91440" y="20447"/>
                    <a:pt x="91440" y="45720"/>
                  </a:cubicBezTo>
                  <a:cubicBezTo>
                    <a:pt x="91440" y="70993"/>
                    <a:pt x="70993" y="91440"/>
                    <a:pt x="45720" y="91440"/>
                  </a:cubicBezTo>
                  <a:cubicBezTo>
                    <a:pt x="20447" y="91440"/>
                    <a:pt x="0" y="70993"/>
                    <a:pt x="0" y="45720"/>
                  </a:cubicBez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626614" y="1303020"/>
            <a:ext cx="28575" cy="205740"/>
            <a:chOff x="0" y="0"/>
            <a:chExt cx="38100" cy="2743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8100" cy="274320"/>
            </a:xfrm>
            <a:custGeom>
              <a:avLst/>
              <a:gdLst/>
              <a:ahLst/>
              <a:cxnLst/>
              <a:rect r="r" b="b" t="t" l="l"/>
              <a:pathLst>
                <a:path h="274320" w="38100">
                  <a:moveTo>
                    <a:pt x="0" y="0"/>
                  </a:moveTo>
                  <a:lnTo>
                    <a:pt x="38100" y="0"/>
                  </a:lnTo>
                  <a:lnTo>
                    <a:pt x="38100" y="274320"/>
                  </a:lnTo>
                  <a:lnTo>
                    <a:pt x="0" y="27432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468880" y="1589913"/>
            <a:ext cx="13716000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</a:t>
            </a:r>
          </a:p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ROUND 1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2468880" y="3867912"/>
            <a:ext cx="14127480" cy="28575"/>
            <a:chOff x="0" y="0"/>
            <a:chExt cx="18836640" cy="381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57" id="57"/>
          <p:cNvSpPr txBox="true"/>
          <p:nvPr/>
        </p:nvSpPr>
        <p:spPr>
          <a:xfrm rot="0">
            <a:off x="2468880" y="3986022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ROUND 1 SUBMISSION  ·  DQCL  ·  CENIZAS LABS PROBLEM STATEMENT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2454592" y="4854892"/>
            <a:ext cx="6886575" cy="4417695"/>
            <a:chOff x="0" y="0"/>
            <a:chExt cx="9182100" cy="58902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82100" cy="5890260"/>
            </a:xfrm>
            <a:custGeom>
              <a:avLst/>
              <a:gdLst/>
              <a:ahLst/>
              <a:cxnLst/>
              <a:rect r="r" b="b" t="t" l="l"/>
              <a:pathLst>
                <a:path h="5890260" w="9182100">
                  <a:moveTo>
                    <a:pt x="0" y="206121"/>
                  </a:moveTo>
                  <a:cubicBezTo>
                    <a:pt x="0" y="92329"/>
                    <a:pt x="92329" y="0"/>
                    <a:pt x="206121" y="0"/>
                  </a:cubicBezTo>
                  <a:lnTo>
                    <a:pt x="8975979" y="0"/>
                  </a:lnTo>
                  <a:cubicBezTo>
                    <a:pt x="9089771" y="0"/>
                    <a:pt x="9182100" y="92329"/>
                    <a:pt x="9182100" y="206121"/>
                  </a:cubicBezTo>
                  <a:lnTo>
                    <a:pt x="9182100" y="5684139"/>
                  </a:lnTo>
                  <a:cubicBezTo>
                    <a:pt x="9182100" y="5798058"/>
                    <a:pt x="9089771" y="5890260"/>
                    <a:pt x="8975979" y="5890260"/>
                  </a:cubicBezTo>
                  <a:lnTo>
                    <a:pt x="206121" y="5890260"/>
                  </a:lnTo>
                  <a:cubicBezTo>
                    <a:pt x="92329" y="5890260"/>
                    <a:pt x="0" y="5797931"/>
                    <a:pt x="0" y="568413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2937510" y="4665726"/>
            <a:ext cx="2423160" cy="406908"/>
            <a:chOff x="0" y="0"/>
            <a:chExt cx="3230880" cy="5425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DETAILS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2655189" y="5240509"/>
            <a:ext cx="6168771" cy="256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7"/>
              </a:lnSpc>
            </a:pPr>
            <a:r>
              <a:rPr lang="en-US" sz="1739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PROJECT TITLE</a:t>
            </a:r>
          </a:p>
          <a:p>
            <a:pPr algn="l">
              <a:lnSpc>
                <a:spcPts val="3035"/>
              </a:lnSpc>
            </a:pPr>
            <a:r>
              <a:rPr lang="en-US" sz="2529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ParseAnything — High-Fidelity Universal Document Ingestion Engine</a:t>
            </a:r>
          </a:p>
          <a:p>
            <a:pPr algn="l">
              <a:lnSpc>
                <a:spcPts val="2087"/>
              </a:lnSpc>
            </a:pPr>
            <a:r>
              <a:rPr lang="en-US" sz="1739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ONE-LINE PITCH</a:t>
            </a:r>
          </a:p>
          <a:p>
            <a:pPr algn="l">
              <a:lnSpc>
                <a:spcPts val="1992"/>
              </a:lnSpc>
            </a:pPr>
            <a:r>
              <a:rPr lang="en-US" sz="166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One entry point turns any PDF, Office file, spreadsheet or scan into structured Markdown and JSON — every block with its bounding box, confidence score and source.</a:t>
            </a:r>
          </a:p>
          <a:p>
            <a:pPr algn="l">
              <a:lnSpc>
                <a:spcPts val="2087"/>
              </a:lnSpc>
            </a:pPr>
            <a:r>
              <a:rPr lang="en-US" sz="1739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TRACK</a:t>
            </a:r>
          </a:p>
          <a:p>
            <a:pPr algn="l">
              <a:lnSpc>
                <a:spcPts val="1992"/>
              </a:lnSpc>
            </a:pPr>
            <a:r>
              <a:rPr lang="en-US" sz="1660" b="true">
                <a:solidFill>
                  <a:srgbClr val="079ED2"/>
                </a:solidFill>
                <a:latin typeface="Arimo Bold"/>
                <a:ea typeface="Arimo Bold"/>
                <a:cs typeface="Arimo Bold"/>
                <a:sym typeface="Arimo Bold"/>
              </a:rPr>
              <a:t>DQCL — Cenizas Labs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724072" y="4854892"/>
            <a:ext cx="6886575" cy="4417695"/>
            <a:chOff x="0" y="0"/>
            <a:chExt cx="9182100" cy="58902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182100" cy="5890260"/>
            </a:xfrm>
            <a:custGeom>
              <a:avLst/>
              <a:gdLst/>
              <a:ahLst/>
              <a:cxnLst/>
              <a:rect r="r" b="b" t="t" l="l"/>
              <a:pathLst>
                <a:path h="5890260" w="9182100">
                  <a:moveTo>
                    <a:pt x="0" y="206121"/>
                  </a:moveTo>
                  <a:cubicBezTo>
                    <a:pt x="0" y="92329"/>
                    <a:pt x="92329" y="0"/>
                    <a:pt x="206121" y="0"/>
                  </a:cubicBezTo>
                  <a:lnTo>
                    <a:pt x="8975979" y="0"/>
                  </a:lnTo>
                  <a:cubicBezTo>
                    <a:pt x="9089771" y="0"/>
                    <a:pt x="9182100" y="92329"/>
                    <a:pt x="9182100" y="206121"/>
                  </a:cubicBezTo>
                  <a:lnTo>
                    <a:pt x="9182100" y="5684139"/>
                  </a:lnTo>
                  <a:cubicBezTo>
                    <a:pt x="9182100" y="5798058"/>
                    <a:pt x="9089771" y="5890260"/>
                    <a:pt x="8975979" y="5890260"/>
                  </a:cubicBezTo>
                  <a:lnTo>
                    <a:pt x="206121" y="5890260"/>
                  </a:lnTo>
                  <a:cubicBezTo>
                    <a:pt x="92329" y="5890260"/>
                    <a:pt x="0" y="5797931"/>
                    <a:pt x="0" y="568413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0206990" y="4665726"/>
            <a:ext cx="2423160" cy="406908"/>
            <a:chOff x="0" y="0"/>
            <a:chExt cx="3230880" cy="5425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TEAM &amp; MEMBERS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0120503" y="5270373"/>
            <a:ext cx="5960819" cy="3404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TEAM</a:t>
            </a:r>
          </a:p>
          <a:p>
            <a:pPr algn="l">
              <a:lnSpc>
                <a:spcPts val="2933"/>
              </a:lnSpc>
            </a:pPr>
            <a:r>
              <a:rPr lang="en-US" sz="2444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DARE DEVILS 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PARTICIPANTS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LATHIKKA SREE M  25BME1194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SRIGOKUL S     RA2511003050206 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GOWTHAM R    RA2511003050203 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K U SRINIDHI    RA2511053050043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PRATHIMA S      RA2511053050007</a:t>
            </a:r>
          </a:p>
          <a:p>
            <a:pPr algn="l">
              <a:lnSpc>
                <a:spcPts val="2016"/>
              </a:lnSpc>
            </a:pPr>
            <a:r>
              <a:rPr lang="en-US" sz="168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KAVIPRIYAA S   RA2511004010646</a:t>
            </a:r>
          </a:p>
          <a:p>
            <a:pPr algn="l">
              <a:lnSpc>
                <a:spcPts val="2016"/>
              </a:lnSpc>
            </a:pPr>
          </a:p>
          <a:p>
            <a:pPr algn="l">
              <a:lnSpc>
                <a:spcPts val="2016"/>
              </a:lnSpc>
            </a:pPr>
          </a:p>
          <a:p>
            <a:pPr algn="l">
              <a:lnSpc>
                <a:spcPts val="2016"/>
              </a:lnSpc>
            </a:pPr>
          </a:p>
          <a:p>
            <a:pPr algn="l">
              <a:lnSpc>
                <a:spcPts val="192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02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Problem Definition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Who is impacted · Today's workarounds · Why current methods fail · Concrete proof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71812"/>
            <a:ext cx="6886575" cy="3251835"/>
            <a:chOff x="0" y="0"/>
            <a:chExt cx="9182100" cy="43357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8264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 · AUDIENCE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71800" y="349681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WHO &amp; HOW OFTEN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Analysts and AI-assistant teams in private equity, investment banking, legal diligence and regulated operations.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Every deal room, filing and contract batch has to be ingested — a recurring, high-volume need, not a one-off.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724072" y="3071812"/>
            <a:ext cx="6886575" cy="3251835"/>
            <a:chOff x="0" y="0"/>
            <a:chExt cx="9182100" cy="43357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06990" y="2882646"/>
            <a:ext cx="2423160" cy="406908"/>
            <a:chOff x="0" y="0"/>
            <a:chExt cx="3230880" cy="5425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 · STATUS QUO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241280" y="349681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CURRENT APPROACH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Plain PDF and Office extractors that flatten files into text, with a separate tool for each format.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Scans and legacy or email files come back empty or rejected, so teams re-check numbers by hand against the source.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454592" y="6569393"/>
            <a:ext cx="6886575" cy="3251835"/>
            <a:chOff x="0" y="0"/>
            <a:chExt cx="9182100" cy="43357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937510" y="6380226"/>
            <a:ext cx="2423160" cy="406908"/>
            <a:chOff x="0" y="0"/>
            <a:chExt cx="3230880" cy="5425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 · DEFICIENCY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971800" y="699439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WHY IT FALLS SHORT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•  Scans and photos give empty output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•  Merged cells and multi-page tables split apart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•  Charts and equations dropped or garbled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•  Columns, footnotes and headers interleave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•  No page or bbox provenance to verify answers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724072" y="6569393"/>
            <a:ext cx="6886575" cy="3251835"/>
            <a:chOff x="0" y="0"/>
            <a:chExt cx="9182100" cy="43357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206990" y="6380226"/>
            <a:ext cx="2423160" cy="406908"/>
            <a:chOff x="0" y="0"/>
            <a:chExt cx="3230880" cy="5425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353334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 · VALIDATION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241280" y="699439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EVIDENCE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DQCL brief (Cenizas Labs): </a:t>
            </a: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in high-stakes work, one missed line item, a confused debt-schedule header or a lost chart value causes critical failures.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Existing pipelines record no coordinates, reduce figures to placeholders, leave equations undecoded and reject legacy formats.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03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System identity · End-to-end user workflow · Competitive advantages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03233"/>
            <a:ext cx="14156055" cy="1811655"/>
            <a:chOff x="0" y="0"/>
            <a:chExt cx="18874740" cy="24155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874741" cy="2415540"/>
            </a:xfrm>
            <a:custGeom>
              <a:avLst/>
              <a:gdLst/>
              <a:ahLst/>
              <a:cxnLst/>
              <a:rect r="r" b="b" t="t" l="l"/>
              <a:pathLst>
                <a:path h="2415540" w="18874741">
                  <a:moveTo>
                    <a:pt x="0" y="84582"/>
                  </a:moveTo>
                  <a:cubicBezTo>
                    <a:pt x="0" y="37846"/>
                    <a:pt x="37846" y="0"/>
                    <a:pt x="84582" y="0"/>
                  </a:cubicBezTo>
                  <a:lnTo>
                    <a:pt x="18790158" y="0"/>
                  </a:lnTo>
                  <a:cubicBezTo>
                    <a:pt x="18836895" y="0"/>
                    <a:pt x="18874741" y="37846"/>
                    <a:pt x="18874741" y="84582"/>
                  </a:cubicBezTo>
                  <a:lnTo>
                    <a:pt x="18874741" y="2330958"/>
                  </a:lnTo>
                  <a:cubicBezTo>
                    <a:pt x="18874741" y="2377694"/>
                    <a:pt x="18836895" y="2415540"/>
                    <a:pt x="18790158" y="2415540"/>
                  </a:cubicBezTo>
                  <a:lnTo>
                    <a:pt x="84582" y="2415540"/>
                  </a:lnTo>
                  <a:cubicBezTo>
                    <a:pt x="37846" y="2415540"/>
                    <a:pt x="0" y="2377694"/>
                    <a:pt x="0" y="233095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1406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SOLUTION CORE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71800" y="3328035"/>
            <a:ext cx="13121640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PARSEANYTHING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One entry point detects each file and page region, routes it to the right specialist extractor, and returns reading-ordered Markdown and JSON — every block carrying a bounding box, confidence score and source. Ambiguous content is flagged, never invented.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2454592" y="5060632"/>
            <a:ext cx="14156055" cy="1948815"/>
            <a:chOff x="0" y="0"/>
            <a:chExt cx="18874740" cy="25984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8874741" cy="2598420"/>
            </a:xfrm>
            <a:custGeom>
              <a:avLst/>
              <a:gdLst/>
              <a:ahLst/>
              <a:cxnLst/>
              <a:rect r="r" b="b" t="t" l="l"/>
              <a:pathLst>
                <a:path h="2598420" w="18874741">
                  <a:moveTo>
                    <a:pt x="0" y="90932"/>
                  </a:moveTo>
                  <a:cubicBezTo>
                    <a:pt x="0" y="40767"/>
                    <a:pt x="40767" y="0"/>
                    <a:pt x="90932" y="0"/>
                  </a:cubicBezTo>
                  <a:lnTo>
                    <a:pt x="18783808" y="0"/>
                  </a:lnTo>
                  <a:cubicBezTo>
                    <a:pt x="18833973" y="0"/>
                    <a:pt x="18874741" y="40767"/>
                    <a:pt x="18874741" y="90932"/>
                  </a:cubicBezTo>
                  <a:lnTo>
                    <a:pt x="18874741" y="2507488"/>
                  </a:lnTo>
                  <a:cubicBezTo>
                    <a:pt x="18874741" y="2557653"/>
                    <a:pt x="18833973" y="2598420"/>
                    <a:pt x="18783808" y="2598420"/>
                  </a:cubicBezTo>
                  <a:lnTo>
                    <a:pt x="90932" y="2598420"/>
                  </a:lnTo>
                  <a:cubicBezTo>
                    <a:pt x="40767" y="2598420"/>
                    <a:pt x="0" y="2557653"/>
                    <a:pt x="0" y="250748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2937510" y="4871466"/>
            <a:ext cx="2423160" cy="406908"/>
            <a:chOff x="0" y="0"/>
            <a:chExt cx="3230880" cy="5425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FLOW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866072" y="5719000"/>
            <a:ext cx="3869055" cy="988695"/>
            <a:chOff x="0" y="0"/>
            <a:chExt cx="5158740" cy="13182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587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5158740">
                  <a:moveTo>
                    <a:pt x="0" y="105410"/>
                  </a:moveTo>
                  <a:cubicBezTo>
                    <a:pt x="0" y="47244"/>
                    <a:pt x="47244" y="0"/>
                    <a:pt x="105410" y="0"/>
                  </a:cubicBezTo>
                  <a:lnTo>
                    <a:pt x="5053330" y="0"/>
                  </a:lnTo>
                  <a:cubicBezTo>
                    <a:pt x="5111623" y="0"/>
                    <a:pt x="5158740" y="47244"/>
                    <a:pt x="5158740" y="105410"/>
                  </a:cubicBezTo>
                  <a:lnTo>
                    <a:pt x="5158740" y="1212850"/>
                  </a:lnTo>
                  <a:cubicBezTo>
                    <a:pt x="5158740" y="1271143"/>
                    <a:pt x="5111496" y="1318260"/>
                    <a:pt x="5053330" y="1318260"/>
                  </a:cubicBezTo>
                  <a:lnTo>
                    <a:pt x="105410" y="1318260"/>
                  </a:lnTo>
                  <a:cubicBezTo>
                    <a:pt x="47117" y="1318260"/>
                    <a:pt x="0" y="1271016"/>
                    <a:pt x="0" y="1212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158740" cy="133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1. USER INPUT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PDF · DOCX · PPTX · XLSX · PNG/JPG, digital or scanned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6885432" y="5840730"/>
            <a:ext cx="49377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353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➔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7529512" y="5719000"/>
            <a:ext cx="3869055" cy="988695"/>
            <a:chOff x="0" y="0"/>
            <a:chExt cx="5158740" cy="13182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587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5158740">
                  <a:moveTo>
                    <a:pt x="0" y="105410"/>
                  </a:moveTo>
                  <a:cubicBezTo>
                    <a:pt x="0" y="47244"/>
                    <a:pt x="47244" y="0"/>
                    <a:pt x="105410" y="0"/>
                  </a:cubicBezTo>
                  <a:lnTo>
                    <a:pt x="5053330" y="0"/>
                  </a:lnTo>
                  <a:cubicBezTo>
                    <a:pt x="5111623" y="0"/>
                    <a:pt x="5158740" y="47244"/>
                    <a:pt x="5158740" y="105410"/>
                  </a:cubicBezTo>
                  <a:lnTo>
                    <a:pt x="5158740" y="1212850"/>
                  </a:lnTo>
                  <a:cubicBezTo>
                    <a:pt x="5158740" y="1271143"/>
                    <a:pt x="5111496" y="1318260"/>
                    <a:pt x="5053330" y="1318260"/>
                  </a:cubicBezTo>
                  <a:lnTo>
                    <a:pt x="105410" y="1318260"/>
                  </a:lnTo>
                  <a:cubicBezTo>
                    <a:pt x="47117" y="1318260"/>
                    <a:pt x="0" y="1271016"/>
                    <a:pt x="0" y="1212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B903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5158740" cy="133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2. PROCESSING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Detect &amp; Route → Extract &amp; Assemble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→ Flag &amp; Fail Safe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1548872" y="5840730"/>
            <a:ext cx="49377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353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➔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92952" y="5719000"/>
            <a:ext cx="3869055" cy="988695"/>
            <a:chOff x="0" y="0"/>
            <a:chExt cx="5158740" cy="13182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58740" cy="1318260"/>
            </a:xfrm>
            <a:custGeom>
              <a:avLst/>
              <a:gdLst/>
              <a:ahLst/>
              <a:cxnLst/>
              <a:rect r="r" b="b" t="t" l="l"/>
              <a:pathLst>
                <a:path h="1318260" w="5158740">
                  <a:moveTo>
                    <a:pt x="0" y="105410"/>
                  </a:moveTo>
                  <a:cubicBezTo>
                    <a:pt x="0" y="47244"/>
                    <a:pt x="47244" y="0"/>
                    <a:pt x="105410" y="0"/>
                  </a:cubicBezTo>
                  <a:lnTo>
                    <a:pt x="5053330" y="0"/>
                  </a:lnTo>
                  <a:cubicBezTo>
                    <a:pt x="5111623" y="0"/>
                    <a:pt x="5158740" y="47244"/>
                    <a:pt x="5158740" y="105410"/>
                  </a:cubicBezTo>
                  <a:lnTo>
                    <a:pt x="5158740" y="1212850"/>
                  </a:lnTo>
                  <a:cubicBezTo>
                    <a:pt x="5158740" y="1271143"/>
                    <a:pt x="5111496" y="1318260"/>
                    <a:pt x="5053330" y="1318260"/>
                  </a:cubicBezTo>
                  <a:lnTo>
                    <a:pt x="105410" y="1318260"/>
                  </a:lnTo>
                  <a:cubicBezTo>
                    <a:pt x="47117" y="1318260"/>
                    <a:pt x="0" y="1271016"/>
                    <a:pt x="0" y="121285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D1485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158740" cy="133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3. OUTPUT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Markdown + JSON with bbox, confidence and provenance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454592" y="7255193"/>
            <a:ext cx="6886575" cy="2566035"/>
            <a:chOff x="0" y="0"/>
            <a:chExt cx="9182100" cy="34213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182100" cy="3421380"/>
            </a:xfrm>
            <a:custGeom>
              <a:avLst/>
              <a:gdLst/>
              <a:ahLst/>
              <a:cxnLst/>
              <a:rect r="r" b="b" t="t" l="l"/>
              <a:pathLst>
                <a:path h="3421380" w="9182100">
                  <a:moveTo>
                    <a:pt x="0" y="119761"/>
                  </a:moveTo>
                  <a:cubicBezTo>
                    <a:pt x="0" y="53594"/>
                    <a:pt x="53594" y="0"/>
                    <a:pt x="119761" y="0"/>
                  </a:cubicBezTo>
                  <a:lnTo>
                    <a:pt x="9062339" y="0"/>
                  </a:lnTo>
                  <a:cubicBezTo>
                    <a:pt x="9128506" y="0"/>
                    <a:pt x="9182100" y="53594"/>
                    <a:pt x="9182100" y="119761"/>
                  </a:cubicBezTo>
                  <a:lnTo>
                    <a:pt x="9182100" y="3301619"/>
                  </a:lnTo>
                  <a:cubicBezTo>
                    <a:pt x="9182100" y="3367786"/>
                    <a:pt x="9128506" y="3421380"/>
                    <a:pt x="9062339" y="3421380"/>
                  </a:cubicBezTo>
                  <a:lnTo>
                    <a:pt x="119761" y="3421380"/>
                  </a:lnTo>
                  <a:cubicBezTo>
                    <a:pt x="53594" y="3421380"/>
                    <a:pt x="0" y="3367786"/>
                    <a:pt x="0" y="330161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2937510" y="7066026"/>
            <a:ext cx="2423160" cy="406908"/>
            <a:chOff x="0" y="0"/>
            <a:chExt cx="3230880" cy="5425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ADVANTAGE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2971800" y="7639050"/>
            <a:ext cx="585216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WHY IT IS BETTER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Replaces tool sprawl with one pipeline: scans are OCR'd, tables keep merged cells and cross-page structure, charts and equations are decoded, and every number traces to its page and box. Native parsing runs first, so cost stays under $10 per 1,000 pages.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9724072" y="7255193"/>
            <a:ext cx="6886575" cy="2566035"/>
            <a:chOff x="0" y="0"/>
            <a:chExt cx="9182100" cy="34213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82100" cy="3421380"/>
            </a:xfrm>
            <a:custGeom>
              <a:avLst/>
              <a:gdLst/>
              <a:ahLst/>
              <a:cxnLst/>
              <a:rect r="r" b="b" t="t" l="l"/>
              <a:pathLst>
                <a:path h="3421380" w="9182100">
                  <a:moveTo>
                    <a:pt x="0" y="119761"/>
                  </a:moveTo>
                  <a:cubicBezTo>
                    <a:pt x="0" y="53594"/>
                    <a:pt x="53594" y="0"/>
                    <a:pt x="119761" y="0"/>
                  </a:cubicBezTo>
                  <a:lnTo>
                    <a:pt x="9062339" y="0"/>
                  </a:lnTo>
                  <a:cubicBezTo>
                    <a:pt x="9128506" y="0"/>
                    <a:pt x="9182100" y="53594"/>
                    <a:pt x="9182100" y="119761"/>
                  </a:cubicBezTo>
                  <a:lnTo>
                    <a:pt x="9182100" y="3301619"/>
                  </a:lnTo>
                  <a:cubicBezTo>
                    <a:pt x="9182100" y="3367786"/>
                    <a:pt x="9128506" y="3421380"/>
                    <a:pt x="9062339" y="3421380"/>
                  </a:cubicBezTo>
                  <a:lnTo>
                    <a:pt x="119761" y="3421380"/>
                  </a:lnTo>
                  <a:cubicBezTo>
                    <a:pt x="53594" y="3421380"/>
                    <a:pt x="0" y="3367786"/>
                    <a:pt x="0" y="3301619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206990" y="7066026"/>
            <a:ext cx="2423160" cy="406908"/>
            <a:chOff x="0" y="0"/>
            <a:chExt cx="3230880" cy="54254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INNOVATION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0241280" y="7639050"/>
            <a:ext cx="585216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WHAT IS DIFFERENT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A cascade, not one giant model: native parse, then OCR / layout / table models, then vision or LLM only for low-confidence regions — all feeding one common block schema. Provenance and confidence are first-class outputs.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04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System diagram is the primary visual · Engineering decisions · Validation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03233"/>
            <a:ext cx="14156055" cy="4006215"/>
            <a:chOff x="0" y="0"/>
            <a:chExt cx="18874740" cy="53416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874739" cy="5341620"/>
            </a:xfrm>
            <a:custGeom>
              <a:avLst/>
              <a:gdLst/>
              <a:ahLst/>
              <a:cxnLst/>
              <a:rect r="r" b="b" t="t" l="l"/>
              <a:pathLst>
                <a:path h="5341620" w="18874739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18687796" y="0"/>
                  </a:lnTo>
                  <a:cubicBezTo>
                    <a:pt x="18791047" y="0"/>
                    <a:pt x="18874739" y="83693"/>
                    <a:pt x="18874739" y="186944"/>
                  </a:cubicBezTo>
                  <a:lnTo>
                    <a:pt x="18874739" y="5154676"/>
                  </a:lnTo>
                  <a:cubicBezTo>
                    <a:pt x="18874739" y="5257927"/>
                    <a:pt x="18791047" y="5341620"/>
                    <a:pt x="18687796" y="5341620"/>
                  </a:cubicBezTo>
                  <a:lnTo>
                    <a:pt x="186944" y="5341620"/>
                  </a:lnTo>
                  <a:cubicBezTo>
                    <a:pt x="83693" y="5341620"/>
                    <a:pt x="0" y="5257927"/>
                    <a:pt x="0" y="515467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1406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353334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DIAGRAM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866072" y="3483292"/>
            <a:ext cx="13333095" cy="3251835"/>
            <a:chOff x="0" y="0"/>
            <a:chExt cx="17777460" cy="43357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777461" cy="4335780"/>
            </a:xfrm>
            <a:custGeom>
              <a:avLst/>
              <a:gdLst/>
              <a:ahLst/>
              <a:cxnLst/>
              <a:rect r="r" b="b" t="t" l="l"/>
              <a:pathLst>
                <a:path h="4335780" w="17777461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17625695" y="0"/>
                  </a:lnTo>
                  <a:cubicBezTo>
                    <a:pt x="17709516" y="0"/>
                    <a:pt x="17777461" y="67945"/>
                    <a:pt x="17777461" y="151765"/>
                  </a:cubicBezTo>
                  <a:lnTo>
                    <a:pt x="17777461" y="4184015"/>
                  </a:lnTo>
                  <a:cubicBezTo>
                    <a:pt x="17777461" y="4267835"/>
                    <a:pt x="17709516" y="4335780"/>
                    <a:pt x="1762569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1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2454592" y="7323772"/>
            <a:ext cx="4486275" cy="2497455"/>
            <a:chOff x="0" y="0"/>
            <a:chExt cx="5981700" cy="33299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8170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981700">
                  <a:moveTo>
                    <a:pt x="0" y="116586"/>
                  </a:moveTo>
                  <a:cubicBezTo>
                    <a:pt x="0" y="52197"/>
                    <a:pt x="52197" y="0"/>
                    <a:pt x="116586" y="0"/>
                  </a:cubicBezTo>
                  <a:lnTo>
                    <a:pt x="5865114" y="0"/>
                  </a:lnTo>
                  <a:cubicBezTo>
                    <a:pt x="5929503" y="0"/>
                    <a:pt x="5981700" y="52197"/>
                    <a:pt x="5981700" y="116586"/>
                  </a:cubicBezTo>
                  <a:lnTo>
                    <a:pt x="5981700" y="3213354"/>
                  </a:lnTo>
                  <a:cubicBezTo>
                    <a:pt x="5981700" y="3277743"/>
                    <a:pt x="5929503" y="3329940"/>
                    <a:pt x="5865114" y="3329940"/>
                  </a:cubicBezTo>
                  <a:lnTo>
                    <a:pt x="116586" y="3329940"/>
                  </a:lnTo>
                  <a:cubicBezTo>
                    <a:pt x="52197" y="3329940"/>
                    <a:pt x="0" y="3277743"/>
                    <a:pt x="0" y="32133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2937510" y="7134606"/>
            <a:ext cx="2423160" cy="406908"/>
            <a:chOff x="0" y="0"/>
            <a:chExt cx="3230880" cy="5425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01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834640" y="7666482"/>
            <a:ext cx="372618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KEY TECHNICAL DECISION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Cascade over a single model: native extraction first, specialist ML (OCR, layout, table) only when needed, vision or LLM only on low-confidence regions. Keeps accuracy high and cost under $10 per 1,000 pages.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282625" y="7323772"/>
            <a:ext cx="4486275" cy="2497455"/>
            <a:chOff x="0" y="0"/>
            <a:chExt cx="5981700" cy="33299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8170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981700">
                  <a:moveTo>
                    <a:pt x="0" y="116586"/>
                  </a:moveTo>
                  <a:cubicBezTo>
                    <a:pt x="0" y="52197"/>
                    <a:pt x="52197" y="0"/>
                    <a:pt x="116586" y="0"/>
                  </a:cubicBezTo>
                  <a:lnTo>
                    <a:pt x="5865114" y="0"/>
                  </a:lnTo>
                  <a:cubicBezTo>
                    <a:pt x="5929503" y="0"/>
                    <a:pt x="5981700" y="52197"/>
                    <a:pt x="5981700" y="116586"/>
                  </a:cubicBezTo>
                  <a:lnTo>
                    <a:pt x="5981700" y="3213354"/>
                  </a:lnTo>
                  <a:cubicBezTo>
                    <a:pt x="5981700" y="3277743"/>
                    <a:pt x="5929503" y="3329940"/>
                    <a:pt x="5865114" y="3329940"/>
                  </a:cubicBezTo>
                  <a:lnTo>
                    <a:pt x="116586" y="3329940"/>
                  </a:lnTo>
                  <a:cubicBezTo>
                    <a:pt x="52197" y="3329940"/>
                    <a:pt x="0" y="3277743"/>
                    <a:pt x="0" y="32133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765542" y="7134606"/>
            <a:ext cx="2423160" cy="406908"/>
            <a:chOff x="0" y="0"/>
            <a:chExt cx="3230880" cy="5425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02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662672" y="7666482"/>
            <a:ext cx="372618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HARDEST PART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Keeping reading order, bounding boxes and cross-page table merges correct across five formats. Solved with one common block schema every parser must emit, then one shared assembly layer.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10656" y="7323772"/>
            <a:ext cx="4486275" cy="2497455"/>
            <a:chOff x="0" y="0"/>
            <a:chExt cx="5981700" cy="33299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81700" cy="3329940"/>
            </a:xfrm>
            <a:custGeom>
              <a:avLst/>
              <a:gdLst/>
              <a:ahLst/>
              <a:cxnLst/>
              <a:rect r="r" b="b" t="t" l="l"/>
              <a:pathLst>
                <a:path h="3329940" w="5981700">
                  <a:moveTo>
                    <a:pt x="0" y="116586"/>
                  </a:moveTo>
                  <a:cubicBezTo>
                    <a:pt x="0" y="52197"/>
                    <a:pt x="52197" y="0"/>
                    <a:pt x="116586" y="0"/>
                  </a:cubicBezTo>
                  <a:lnTo>
                    <a:pt x="5865114" y="0"/>
                  </a:lnTo>
                  <a:cubicBezTo>
                    <a:pt x="5929503" y="0"/>
                    <a:pt x="5981700" y="52197"/>
                    <a:pt x="5981700" y="116586"/>
                  </a:cubicBezTo>
                  <a:lnTo>
                    <a:pt x="5981700" y="3213354"/>
                  </a:lnTo>
                  <a:cubicBezTo>
                    <a:pt x="5981700" y="3277743"/>
                    <a:pt x="5929503" y="3329940"/>
                    <a:pt x="5865114" y="3329940"/>
                  </a:cubicBezTo>
                  <a:lnTo>
                    <a:pt x="116586" y="3329940"/>
                  </a:lnTo>
                  <a:cubicBezTo>
                    <a:pt x="52197" y="3329940"/>
                    <a:pt x="0" y="3277743"/>
                    <a:pt x="0" y="32133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93574" y="7134606"/>
            <a:ext cx="2423160" cy="406908"/>
            <a:chOff x="0" y="0"/>
            <a:chExt cx="3230880" cy="5425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03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490704" y="7666482"/>
            <a:ext cx="3726180" cy="191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VALIDATION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Unit, parser, API, schema and failure tests, plus a 13-document benchmark (scans, 2-column, complex and multi-page tables, charts, equations, corrupt and unsupported files).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3314700" y="3637026"/>
            <a:ext cx="3794760" cy="379476"/>
            <a:chOff x="0" y="0"/>
            <a:chExt cx="5059680" cy="50596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059680" cy="505968"/>
            </a:xfrm>
            <a:custGeom>
              <a:avLst/>
              <a:gdLst/>
              <a:ahLst/>
              <a:cxnLst/>
              <a:rect r="r" b="b" t="t" l="l"/>
              <a:pathLst>
                <a:path h="505968" w="5059680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4806696" y="0"/>
                  </a:lnTo>
                  <a:cubicBezTo>
                    <a:pt x="4946396" y="0"/>
                    <a:pt x="5059680" y="113284"/>
                    <a:pt x="5059680" y="252984"/>
                  </a:cubicBezTo>
                  <a:cubicBezTo>
                    <a:pt x="5059680" y="392684"/>
                    <a:pt x="4946396" y="505968"/>
                    <a:pt x="4806696" y="505968"/>
                  </a:cubicBezTo>
                  <a:lnTo>
                    <a:pt x="252984" y="505968"/>
                  </a:lnTo>
                  <a:cubicBezTo>
                    <a:pt x="113284" y="505968"/>
                    <a:pt x="0" y="392684"/>
                    <a:pt x="0" y="252984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5059680" cy="525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 · DETECT &amp; ROUTE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311842" y="4127944"/>
            <a:ext cx="3800475" cy="741807"/>
            <a:chOff x="0" y="0"/>
            <a:chExt cx="5067300" cy="9890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Upload API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size and MIME validation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311842" y="4978336"/>
            <a:ext cx="3800475" cy="741807"/>
            <a:chOff x="0" y="0"/>
            <a:chExt cx="5067300" cy="98907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Format Detector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content sniffing, not file extension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3311842" y="5828729"/>
            <a:ext cx="3800475" cy="741807"/>
            <a:chOff x="0" y="0"/>
            <a:chExt cx="5067300" cy="98907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Region Router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text · table · chart · equation · scan</a:t>
              </a:r>
            </a:p>
          </p:txBody>
        </p:sp>
      </p:grpSp>
      <p:sp>
        <p:nvSpPr>
          <p:cNvPr name="TextBox 81" id="81"/>
          <p:cNvSpPr txBox="true"/>
          <p:nvPr/>
        </p:nvSpPr>
        <p:spPr>
          <a:xfrm rot="0">
            <a:off x="7125462" y="4812030"/>
            <a:ext cx="49377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353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➔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7635240" y="3637026"/>
            <a:ext cx="3794760" cy="379476"/>
            <a:chOff x="0" y="0"/>
            <a:chExt cx="5059680" cy="50596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059680" cy="505968"/>
            </a:xfrm>
            <a:custGeom>
              <a:avLst/>
              <a:gdLst/>
              <a:ahLst/>
              <a:cxnLst/>
              <a:rect r="r" b="b" t="t" l="l"/>
              <a:pathLst>
                <a:path h="505968" w="5059680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4806696" y="0"/>
                  </a:lnTo>
                  <a:cubicBezTo>
                    <a:pt x="4946396" y="0"/>
                    <a:pt x="5059680" y="113284"/>
                    <a:pt x="5059680" y="252984"/>
                  </a:cubicBezTo>
                  <a:cubicBezTo>
                    <a:pt x="5059680" y="392684"/>
                    <a:pt x="4946396" y="505968"/>
                    <a:pt x="4806696" y="505968"/>
                  </a:cubicBezTo>
                  <a:lnTo>
                    <a:pt x="252984" y="505968"/>
                  </a:lnTo>
                  <a:cubicBezTo>
                    <a:pt x="113284" y="505968"/>
                    <a:pt x="0" y="392684"/>
                    <a:pt x="0" y="252984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5059680" cy="525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 · EXTRACT &amp; ASSEMBLE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632382" y="4127944"/>
            <a:ext cx="3800475" cy="741807"/>
            <a:chOff x="0" y="0"/>
            <a:chExt cx="5067300" cy="98907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B903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Native Parsers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PDF · DOCX · PPTX · XLSX · image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632382" y="4978336"/>
            <a:ext cx="3800475" cy="741807"/>
            <a:chOff x="0" y="0"/>
            <a:chExt cx="5067300" cy="9890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B903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Specialist Extractors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OCR · table · chart · equation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632382" y="5828729"/>
            <a:ext cx="3800475" cy="741807"/>
            <a:chOff x="0" y="0"/>
            <a:chExt cx="5067300" cy="98907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B903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Assembler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reading order · table merge · blocks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1446002" y="4812030"/>
            <a:ext cx="493776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true">
                <a:solidFill>
                  <a:srgbClr val="3533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➔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11955780" y="3637026"/>
            <a:ext cx="3794760" cy="379476"/>
            <a:chOff x="0" y="0"/>
            <a:chExt cx="5059680" cy="50596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059680" cy="505968"/>
            </a:xfrm>
            <a:custGeom>
              <a:avLst/>
              <a:gdLst/>
              <a:ahLst/>
              <a:cxnLst/>
              <a:rect r="r" b="b" t="t" l="l"/>
              <a:pathLst>
                <a:path h="505968" w="5059680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4806696" y="0"/>
                  </a:lnTo>
                  <a:cubicBezTo>
                    <a:pt x="4946396" y="0"/>
                    <a:pt x="5059680" y="113284"/>
                    <a:pt x="5059680" y="252984"/>
                  </a:cubicBezTo>
                  <a:cubicBezTo>
                    <a:pt x="5059680" y="392684"/>
                    <a:pt x="4946396" y="505968"/>
                    <a:pt x="4806696" y="505968"/>
                  </a:cubicBezTo>
                  <a:lnTo>
                    <a:pt x="252984" y="505968"/>
                  </a:lnTo>
                  <a:cubicBezTo>
                    <a:pt x="113284" y="505968"/>
                    <a:pt x="0" y="392684"/>
                    <a:pt x="0" y="252984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5059680" cy="525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 · FLAG &amp; FAIL SAFE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952922" y="4127944"/>
            <a:ext cx="3800475" cy="741807"/>
            <a:chOff x="0" y="0"/>
            <a:chExt cx="5067300" cy="98907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D1485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Provenance + Confidence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bbox · source · score per block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952922" y="4978336"/>
            <a:ext cx="3800475" cy="741807"/>
            <a:chOff x="0" y="0"/>
            <a:chExt cx="5067300" cy="98907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D1485"/>
              </a:solidFill>
              <a:prstDash val="solid"/>
              <a:miter/>
            </a:ln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Fail-Safe Engine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flag, never hallucinate · errors &lt;60 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952922" y="5828729"/>
            <a:ext cx="3800475" cy="741807"/>
            <a:chOff x="0" y="0"/>
            <a:chExt cx="5067300" cy="989076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67300" cy="989076"/>
            </a:xfrm>
            <a:custGeom>
              <a:avLst/>
              <a:gdLst/>
              <a:ahLst/>
              <a:cxnLst/>
              <a:rect r="r" b="b" t="t" l="l"/>
              <a:pathLst>
                <a:path h="989076" w="5067300">
                  <a:moveTo>
                    <a:pt x="0" y="79121"/>
                  </a:moveTo>
                  <a:cubicBezTo>
                    <a:pt x="0" y="35433"/>
                    <a:pt x="35433" y="0"/>
                    <a:pt x="79121" y="0"/>
                  </a:cubicBezTo>
                  <a:lnTo>
                    <a:pt x="4988179" y="0"/>
                  </a:lnTo>
                  <a:cubicBezTo>
                    <a:pt x="5031867" y="0"/>
                    <a:pt x="5067300" y="35433"/>
                    <a:pt x="5067300" y="79121"/>
                  </a:cubicBezTo>
                  <a:lnTo>
                    <a:pt x="5067300" y="909955"/>
                  </a:lnTo>
                  <a:cubicBezTo>
                    <a:pt x="5067300" y="953643"/>
                    <a:pt x="5031867" y="989076"/>
                    <a:pt x="4988179" y="989076"/>
                  </a:cubicBezTo>
                  <a:lnTo>
                    <a:pt x="79121" y="989076"/>
                  </a:lnTo>
                  <a:cubicBezTo>
                    <a:pt x="35433" y="989076"/>
                    <a:pt x="0" y="953643"/>
                    <a:pt x="0" y="90995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D1485"/>
              </a:solidFill>
              <a:prstDash val="solid"/>
              <a:miter/>
            </a:ln>
          </p:spPr>
        </p:sp>
        <p:sp>
          <p:nvSpPr>
            <p:cNvPr name="TextBox 106" id="106"/>
            <p:cNvSpPr txBox="true"/>
            <p:nvPr/>
          </p:nvSpPr>
          <p:spPr>
            <a:xfrm>
              <a:off x="0" y="-19050"/>
              <a:ext cx="5067300" cy="10081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JSON + Markdown → UI</a:t>
              </a:r>
            </a:p>
            <a:p>
              <a:pPr algn="ctr">
                <a:lnSpc>
                  <a:spcPts val="1530"/>
                </a:lnSpc>
              </a:pPr>
              <a:r>
                <a:rPr lang="en-US" sz="1275">
                  <a:solidFill>
                    <a:srgbClr val="3C3C41"/>
                  </a:solidFill>
                  <a:latin typeface="Arimo"/>
                  <a:ea typeface="Arimo"/>
                  <a:cs typeface="Arimo"/>
                  <a:sym typeface="Arimo"/>
                </a:rPr>
                <a:t>click a block, see its source box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05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Feasibility &amp; Scope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Concrete boundaries · Operational run rate · Risk mitigation · Post-hackathon plans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71812"/>
            <a:ext cx="6886575" cy="3251835"/>
            <a:chOff x="0" y="0"/>
            <a:chExt cx="9182100" cy="43357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8264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 · BOUNDARIES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71800" y="349681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1. SCOPE</a:t>
            </a: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In: </a:t>
            </a: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PDF, DOCX, PPTX, XLSX, PNG/JPG; OCR, tables, charts, equations, reading order, bbox provenance, confidence, JSON and Markdown, web dashboard, Docker.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Out: </a:t>
            </a: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legacy and email formats (.doc, .ppt, .msg) — they plug in later as extra parser adapters.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724072" y="3071812"/>
            <a:ext cx="6886575" cy="3251835"/>
            <a:chOff x="0" y="0"/>
            <a:chExt cx="9182100" cy="43357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06990" y="2882646"/>
            <a:ext cx="2423160" cy="406908"/>
            <a:chOff x="0" y="0"/>
            <a:chExt cx="3230880" cy="5425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 · ECONOMICS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241280" y="349681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2. RUNNING COST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Native parsing needs no API call; OCR, table and vision models run only on pages that need them. A CostManager tracks provider, model, pages, tokens and cost with env-configurable prices, shows cost per 1,000 pages and warns above $10.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Self-hosting removes per-page API fees.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454592" y="6569393"/>
            <a:ext cx="6886575" cy="3251835"/>
            <a:chOff x="0" y="0"/>
            <a:chExt cx="9182100" cy="43357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937510" y="6380226"/>
            <a:ext cx="2423160" cy="406908"/>
            <a:chOff x="0" y="0"/>
            <a:chExt cx="3230880" cy="5425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 · CONTINGENCY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971800" y="699439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3. RISKS &amp; FALLBACK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If a model or API fails or hits limits, providers sit behind swappable interfaces (local, external, mock) so the pipeline still runs.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Low confidence → review_required; timeouts → PARTIAL_EXTRACTION; corrupt or unsupported files → structured error within 60 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724072" y="6569393"/>
            <a:ext cx="6886575" cy="3251835"/>
            <a:chOff x="0" y="0"/>
            <a:chExt cx="9182100" cy="43357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82100" cy="4335780"/>
            </a:xfrm>
            <a:custGeom>
              <a:avLst/>
              <a:gdLst/>
              <a:ahLst/>
              <a:cxnLst/>
              <a:rect r="r" b="b" t="t" l="l"/>
              <a:pathLst>
                <a:path h="4335780" w="9182100">
                  <a:moveTo>
                    <a:pt x="0" y="151765"/>
                  </a:moveTo>
                  <a:cubicBezTo>
                    <a:pt x="0" y="67945"/>
                    <a:pt x="67945" y="0"/>
                    <a:pt x="151765" y="0"/>
                  </a:cubicBezTo>
                  <a:lnTo>
                    <a:pt x="9030335" y="0"/>
                  </a:lnTo>
                  <a:cubicBezTo>
                    <a:pt x="9114155" y="0"/>
                    <a:pt x="9182100" y="67945"/>
                    <a:pt x="9182100" y="151765"/>
                  </a:cubicBezTo>
                  <a:lnTo>
                    <a:pt x="9182100" y="4184015"/>
                  </a:lnTo>
                  <a:cubicBezTo>
                    <a:pt x="9182100" y="4267835"/>
                    <a:pt x="9114155" y="4335780"/>
                    <a:pt x="9030335" y="4335780"/>
                  </a:cubicBezTo>
                  <a:lnTo>
                    <a:pt x="151765" y="4335780"/>
                  </a:lnTo>
                  <a:cubicBezTo>
                    <a:pt x="67945" y="4335780"/>
                    <a:pt x="0" y="4267835"/>
                    <a:pt x="0" y="418401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206990" y="6380226"/>
            <a:ext cx="2423160" cy="406908"/>
            <a:chOff x="0" y="0"/>
            <a:chExt cx="3230880" cy="5425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353334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 · HORIZON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241280" y="6994398"/>
            <a:ext cx="5852160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4. AFTER THE HACKATHON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Add legacy and email adapters (.doc, .ppt, .msg, .eml); async queues and page-level parallelism for large files; result caching; tune layout and table models on finance and legal documents; harden the Docker deployment for on-prem use.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06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Impact &amp; Metrics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Primary measurable impact · Transparent calculation · Stakeholder advantages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03233"/>
            <a:ext cx="14156055" cy="2771775"/>
            <a:chOff x="0" y="0"/>
            <a:chExt cx="18874740" cy="36957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8874614" cy="3695700"/>
            </a:xfrm>
            <a:custGeom>
              <a:avLst/>
              <a:gdLst/>
              <a:ahLst/>
              <a:cxnLst/>
              <a:rect r="r" b="b" t="t" l="l"/>
              <a:pathLst>
                <a:path h="3695700" w="18874614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18745327" y="0"/>
                  </a:lnTo>
                  <a:cubicBezTo>
                    <a:pt x="18816828" y="0"/>
                    <a:pt x="18874614" y="57912"/>
                    <a:pt x="18874614" y="129286"/>
                  </a:cubicBezTo>
                  <a:lnTo>
                    <a:pt x="18874614" y="3566287"/>
                  </a:lnTo>
                  <a:cubicBezTo>
                    <a:pt x="18874614" y="3637788"/>
                    <a:pt x="18816701" y="3695700"/>
                    <a:pt x="18745327" y="3695700"/>
                  </a:cubicBezTo>
                  <a:lnTo>
                    <a:pt x="129286" y="3695700"/>
                  </a:lnTo>
                  <a:cubicBezTo>
                    <a:pt x="57912" y="3695700"/>
                    <a:pt x="0" y="3637788"/>
                    <a:pt x="0" y="3566287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1406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PRIMARY METRIC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71800" y="3308985"/>
            <a:ext cx="5989320" cy="19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0"/>
              </a:lnSpc>
            </a:pPr>
            <a:r>
              <a:rPr lang="en-US" sz="69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&lt; $10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Target API cost per 1,000 pages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418320" y="3455670"/>
            <a:ext cx="667512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HOW IT WAS MEASURED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The CostManager logs provider, model, pages, tokens and cost for every run, with prices set through environment variables. Cost per 1,000 pages is computed over the 13-document benchmark suite, and the UI warns if it exceeds $10.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2454592" y="6157912"/>
            <a:ext cx="4486275" cy="3663315"/>
            <a:chOff x="0" y="0"/>
            <a:chExt cx="5981700" cy="48844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81700" cy="4884420"/>
            </a:xfrm>
            <a:custGeom>
              <a:avLst/>
              <a:gdLst/>
              <a:ahLst/>
              <a:cxnLst/>
              <a:rect r="r" b="b" t="t" l="l"/>
              <a:pathLst>
                <a:path h="4884420" w="5981700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5810758" y="0"/>
                  </a:lnTo>
                  <a:cubicBezTo>
                    <a:pt x="5905119" y="0"/>
                    <a:pt x="5981700" y="76581"/>
                    <a:pt x="5981700" y="170942"/>
                  </a:cubicBezTo>
                  <a:lnTo>
                    <a:pt x="5981700" y="4713478"/>
                  </a:lnTo>
                  <a:cubicBezTo>
                    <a:pt x="5981700" y="4807839"/>
                    <a:pt x="5905119" y="4884420"/>
                    <a:pt x="5810758" y="4884420"/>
                  </a:cubicBezTo>
                  <a:lnTo>
                    <a:pt x="170942" y="4884420"/>
                  </a:lnTo>
                  <a:cubicBezTo>
                    <a:pt x="76581" y="4884420"/>
                    <a:pt x="0" y="4807839"/>
                    <a:pt x="0" y="47134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2937510" y="5968746"/>
            <a:ext cx="2423160" cy="406908"/>
            <a:chOff x="0" y="0"/>
            <a:chExt cx="3230880" cy="5425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01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2834640" y="6541770"/>
            <a:ext cx="3726180" cy="301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WHAT IMPROVES</a:t>
            </a:r>
          </a:p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Before: </a:t>
            </a: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flat text, empty scans, broken tables, no coordinates.</a:t>
            </a:r>
          </a:p>
          <a:p>
            <a:pPr algn="l">
              <a:lnSpc>
                <a:spcPts val="1709"/>
              </a:lnSpc>
            </a:pPr>
          </a:p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After: </a:t>
            </a: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typed blocks in true reading order, merged multi-page tables, decoded charts and equations — each with bbox, confidence and source page.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7282625" y="6157912"/>
            <a:ext cx="4486275" cy="3663315"/>
            <a:chOff x="0" y="0"/>
            <a:chExt cx="5981700" cy="48844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981700" cy="4884420"/>
            </a:xfrm>
            <a:custGeom>
              <a:avLst/>
              <a:gdLst/>
              <a:ahLst/>
              <a:cxnLst/>
              <a:rect r="r" b="b" t="t" l="l"/>
              <a:pathLst>
                <a:path h="4884420" w="5981700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5810758" y="0"/>
                  </a:lnTo>
                  <a:cubicBezTo>
                    <a:pt x="5905119" y="0"/>
                    <a:pt x="5981700" y="76581"/>
                    <a:pt x="5981700" y="170942"/>
                  </a:cubicBezTo>
                  <a:lnTo>
                    <a:pt x="5981700" y="4713478"/>
                  </a:lnTo>
                  <a:cubicBezTo>
                    <a:pt x="5981700" y="4807839"/>
                    <a:pt x="5905119" y="4884420"/>
                    <a:pt x="5810758" y="4884420"/>
                  </a:cubicBezTo>
                  <a:lnTo>
                    <a:pt x="170942" y="4884420"/>
                  </a:lnTo>
                  <a:cubicBezTo>
                    <a:pt x="76581" y="4884420"/>
                    <a:pt x="0" y="4807839"/>
                    <a:pt x="0" y="47134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765542" y="5968746"/>
            <a:ext cx="2423160" cy="406908"/>
            <a:chOff x="0" y="0"/>
            <a:chExt cx="3230880" cy="5425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FB903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35333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02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7662672" y="6541770"/>
            <a:ext cx="3726180" cy="301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WHO ELSE BENEFITS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PE, banking, legal-diligence and compliance teams; downstream AI assistants and RAG pipelines that need verifiable inputs; auditors who can trace any figure back to its page and box.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110656" y="6157912"/>
            <a:ext cx="4486275" cy="3663315"/>
            <a:chOff x="0" y="0"/>
            <a:chExt cx="5981700" cy="48844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81700" cy="4884420"/>
            </a:xfrm>
            <a:custGeom>
              <a:avLst/>
              <a:gdLst/>
              <a:ahLst/>
              <a:cxnLst/>
              <a:rect r="r" b="b" t="t" l="l"/>
              <a:pathLst>
                <a:path h="4884420" w="5981700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5810758" y="0"/>
                  </a:lnTo>
                  <a:cubicBezTo>
                    <a:pt x="5905119" y="0"/>
                    <a:pt x="5981700" y="76581"/>
                    <a:pt x="5981700" y="170942"/>
                  </a:cubicBezTo>
                  <a:lnTo>
                    <a:pt x="5981700" y="4713478"/>
                  </a:lnTo>
                  <a:cubicBezTo>
                    <a:pt x="5981700" y="4807839"/>
                    <a:pt x="5905119" y="4884420"/>
                    <a:pt x="5810758" y="4884420"/>
                  </a:cubicBezTo>
                  <a:lnTo>
                    <a:pt x="170942" y="4884420"/>
                  </a:lnTo>
                  <a:cubicBezTo>
                    <a:pt x="76581" y="4884420"/>
                    <a:pt x="0" y="4807839"/>
                    <a:pt x="0" y="471347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93574" y="5968746"/>
            <a:ext cx="2423160" cy="406908"/>
            <a:chOff x="0" y="0"/>
            <a:chExt cx="3230880" cy="5425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353334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03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490704" y="6541770"/>
            <a:ext cx="3726180" cy="301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RISKS / MISUSE</a:t>
            </a:r>
          </a:p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Risk: </a:t>
            </a: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a wrong extraction trusted in a high-stakes decision.</a:t>
            </a:r>
          </a:p>
          <a:p>
            <a:pPr algn="l">
              <a:lnSpc>
                <a:spcPts val="1709"/>
              </a:lnSpc>
            </a:pPr>
          </a:p>
          <a:p>
            <a:pPr algn="l">
              <a:lnSpc>
                <a:spcPts val="1709"/>
              </a:lnSpc>
            </a:pPr>
            <a:r>
              <a:rPr lang="en-US" sz="1425" b="true">
                <a:solidFill>
                  <a:srgbClr val="3C3C41"/>
                </a:solidFill>
                <a:latin typeface="Arimo Bold"/>
                <a:ea typeface="Arimo Bold"/>
                <a:cs typeface="Arimo Bold"/>
                <a:sym typeface="Arimo Bold"/>
              </a:rPr>
              <a:t>Mitigation: </a:t>
            </a:r>
            <a:r>
              <a:rPr lang="en-US" sz="1425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configurable confidence thresholds, review_required flags, no invented values, and source highlighting for human checks. Self-hosting keeps sensitive files in-house.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74320" y="1577340"/>
            <a:ext cx="1577340" cy="493776"/>
            <a:chOff x="0" y="0"/>
            <a:chExt cx="2103120" cy="6583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74320" y="2180844"/>
            <a:ext cx="2194560" cy="493776"/>
            <a:chOff x="0" y="0"/>
            <a:chExt cx="2926080" cy="6583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6080" cy="658368"/>
            </a:xfrm>
            <a:custGeom>
              <a:avLst/>
              <a:gdLst/>
              <a:ahLst/>
              <a:cxnLst/>
              <a:rect r="r" b="b" t="t" l="l"/>
              <a:pathLst>
                <a:path h="658368" w="292608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96896" y="0"/>
                  </a:lnTo>
                  <a:cubicBezTo>
                    <a:pt x="2778760" y="0"/>
                    <a:pt x="2926080" y="147320"/>
                    <a:pt x="2926080" y="329184"/>
                  </a:cubicBezTo>
                  <a:cubicBezTo>
                    <a:pt x="2926080" y="511048"/>
                    <a:pt x="2778760" y="658368"/>
                    <a:pt x="259689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74320" y="2784348"/>
            <a:ext cx="1577340" cy="493776"/>
            <a:chOff x="0" y="0"/>
            <a:chExt cx="2103120" cy="6583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" cy="658368"/>
            </a:xfrm>
            <a:custGeom>
              <a:avLst/>
              <a:gdLst/>
              <a:ahLst/>
              <a:cxnLst/>
              <a:rect r="r" b="b" t="t" l="l"/>
              <a:pathLst>
                <a:path h="658368" w="2103120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773936" y="0"/>
                  </a:lnTo>
                  <a:cubicBezTo>
                    <a:pt x="1955800" y="0"/>
                    <a:pt x="2103120" y="147320"/>
                    <a:pt x="2103120" y="329184"/>
                  </a:cubicBezTo>
                  <a:cubicBezTo>
                    <a:pt x="2103120" y="511048"/>
                    <a:pt x="1955800" y="658368"/>
                    <a:pt x="177393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82160" y="822960"/>
            <a:ext cx="329184" cy="246888"/>
            <a:chOff x="0" y="0"/>
            <a:chExt cx="438912" cy="3291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282160" y="1069848"/>
            <a:ext cx="329184" cy="246888"/>
            <a:chOff x="0" y="0"/>
            <a:chExt cx="438912" cy="3291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7282160" y="1316736"/>
            <a:ext cx="329184" cy="246888"/>
            <a:chOff x="0" y="0"/>
            <a:chExt cx="438912" cy="3291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7282160" y="1563624"/>
            <a:ext cx="329184" cy="246888"/>
            <a:chOff x="0" y="0"/>
            <a:chExt cx="438912" cy="3291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2960" y="8366760"/>
            <a:ext cx="329184" cy="246888"/>
            <a:chOff x="0" y="0"/>
            <a:chExt cx="438912" cy="3291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8613648"/>
            <a:ext cx="329184" cy="246888"/>
            <a:chOff x="0" y="0"/>
            <a:chExt cx="438912" cy="3291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8860536"/>
            <a:ext cx="329184" cy="246888"/>
            <a:chOff x="0" y="0"/>
            <a:chExt cx="438912" cy="3291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FD148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107424"/>
            <a:ext cx="329184" cy="246888"/>
            <a:chOff x="0" y="0"/>
            <a:chExt cx="438912" cy="3291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912" cy="329184"/>
            </a:xfrm>
            <a:custGeom>
              <a:avLst/>
              <a:gdLst/>
              <a:ahLst/>
              <a:cxnLst/>
              <a:rect r="r" b="b" t="t" l="l"/>
              <a:pathLst>
                <a:path h="329184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79ED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6630650" y="8901112"/>
            <a:ext cx="480060" cy="28575"/>
            <a:chOff x="0" y="0"/>
            <a:chExt cx="64008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" cy="38100"/>
            </a:xfrm>
            <a:custGeom>
              <a:avLst/>
              <a:gdLst/>
              <a:ahLst/>
              <a:cxnLst/>
              <a:rect r="r" b="b" t="t" l="l"/>
              <a:pathLst>
                <a:path h="3810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856392" y="8675370"/>
            <a:ext cx="28575" cy="480060"/>
            <a:chOff x="0" y="0"/>
            <a:chExt cx="38100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640080"/>
            </a:xfrm>
            <a:custGeom>
              <a:avLst/>
              <a:gdLst/>
              <a:ahLst/>
              <a:cxnLst/>
              <a:rect r="r" b="b" t="t" l="l"/>
              <a:pathLst>
                <a:path h="640080" w="38100">
                  <a:moveTo>
                    <a:pt x="0" y="0"/>
                  </a:moveTo>
                  <a:lnTo>
                    <a:pt x="38100" y="0"/>
                  </a:lnTo>
                  <a:lnTo>
                    <a:pt x="38100" y="640080"/>
                  </a:lnTo>
                  <a:lnTo>
                    <a:pt x="0" y="64008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88384" y="8833104"/>
            <a:ext cx="164592" cy="164592"/>
            <a:chOff x="0" y="0"/>
            <a:chExt cx="219456" cy="2194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219456"/>
                  </a:lnTo>
                  <a:lnTo>
                    <a:pt x="0" y="219456"/>
                  </a:lnTo>
                  <a:close/>
                </a:path>
              </a:pathLst>
            </a:custGeom>
            <a:solidFill>
              <a:srgbClr val="FFB90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604432" y="945832"/>
            <a:ext cx="1537335" cy="1263015"/>
            <a:chOff x="0" y="0"/>
            <a:chExt cx="2049780" cy="16840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  <a:lnTo>
                    <a:pt x="0" y="8420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24890" y="0"/>
              <a:ext cx="1024890" cy="842010"/>
            </a:xfrm>
            <a:custGeom>
              <a:avLst/>
              <a:gdLst/>
              <a:ahLst/>
              <a:cxnLst/>
              <a:rect r="r" b="b" t="t" l="l"/>
              <a:pathLst>
                <a:path h="842010" w="1024890">
                  <a:moveTo>
                    <a:pt x="0" y="0"/>
                  </a:moveTo>
                  <a:cubicBezTo>
                    <a:pt x="566039" y="0"/>
                    <a:pt x="1024890" y="376936"/>
                    <a:pt x="1024890" y="842010"/>
                  </a:cubicBezTo>
                </a:path>
              </a:pathLst>
            </a:custGeom>
            <a:blipFill>
              <a:blip r:embed="rId2">
                <a:alphaModFix amt="0"/>
              </a:blip>
              <a:stretch>
                <a:fillRect l="-210818" t="0" r="-110818" b="-99999"/>
              </a:stretch>
            </a:blipFill>
            <a:ln w="28575" cap="sq">
              <a:solidFill>
                <a:srgbClr val="079ED2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43663" y="1502283"/>
            <a:ext cx="150114" cy="150114"/>
            <a:chOff x="0" y="0"/>
            <a:chExt cx="200152" cy="2001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052423" y="885063"/>
            <a:ext cx="150114" cy="150114"/>
            <a:chOff x="0" y="0"/>
            <a:chExt cx="200152" cy="200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0152" cy="200152"/>
            </a:xfrm>
            <a:custGeom>
              <a:avLst/>
              <a:gdLst/>
              <a:ahLst/>
              <a:cxnLst/>
              <a:rect r="r" b="b" t="t" l="l"/>
              <a:pathLst>
                <a:path h="200152" w="200152">
                  <a:moveTo>
                    <a:pt x="0" y="0"/>
                  </a:moveTo>
                  <a:lnTo>
                    <a:pt x="200152" y="0"/>
                  </a:lnTo>
                  <a:lnTo>
                    <a:pt x="200152" y="200152"/>
                  </a:lnTo>
                  <a:lnTo>
                    <a:pt x="0" y="200152"/>
                  </a:lnTo>
                  <a:close/>
                </a:path>
              </a:pathLst>
            </a:custGeom>
            <a:solidFill>
              <a:srgbClr val="FFFFFF"/>
            </a:solidFill>
            <a:ln w="26670" cap="sq">
              <a:solidFill>
                <a:srgbClr val="FD1485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2468880" y="566547"/>
            <a:ext cx="123444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DATAQUEST 3.0  ·  ROUND 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68880" y="913638"/>
            <a:ext cx="13716000" cy="118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07  </a:t>
            </a:r>
            <a:r>
              <a:rPr lang="en-US" sz="4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Why This Project?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2468880" y="2167128"/>
            <a:ext cx="14127480" cy="28575"/>
            <a:chOff x="0" y="0"/>
            <a:chExt cx="1883664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836639" cy="38100"/>
            </a:xfrm>
            <a:custGeom>
              <a:avLst/>
              <a:gdLst/>
              <a:ahLst/>
              <a:cxnLst/>
              <a:rect r="r" b="b" t="t" l="l"/>
              <a:pathLst>
                <a:path h="38100" w="18836639">
                  <a:moveTo>
                    <a:pt x="0" y="0"/>
                  </a:moveTo>
                  <a:lnTo>
                    <a:pt x="18836639" y="0"/>
                  </a:lnTo>
                  <a:lnTo>
                    <a:pt x="18836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353334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468880" y="2257806"/>
            <a:ext cx="141274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E6E73"/>
                </a:solidFill>
                <a:latin typeface="Arimo"/>
                <a:ea typeface="Arimo"/>
                <a:cs typeface="Arimo"/>
                <a:sym typeface="Arimo"/>
              </a:rPr>
              <a:t>Direct contrast with today's alternatives · Unfair technical advantage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2454592" y="3003233"/>
            <a:ext cx="6886575" cy="4006215"/>
            <a:chOff x="0" y="0"/>
            <a:chExt cx="9182100" cy="53416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82100" cy="5341620"/>
            </a:xfrm>
            <a:custGeom>
              <a:avLst/>
              <a:gdLst/>
              <a:ahLst/>
              <a:cxnLst/>
              <a:rect r="r" b="b" t="t" l="l"/>
              <a:pathLst>
                <a:path h="5341620" w="91821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8995156" y="0"/>
                  </a:lnTo>
                  <a:cubicBezTo>
                    <a:pt x="9098407" y="0"/>
                    <a:pt x="9182100" y="83693"/>
                    <a:pt x="9182100" y="186944"/>
                  </a:cubicBezTo>
                  <a:lnTo>
                    <a:pt x="9182100" y="5154676"/>
                  </a:lnTo>
                  <a:cubicBezTo>
                    <a:pt x="9182100" y="5257927"/>
                    <a:pt x="9098407" y="5341620"/>
                    <a:pt x="8995156" y="5341620"/>
                  </a:cubicBezTo>
                  <a:lnTo>
                    <a:pt x="186944" y="5341620"/>
                  </a:lnTo>
                  <a:cubicBezTo>
                    <a:pt x="83693" y="5341620"/>
                    <a:pt x="0" y="5257927"/>
                    <a:pt x="0" y="515467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2937510" y="2814066"/>
            <a:ext cx="2423160" cy="406908"/>
            <a:chOff x="0" y="0"/>
            <a:chExt cx="3230880" cy="54254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353334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STATUS QUO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2971800" y="3465195"/>
            <a:ext cx="585216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CURRENT APPROACH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Standard pipelines pull flat text from clean PDFs and Office files, one tool per format.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They return nothing for scans, split tables, drop charts and equations, scramble multi-column order, reject legacy and email files, and record no coordinates — so AI answers cannot be verified.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724072" y="3003233"/>
            <a:ext cx="6886575" cy="4006215"/>
            <a:chOff x="0" y="0"/>
            <a:chExt cx="9182100" cy="53416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82100" cy="5341620"/>
            </a:xfrm>
            <a:custGeom>
              <a:avLst/>
              <a:gdLst/>
              <a:ahLst/>
              <a:cxnLst/>
              <a:rect r="r" b="b" t="t" l="l"/>
              <a:pathLst>
                <a:path h="5341620" w="918210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8995156" y="0"/>
                  </a:lnTo>
                  <a:cubicBezTo>
                    <a:pt x="9098407" y="0"/>
                    <a:pt x="9182100" y="83693"/>
                    <a:pt x="9182100" y="186944"/>
                  </a:cubicBezTo>
                  <a:lnTo>
                    <a:pt x="9182100" y="5154676"/>
                  </a:lnTo>
                  <a:cubicBezTo>
                    <a:pt x="9182100" y="5257927"/>
                    <a:pt x="9098407" y="5341620"/>
                    <a:pt x="8995156" y="5341620"/>
                  </a:cubicBezTo>
                  <a:lnTo>
                    <a:pt x="186944" y="5341620"/>
                  </a:lnTo>
                  <a:cubicBezTo>
                    <a:pt x="83693" y="5341620"/>
                    <a:pt x="0" y="5257927"/>
                    <a:pt x="0" y="515467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206990" y="2814066"/>
            <a:ext cx="2423160" cy="406908"/>
            <a:chOff x="0" y="0"/>
            <a:chExt cx="3230880" cy="5425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079ED2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OUR SOLUTION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241280" y="3465195"/>
            <a:ext cx="5852160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OUR APPROACH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One entry point detects format and page regions, then routes each region to a specialist extractor under a shared block schema.</a:t>
            </a:r>
          </a:p>
          <a:p>
            <a:pPr algn="l">
              <a:lnSpc>
                <a:spcPts val="1800"/>
              </a:lnSpc>
            </a:pP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3C3C41"/>
                </a:solidFill>
                <a:latin typeface="Arimo"/>
                <a:ea typeface="Arimo"/>
                <a:cs typeface="Arimo"/>
                <a:sym typeface="Arimo"/>
              </a:rPr>
              <a:t>Assembly restores reading order and merges cross-page tables; every block gets a bbox, confidence and a flag if uncertain — delivered as Markdown and JSON.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2454592" y="7323772"/>
            <a:ext cx="14156055" cy="2497455"/>
            <a:chOff x="0" y="0"/>
            <a:chExt cx="18874740" cy="33299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8874741" cy="3329940"/>
            </a:xfrm>
            <a:custGeom>
              <a:avLst/>
              <a:gdLst/>
              <a:ahLst/>
              <a:cxnLst/>
              <a:rect r="r" b="b" t="t" l="l"/>
              <a:pathLst>
                <a:path h="3329940" w="18874741">
                  <a:moveTo>
                    <a:pt x="0" y="116586"/>
                  </a:moveTo>
                  <a:cubicBezTo>
                    <a:pt x="0" y="52197"/>
                    <a:pt x="52197" y="0"/>
                    <a:pt x="116586" y="0"/>
                  </a:cubicBezTo>
                  <a:lnTo>
                    <a:pt x="18758154" y="0"/>
                  </a:lnTo>
                  <a:cubicBezTo>
                    <a:pt x="18822543" y="0"/>
                    <a:pt x="18874741" y="52197"/>
                    <a:pt x="18874741" y="116586"/>
                  </a:cubicBezTo>
                  <a:lnTo>
                    <a:pt x="18874741" y="3213354"/>
                  </a:lnTo>
                  <a:cubicBezTo>
                    <a:pt x="18874741" y="3277743"/>
                    <a:pt x="18822543" y="3329940"/>
                    <a:pt x="18758154" y="3329940"/>
                  </a:cubicBezTo>
                  <a:lnTo>
                    <a:pt x="116586" y="3329940"/>
                  </a:lnTo>
                  <a:cubicBezTo>
                    <a:pt x="52197" y="3329940"/>
                    <a:pt x="0" y="3277743"/>
                    <a:pt x="0" y="3213354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353334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2937510" y="7134606"/>
            <a:ext cx="2423160" cy="406908"/>
            <a:chOff x="0" y="0"/>
            <a:chExt cx="3230880" cy="54254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30880" cy="542544"/>
            </a:xfrm>
            <a:custGeom>
              <a:avLst/>
              <a:gdLst/>
              <a:ahLst/>
              <a:cxnLst/>
              <a:rect r="r" b="b" t="t" l="l"/>
              <a:pathLst>
                <a:path h="542544" w="3230880">
                  <a:moveTo>
                    <a:pt x="0" y="271272"/>
                  </a:moveTo>
                  <a:cubicBezTo>
                    <a:pt x="0" y="121412"/>
                    <a:pt x="121412" y="0"/>
                    <a:pt x="271272" y="0"/>
                  </a:cubicBezTo>
                  <a:lnTo>
                    <a:pt x="2959608" y="0"/>
                  </a:lnTo>
                  <a:cubicBezTo>
                    <a:pt x="3109468" y="0"/>
                    <a:pt x="3230880" y="121412"/>
                    <a:pt x="3230880" y="271272"/>
                  </a:cubicBezTo>
                  <a:cubicBezTo>
                    <a:pt x="3230880" y="421132"/>
                    <a:pt x="3109468" y="542544"/>
                    <a:pt x="2959608" y="542544"/>
                  </a:cubicBezTo>
                  <a:lnTo>
                    <a:pt x="271272" y="542544"/>
                  </a:lnTo>
                  <a:cubicBezTo>
                    <a:pt x="121412" y="542544"/>
                    <a:pt x="0" y="421132"/>
                    <a:pt x="0" y="271272"/>
                  </a:cubicBezTo>
                  <a:close/>
                </a:path>
              </a:pathLst>
            </a:custGeom>
            <a:solidFill>
              <a:srgbClr val="FD1485"/>
            </a:solidFill>
            <a:ln w="22860" cap="sq">
              <a:solidFill>
                <a:srgbClr val="353334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3230880" cy="561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MOAT / DIFFERENTIATION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2971800" y="7707630"/>
            <a:ext cx="1312164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D1485"/>
                </a:solidFill>
                <a:latin typeface="Arimo Bold"/>
                <a:ea typeface="Arimo Bold"/>
                <a:cs typeface="Arimo Bold"/>
                <a:sym typeface="Arimo Bold"/>
              </a:rPr>
              <a:t>KEY DIFFERENCE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53334"/>
                </a:solidFill>
                <a:latin typeface="Arimo Bold"/>
                <a:ea typeface="Arimo Bold"/>
                <a:cs typeface="Arimo Bold"/>
                <a:sym typeface="Arimo Bold"/>
              </a:rPr>
              <a:t>ParseAnything is not “document → LLM → JSON”. It is a native-first cascade of specialist extractors over one common block schema, with provenance and confidence on every block — click any number in the output and see its exact source box. That is what keeps it accurate, auditable and under $10 per 1,000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DAHXT22d8fs</dc:identifier>
  <dcterms:modified xsi:type="dcterms:W3CDTF">2011-08-01T06:04:30Z</dcterms:modified>
  <cp:revision>1</cp:revision>
  <dc:title>ParseAnything_DataQuest3_Round1.pptx</dc:title>
</cp:coreProperties>
</file>