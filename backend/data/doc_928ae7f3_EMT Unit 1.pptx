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3"/>
  </p:notesMasterIdLst>
  <p:sldIdLst>
    <p:sldId id="256" r:id="rId2"/>
    <p:sldId id="377" r:id="rId3"/>
    <p:sldId id="257" r:id="rId4"/>
    <p:sldId id="258" r:id="rId5"/>
    <p:sldId id="260" r:id="rId6"/>
    <p:sldId id="261" r:id="rId7"/>
    <p:sldId id="264" r:id="rId8"/>
    <p:sldId id="265" r:id="rId9"/>
    <p:sldId id="266" r:id="rId10"/>
    <p:sldId id="267" r:id="rId11"/>
    <p:sldId id="416" r:id="rId12"/>
    <p:sldId id="268" r:id="rId13"/>
    <p:sldId id="269" r:id="rId14"/>
    <p:sldId id="270" r:id="rId15"/>
    <p:sldId id="271" r:id="rId16"/>
    <p:sldId id="272" r:id="rId17"/>
    <p:sldId id="273" r:id="rId18"/>
    <p:sldId id="274" r:id="rId19"/>
    <p:sldId id="275" r:id="rId20"/>
    <p:sldId id="276" r:id="rId21"/>
    <p:sldId id="278" r:id="rId22"/>
    <p:sldId id="279" r:id="rId23"/>
    <p:sldId id="280" r:id="rId24"/>
    <p:sldId id="419" r:id="rId25"/>
    <p:sldId id="297" r:id="rId26"/>
    <p:sldId id="298" r:id="rId27"/>
    <p:sldId id="281" r:id="rId28"/>
    <p:sldId id="299" r:id="rId29"/>
    <p:sldId id="300" r:id="rId30"/>
    <p:sldId id="313" r:id="rId31"/>
    <p:sldId id="314" r:id="rId32"/>
    <p:sldId id="301" r:id="rId33"/>
    <p:sldId id="302" r:id="rId34"/>
    <p:sldId id="303" r:id="rId35"/>
    <p:sldId id="304" r:id="rId36"/>
    <p:sldId id="305" r:id="rId37"/>
    <p:sldId id="307" r:id="rId38"/>
    <p:sldId id="306" r:id="rId39"/>
    <p:sldId id="418" r:id="rId40"/>
    <p:sldId id="406" r:id="rId41"/>
    <p:sldId id="310" r:id="rId42"/>
    <p:sldId id="309" r:id="rId43"/>
    <p:sldId id="311" r:id="rId44"/>
    <p:sldId id="312" r:id="rId45"/>
    <p:sldId id="315" r:id="rId46"/>
    <p:sldId id="317" r:id="rId47"/>
    <p:sldId id="318" r:id="rId48"/>
    <p:sldId id="319" r:id="rId49"/>
    <p:sldId id="408" r:id="rId50"/>
    <p:sldId id="316" r:id="rId51"/>
    <p:sldId id="320" r:id="rId52"/>
    <p:sldId id="417" r:id="rId53"/>
    <p:sldId id="321" r:id="rId54"/>
    <p:sldId id="414" r:id="rId55"/>
    <p:sldId id="415" r:id="rId56"/>
    <p:sldId id="322" r:id="rId57"/>
    <p:sldId id="323" r:id="rId58"/>
    <p:sldId id="324" r:id="rId59"/>
    <p:sldId id="326" r:id="rId60"/>
    <p:sldId id="325"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409" r:id="rId75"/>
    <p:sldId id="410" r:id="rId76"/>
    <p:sldId id="340" r:id="rId77"/>
    <p:sldId id="341" r:id="rId78"/>
    <p:sldId id="342" r:id="rId79"/>
    <p:sldId id="343" r:id="rId80"/>
    <p:sldId id="345" r:id="rId81"/>
    <p:sldId id="346" r:id="rId82"/>
    <p:sldId id="347" r:id="rId83"/>
    <p:sldId id="348" r:id="rId84"/>
    <p:sldId id="349" r:id="rId85"/>
    <p:sldId id="350" r:id="rId86"/>
    <p:sldId id="351" r:id="rId87"/>
    <p:sldId id="352" r:id="rId88"/>
    <p:sldId id="353" r:id="rId89"/>
    <p:sldId id="354" r:id="rId90"/>
    <p:sldId id="355" r:id="rId91"/>
    <p:sldId id="411" r:id="rId92"/>
    <p:sldId id="412" r:id="rId93"/>
    <p:sldId id="356" r:id="rId94"/>
    <p:sldId id="357" r:id="rId95"/>
    <p:sldId id="358" r:id="rId96"/>
    <p:sldId id="359" r:id="rId97"/>
    <p:sldId id="360" r:id="rId98"/>
    <p:sldId id="361" r:id="rId99"/>
    <p:sldId id="362" r:id="rId100"/>
    <p:sldId id="363" r:id="rId101"/>
    <p:sldId id="364" r:id="rId102"/>
    <p:sldId id="365" r:id="rId103"/>
    <p:sldId id="366" r:id="rId104"/>
    <p:sldId id="367" r:id="rId105"/>
    <p:sldId id="368" r:id="rId106"/>
    <p:sldId id="369" r:id="rId107"/>
    <p:sldId id="370" r:id="rId108"/>
    <p:sldId id="371" r:id="rId109"/>
    <p:sldId id="372" r:id="rId110"/>
    <p:sldId id="373" r:id="rId111"/>
    <p:sldId id="374" r:id="rId112"/>
    <p:sldId id="375" r:id="rId113"/>
    <p:sldId id="376" r:id="rId114"/>
    <p:sldId id="378" r:id="rId115"/>
    <p:sldId id="379" r:id="rId116"/>
    <p:sldId id="380" r:id="rId117"/>
    <p:sldId id="381" r:id="rId118"/>
    <p:sldId id="382" r:id="rId119"/>
    <p:sldId id="383" r:id="rId120"/>
    <p:sldId id="384" r:id="rId121"/>
    <p:sldId id="385" r:id="rId122"/>
    <p:sldId id="386" r:id="rId123"/>
    <p:sldId id="420" r:id="rId124"/>
    <p:sldId id="387" r:id="rId125"/>
    <p:sldId id="388" r:id="rId126"/>
    <p:sldId id="389" r:id="rId127"/>
    <p:sldId id="390" r:id="rId128"/>
    <p:sldId id="391" r:id="rId129"/>
    <p:sldId id="392" r:id="rId130"/>
    <p:sldId id="393" r:id="rId131"/>
    <p:sldId id="394" r:id="rId132"/>
    <p:sldId id="395" r:id="rId133"/>
    <p:sldId id="396" r:id="rId134"/>
    <p:sldId id="397" r:id="rId135"/>
    <p:sldId id="398" r:id="rId136"/>
    <p:sldId id="399" r:id="rId137"/>
    <p:sldId id="400" r:id="rId138"/>
    <p:sldId id="401" r:id="rId139"/>
    <p:sldId id="402" r:id="rId140"/>
    <p:sldId id="403" r:id="rId141"/>
    <p:sldId id="404" r:id="rId1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98208" autoAdjust="0"/>
  </p:normalViewPr>
  <p:slideViewPr>
    <p:cSldViewPr>
      <p:cViewPr>
        <p:scale>
          <a:sx n="75" d="100"/>
          <a:sy n="75" d="100"/>
        </p:scale>
        <p:origin x="-61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NUL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NULL"/><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46.wmf"/><Relationship Id="rId1" Type="http://schemas.openxmlformats.org/officeDocument/2006/relationships/image" Target="../media/image13.wmf"/><Relationship Id="rId6" Type="http://schemas.openxmlformats.org/officeDocument/2006/relationships/image" Target="../media/image48.wmf"/><Relationship Id="rId5" Type="http://schemas.openxmlformats.org/officeDocument/2006/relationships/image" Target="../media/image35.wmf"/><Relationship Id="rId4"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5" Type="http://schemas.openxmlformats.org/officeDocument/2006/relationships/image" Target="../media/image68.wmf"/><Relationship Id="rId4"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NULL"/><Relationship Id="rId5" Type="http://schemas.openxmlformats.org/officeDocument/2006/relationships/image" Target="../media/image72.wmf"/><Relationship Id="rId4"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5" Type="http://schemas.openxmlformats.org/officeDocument/2006/relationships/image" Target="../media/image81.wmf"/><Relationship Id="rId4" Type="http://schemas.openxmlformats.org/officeDocument/2006/relationships/image" Target="../media/image8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4" Type="http://schemas.openxmlformats.org/officeDocument/2006/relationships/image" Target="../media/image11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4.wmf"/><Relationship Id="rId1" Type="http://schemas.openxmlformats.org/officeDocument/2006/relationships/image" Target="../media/image127.png"/><Relationship Id="rId4" Type="http://schemas.openxmlformats.org/officeDocument/2006/relationships/image" Target="../media/image12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59.emf"/><Relationship Id="rId2" Type="http://schemas.openxmlformats.org/officeDocument/2006/relationships/image" Target="../media/image158.emf"/><Relationship Id="rId1" Type="http://schemas.openxmlformats.org/officeDocument/2006/relationships/image" Target="../media/image15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60.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62.emf"/><Relationship Id="rId1" Type="http://schemas.openxmlformats.org/officeDocument/2006/relationships/image" Target="../media/image161.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6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64.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7.emf"/><Relationship Id="rId2" Type="http://schemas.openxmlformats.org/officeDocument/2006/relationships/image" Target="../media/image166.emf"/><Relationship Id="rId1" Type="http://schemas.openxmlformats.org/officeDocument/2006/relationships/image" Target="../media/image165.emf"/><Relationship Id="rId5" Type="http://schemas.openxmlformats.org/officeDocument/2006/relationships/image" Target="../media/image169.emf"/><Relationship Id="rId4" Type="http://schemas.openxmlformats.org/officeDocument/2006/relationships/image" Target="../media/image16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70.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73.emf"/><Relationship Id="rId1" Type="http://schemas.openxmlformats.org/officeDocument/2006/relationships/image" Target="../media/image172.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76.emf"/><Relationship Id="rId2" Type="http://schemas.openxmlformats.org/officeDocument/2006/relationships/image" Target="../media/image175.emf"/><Relationship Id="rId1" Type="http://schemas.openxmlformats.org/officeDocument/2006/relationships/image" Target="../media/image174.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77.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79.emf"/><Relationship Id="rId1" Type="http://schemas.openxmlformats.org/officeDocument/2006/relationships/image" Target="../media/image178.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82.emf"/><Relationship Id="rId2" Type="http://schemas.openxmlformats.org/officeDocument/2006/relationships/image" Target="../media/image181.emf"/><Relationship Id="rId1" Type="http://schemas.openxmlformats.org/officeDocument/2006/relationships/image" Target="../media/image180.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3.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85.emf"/><Relationship Id="rId1" Type="http://schemas.openxmlformats.org/officeDocument/2006/relationships/image" Target="../media/image184.e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image" Target="../media/image187.emf"/><Relationship Id="rId1" Type="http://schemas.openxmlformats.org/officeDocument/2006/relationships/image" Target="../media/image18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89.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92.emf"/><Relationship Id="rId2" Type="http://schemas.openxmlformats.org/officeDocument/2006/relationships/image" Target="../media/image191.emf"/><Relationship Id="rId1" Type="http://schemas.openxmlformats.org/officeDocument/2006/relationships/image" Target="../media/image190.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3.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4.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95.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96.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97.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98.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99.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0.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02.emf"/><Relationship Id="rId1" Type="http://schemas.openxmlformats.org/officeDocument/2006/relationships/image" Target="../media/image201.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3.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6D9C53-A9FD-4BC0-8E24-74FCA83F7193}" type="datetimeFigureOut">
              <a:rPr lang="en-IN" smtClean="0"/>
              <a:pPr/>
              <a:t>30-07-2018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36F344-E9B0-4BCA-9B11-B27D0A952765}" type="slidenum">
              <a:rPr lang="en-IN" smtClean="0"/>
              <a:pPr/>
              <a:t>‹#›</a:t>
            </a:fld>
            <a:endParaRPr lang="en-IN"/>
          </a:p>
        </p:txBody>
      </p:sp>
    </p:spTree>
    <p:extLst>
      <p:ext uri="{BB962C8B-B14F-4D97-AF65-F5344CB8AC3E}">
        <p14:creationId xmlns:p14="http://schemas.microsoft.com/office/powerpoint/2010/main" val="422764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B3AA4A14-B4D0-4DA1-B0ED-C39F90C2D17B}" type="slidenum">
              <a:rPr lang="en-US" smtClean="0"/>
              <a:pPr/>
              <a:t>5</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515995FC-7F1E-4365-872A-4B2CA2FE722D}" type="slidenum">
              <a:rPr lang="en-US" smtClean="0"/>
              <a:pPr/>
              <a:t>6</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76B17EBD-E1DB-4A04-8577-DED480F6EFBE}" type="slidenum">
              <a:rPr lang="en-US" smtClean="0"/>
              <a:pPr/>
              <a:t>7</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806B2478-CC52-4E5C-8E7A-B2EA686F12B9}" type="slidenum">
              <a:rPr lang="en-US" smtClean="0"/>
              <a:pPr/>
              <a:t>8</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35A59F7-9B44-461C-AA9E-30B797E08008}" type="slidenum">
              <a:rPr lang="en-US" smtClean="0"/>
              <a:pPr/>
              <a:t>9</a:t>
            </a:fld>
            <a:endParaRPr lang="en-US"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FD3DCD8D-2149-4CE1-8FE5-9985C24F6572}" type="slidenum">
              <a:rPr lang="en-US" smtClean="0"/>
              <a:pPr/>
              <a:t>10</a:t>
            </a:fld>
            <a:endParaRPr lang="en-US"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6EBBE62D-35EB-4E01-A56F-1E41679E682C}" type="slidenum">
              <a:rPr lang="en-US" smtClean="0"/>
              <a:pPr/>
              <a:t>12</a:t>
            </a:fld>
            <a:endParaRPr lang="en-US"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463DAC2-FFC0-46B5-BB9E-8DB1DD7AD6E3}" type="slidenum">
              <a:rPr lang="en-US" smtClean="0"/>
              <a:pPr/>
              <a:t>13</a:t>
            </a:fld>
            <a:endParaRPr lang="en-US"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F48E11B7-D8FD-496E-8422-E517B5606F1C}" type="slidenum">
              <a:rPr lang="en-US" smtClean="0"/>
              <a:pPr/>
              <a:t>14</a:t>
            </a:fld>
            <a:endParaRPr lang="en-US"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4B47E13-5B05-4807-B7BC-E1F6F9F5AACE}" type="slidenum">
              <a:rPr lang="en-US" smtClean="0"/>
              <a:pPr/>
              <a:t>15</a:t>
            </a:fld>
            <a:endParaRPr lang="en-US"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9AAE320-5C1B-40C7-95BD-750F791FAFDC}" type="slidenum">
              <a:rPr lang="en-US" smtClean="0"/>
              <a:pPr/>
              <a:t>16</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88C1A73-1269-4430-92D2-75D0C45E451D}" type="slidenum">
              <a:rPr lang="en-US" smtClean="0"/>
              <a:pPr/>
              <a:t>17</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541997F-1325-46D9-8276-89AB3341963E}" type="slidenum">
              <a:rPr lang="en-US" smtClean="0"/>
              <a:pPr/>
              <a:t>18</a:t>
            </a:fld>
            <a:endParaRPr lang="en-US"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A9044A08-85B3-4046-8983-4B716AE77887}" type="slidenum">
              <a:rPr lang="en-US" smtClean="0"/>
              <a:pPr/>
              <a:t>19</a:t>
            </a:fld>
            <a:endParaRPr lang="en-US"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73BE5D26-EA7C-4DE7-8633-7688F44B2326}" type="slidenum">
              <a:rPr lang="en-US" smtClean="0"/>
              <a:pPr/>
              <a:t>20</a:t>
            </a:fld>
            <a:endParaRPr lang="en-US"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2283DE8E-9368-4A85-A617-73565BEB1992}" type="slidenum">
              <a:rPr lang="en-US" smtClean="0"/>
              <a:pPr/>
              <a:t>21</a:t>
            </a:fld>
            <a:endParaRPr lang="en-US"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D833185-D259-45BF-8AFB-A78A9C82AB17}" type="slidenum">
              <a:rPr lang="en-US" smtClean="0"/>
              <a:pPr/>
              <a:t>22</a:t>
            </a:fld>
            <a:endParaRPr lang="en-US" smtClean="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724A0A88-457E-4C12-9B24-140C5EAA10E3}" type="slidenum">
              <a:rPr lang="en-US" smtClean="0"/>
              <a:pPr/>
              <a:t>23</a:t>
            </a:fld>
            <a:endParaRPr lang="en-US"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63DDFD9E-94EC-495F-94BD-8FD61A300732}" type="slidenum">
              <a:rPr lang="en-US" smtClean="0"/>
              <a:pPr/>
              <a:t>27</a:t>
            </a:fld>
            <a:endParaRPr lang="en-US"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9FA13A5C-06BB-4AFC-9100-5915ABE7C969}" type="slidenum">
              <a:rPr lang="en-US" smtClean="0"/>
              <a:pPr/>
              <a:t>30</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C0832DA4-B92B-4C78-9485-FD7C8903A128}" type="slidenum">
              <a:rPr lang="en-US" smtClean="0"/>
              <a:pPr/>
              <a:t>31</a:t>
            </a:fld>
            <a:endParaRPr lang="en-US"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6007A7-33C0-4438-8069-F790A991D228}" type="slidenum">
              <a:rPr lang="en-US"/>
              <a:pPr/>
              <a:t>92</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p:spPr>
        <p:txBody>
          <a:bodyPr/>
          <a:lstStyle/>
          <a:p>
            <a:fld id="{F372217C-32FC-47D4-87E3-2AB099A38C05}" type="slidenum">
              <a:rPr lang="en-US" smtClean="0"/>
              <a:pPr/>
              <a:t>134</a:t>
            </a:fld>
            <a:endParaRPr lang="en-US" smtClean="0"/>
          </a:p>
        </p:txBody>
      </p:sp>
      <p:sp>
        <p:nvSpPr>
          <p:cNvPr id="36867" name="Rectangle 1026"/>
          <p:cNvSpPr>
            <a:spLocks noGrp="1" noRot="1" noChangeAspect="1" noChangeArrowheads="1" noTextEdit="1"/>
          </p:cNvSpPr>
          <p:nvPr>
            <p:ph type="sldImg"/>
          </p:nvPr>
        </p:nvSpPr>
        <p:spPr>
          <a:ln/>
        </p:spPr>
      </p:sp>
      <p:sp>
        <p:nvSpPr>
          <p:cNvPr id="36868"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p>
            <a:fld id="{43B86484-2CD9-49E3-85E8-4320B273D841}" type="slidenum">
              <a:rPr lang="en-US" smtClean="0"/>
              <a:pPr/>
              <a:t>135</a:t>
            </a:fld>
            <a:endParaRPr lang="en-US" smtClean="0"/>
          </a:p>
        </p:txBody>
      </p:sp>
      <p:sp>
        <p:nvSpPr>
          <p:cNvPr id="37891" name="Rectangle 1026"/>
          <p:cNvSpPr>
            <a:spLocks noGrp="1" noRot="1" noChangeAspect="1" noChangeArrowheads="1" noTextEdit="1"/>
          </p:cNvSpPr>
          <p:nvPr>
            <p:ph type="sldImg"/>
          </p:nvPr>
        </p:nvSpPr>
        <p:spPr>
          <a:ln/>
        </p:spPr>
      </p:sp>
      <p:sp>
        <p:nvSpPr>
          <p:cNvPr id="37892"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p:spPr>
        <p:txBody>
          <a:bodyPr/>
          <a:lstStyle/>
          <a:p>
            <a:fld id="{C4BEEDB2-0A59-49C3-A191-EB4013E53001}" type="slidenum">
              <a:rPr lang="en-US" smtClean="0"/>
              <a:pPr/>
              <a:t>136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p:spPr>
        <p:txBody>
          <a:bodyPr/>
          <a:lstStyle/>
          <a:p>
            <a:fld id="{25212B4A-843A-4B3D-BB83-F625898F3EED}" type="slidenum">
              <a:rPr lang="en-US" smtClean="0"/>
              <a:pPr/>
              <a:t>137</a:t>
            </a:fld>
            <a:endParaRPr lang="en-US" smtClean="0"/>
          </a:p>
        </p:txBody>
      </p:sp>
      <p:sp>
        <p:nvSpPr>
          <p:cNvPr id="39939" name="Rectangle 1026"/>
          <p:cNvSpPr>
            <a:spLocks noGrp="1" noRot="1" noChangeAspect="1" noChangeArrowheads="1" noTextEdit="1"/>
          </p:cNvSpPr>
          <p:nvPr>
            <p:ph type="sldImg"/>
          </p:nvPr>
        </p:nvSpPr>
        <p:spPr>
          <a:ln/>
        </p:spPr>
      </p:sp>
      <p:sp>
        <p:nvSpPr>
          <p:cNvPr id="39940"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p>
            <a:fld id="{DF0E7624-BC49-4833-AE3D-2FA1EBF4B581}" type="slidenum">
              <a:rPr lang="en-US" smtClean="0"/>
              <a:pPr/>
              <a:t>138</a:t>
            </a:fld>
            <a:endParaRPr lang="en-US" smtClean="0"/>
          </a:p>
        </p:txBody>
      </p:sp>
      <p:sp>
        <p:nvSpPr>
          <p:cNvPr id="40963" name="Rectangle 1026"/>
          <p:cNvSpPr>
            <a:spLocks noGrp="1" noRot="1" noChangeAspect="1" noChangeArrowheads="1" noTextEdit="1"/>
          </p:cNvSpPr>
          <p:nvPr>
            <p:ph type="sldImg"/>
          </p:nvPr>
        </p:nvSpPr>
        <p:spPr>
          <a:ln/>
        </p:spPr>
      </p:sp>
      <p:sp>
        <p:nvSpPr>
          <p:cNvPr id="40964"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9825E735-3C0F-4923-B6C4-6C1EF5D8618A}" type="slidenum">
              <a:rPr lang="en-US" smtClean="0"/>
              <a:pPr/>
              <a:t>139</a:t>
            </a:fld>
            <a:endParaRPr lang="en-US" smtClean="0"/>
          </a:p>
        </p:txBody>
      </p:sp>
      <p:sp>
        <p:nvSpPr>
          <p:cNvPr id="41987" name="Rectangle 1026"/>
          <p:cNvSpPr>
            <a:spLocks noGrp="1" noRot="1" noChangeAspect="1" noChangeArrowheads="1" noTextEdit="1"/>
          </p:cNvSpPr>
          <p:nvPr>
            <p:ph type="sldImg"/>
          </p:nvPr>
        </p:nvSpPr>
        <p:spPr>
          <a:ln/>
        </p:spPr>
      </p:sp>
      <p:sp>
        <p:nvSpPr>
          <p:cNvPr id="41988"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p:spPr>
        <p:txBody>
          <a:bodyPr/>
          <a:lstStyle/>
          <a:p>
            <a:fld id="{3483C210-0157-482C-AE3E-F47F9C9D77BF}" type="slidenum">
              <a:rPr lang="en-US" smtClean="0"/>
              <a:pPr/>
              <a:t>140</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ED54FBC4-2D12-4C1B-B947-7899E256ED08}" type="slidenum">
              <a:rPr lang="en-US" smtClean="0"/>
              <a:pPr/>
              <a:t>141</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3"/>
          <p:cNvSpPr>
            <a:spLocks noGrp="1" noChangeArrowheads="1"/>
          </p:cNvSpPr>
          <p:nvPr>
            <p:ph type="sldNum" sz="quarter" idx="10"/>
          </p:nvPr>
        </p:nvSpPr>
        <p:spPr>
          <a:ln/>
        </p:spPr>
        <p:txBody>
          <a:bodyPr/>
          <a:lstStyle>
            <a:lvl1pPr>
              <a:defRPr/>
            </a:lvl1pPr>
          </a:lstStyle>
          <a:p>
            <a:pPr>
              <a:defRPr/>
            </a:pPr>
            <a:fld id="{74D0A223-22AF-4082-BAF8-F1BFF306BCD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9" Type="http://schemas.openxmlformats.org/officeDocument/2006/relationships/image" Target="../media/image3.wmf"/></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image" Target="../media/image6.wmf"/><Relationship Id="rId3" Type="http://schemas.openxmlformats.org/officeDocument/2006/relationships/notesSlide" Target="../notesSlides/notesSlide2.xml"/><Relationship Id="rId1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0.wmf"/><Relationship Id="rId15" Type="http://schemas.openxmlformats.org/officeDocument/2006/relationships/image" Target="../media/image7.wmf"/><Relationship Id="rId10" Type="http://schemas.openxmlformats.org/officeDocument/2006/relationships/image" Target="../media/image5.wmf"/><Relationship Id="rId19" Type="http://schemas.openxmlformats.org/officeDocument/2006/relationships/image" Target="../media/image9.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wmf"/></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18" Type="http://schemas.openxmlformats.org/officeDocument/2006/relationships/image" Target="../media/image19.wmf"/><Relationship Id="rId3" Type="http://schemas.openxmlformats.org/officeDocument/2006/relationships/notesSlide" Target="../notesSlides/notesSlide4.xml"/><Relationship Id="rId12" Type="http://schemas.openxmlformats.org/officeDocument/2006/relationships/image" Target="../media/image16.wmf"/><Relationship Id="rId2" Type="http://schemas.openxmlformats.org/officeDocument/2006/relationships/slideLayout" Target="../slideLayouts/slideLayout12.xml"/><Relationship Id="rId16" Type="http://schemas.openxmlformats.org/officeDocument/2006/relationships/image" Target="../media/image18.wmf"/><Relationship Id="rId20" Type="http://schemas.openxmlformats.org/officeDocument/2006/relationships/image" Target="../media/image20.wmf"/><Relationship Id="rId1" Type="http://schemas.openxmlformats.org/officeDocument/2006/relationships/vmlDrawing" Target="../drawings/vmlDrawing4.vml"/><Relationship Id="rId6" Type="http://schemas.openxmlformats.org/officeDocument/2006/relationships/image" Target="../media/image13.wmf"/><Relationship Id="rId10" Type="http://schemas.openxmlformats.org/officeDocument/2006/relationships/image" Target="../media/image15.wmf"/><Relationship Id="rId14" Type="http://schemas.openxmlformats.org/officeDocument/2006/relationships/image" Target="../media/image17.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2.png"/><Relationship Id="rId5" Type="http://schemas.openxmlformats.org/officeDocument/2006/relationships/image" Target="../media/image21.wmf"/></Relationships>

</file>

<file path=ppt/slides/_rels/slide10.xml.rels><?xml version="1.0" encoding="UTF-8" standalone="yes"?>
<Relationships xmlns="http://schemas.openxmlformats.org/package/2006/relationships"><Relationship Id="rId13" Type="http://schemas.openxmlformats.org/officeDocument/2006/relationships/image" Target="../media/image28.wmf"/><Relationship Id="rId3" Type="http://schemas.openxmlformats.org/officeDocument/2006/relationships/notesSlide" Target="../notesSlides/notesSlide6.xml"/><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6.vml"/><Relationship Id="rId11" Type="http://schemas.openxmlformats.org/officeDocument/2006/relationships/image" Target="../media/image27.wmf"/><Relationship Id="rId5" Type="http://schemas.openxmlformats.org/officeDocument/2006/relationships/image" Target="../media/image24.wmf"/><Relationship Id="rId9" Type="http://schemas.openxmlformats.org/officeDocument/2006/relationships/image" Target="../media/image26.wmf"/></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34.wmf"/><Relationship Id="rId3" Type="http://schemas.openxmlformats.org/officeDocument/2006/relationships/notesSlide" Target="../notesSlides/notesSlide7.xml"/><Relationship Id="rId7" Type="http://schemas.openxmlformats.org/officeDocument/2006/relationships/image" Target="../media/image31.wmf"/><Relationship Id="rId2" Type="http://schemas.openxmlformats.org/officeDocument/2006/relationships/slideLayout" Target="../slideLayouts/slideLayout2.xml"/><Relationship Id="rId16" Type="http://schemas.openxmlformats.org/officeDocument/2006/relationships/image" Target="../media/image35.wmf"/><Relationship Id="rId1" Type="http://schemas.openxmlformats.org/officeDocument/2006/relationships/vmlDrawing" Target="../drawings/vmlDrawing7.vml"/><Relationship Id="rId11" Type="http://schemas.openxmlformats.org/officeDocument/2006/relationships/image" Target="../media/image33.wmf"/><Relationship Id="rId5" Type="http://schemas.openxmlformats.org/officeDocument/2006/relationships/image" Target="../media/image30.wmf"/><Relationship Id="rId9" Type="http://schemas.openxmlformats.org/officeDocument/2006/relationships/image" Target="../media/image32.wmf"/></Relationships>

</file>

<file path=ppt/slides/_rels/slide13.xml.rels><?xml version="1.0" encoding="UTF-8" standalone="yes"?>
<Relationships xmlns="http://schemas.openxmlformats.org/package/2006/relationships"><Relationship Id="rId13" Type="http://schemas.openxmlformats.org/officeDocument/2006/relationships/image" Target="../media/image40.wmf"/><Relationship Id="rId3" Type="http://schemas.openxmlformats.org/officeDocument/2006/relationships/notesSlide" Target="../notesSlides/notesSlide8.xml"/><Relationship Id="rId21" Type="http://schemas.openxmlformats.org/officeDocument/2006/relationships/image" Target="../media/image44.wmf"/><Relationship Id="rId7" Type="http://schemas.openxmlformats.org/officeDocument/2006/relationships/image" Target="../media/image37.wmf"/><Relationship Id="rId1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8.vml"/><Relationship Id="rId11" Type="http://schemas.openxmlformats.org/officeDocument/2006/relationships/image" Target="../media/image39.wmf"/><Relationship Id="rId5" Type="http://schemas.openxmlformats.org/officeDocument/2006/relationships/image" Target="../media/image36.wmf"/><Relationship Id="rId15" Type="http://schemas.openxmlformats.org/officeDocument/2006/relationships/image" Target="../media/image41.wmf"/><Relationship Id="rId23" Type="http://schemas.openxmlformats.org/officeDocument/2006/relationships/image" Target="../media/image45.wmf"/><Relationship Id="rId19" Type="http://schemas.openxmlformats.org/officeDocument/2006/relationships/image" Target="../media/image43.wmf"/><Relationship Id="rId9" Type="http://schemas.openxmlformats.org/officeDocument/2006/relationships/image" Target="../media/image38.wmf"/></Relationships>

</file>

<file path=ppt/slides/_rels/slide14.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image" Target="../media/image47.wmf"/><Relationship Id="rId3" Type="http://schemas.openxmlformats.org/officeDocument/2006/relationships/notesSlide" Target="../notesSlides/notesSlide9.xml"/><Relationship Id="rId17"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3.wmf"/><Relationship Id="rId15" Type="http://schemas.openxmlformats.org/officeDocument/2006/relationships/image" Target="../media/image49.png"/><Relationship Id="rId10" Type="http://schemas.openxmlformats.org/officeDocument/2006/relationships/image" Target="../media/image33.wmf"/><Relationship Id="rId19" Type="http://schemas.openxmlformats.org/officeDocument/2006/relationships/image" Target="../media/image48.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10.vml"/><Relationship Id="rId11" Type="http://schemas.openxmlformats.org/officeDocument/2006/relationships/image" Target="../media/image52.wmf"/><Relationship Id="rId5" Type="http://schemas.openxmlformats.org/officeDocument/2006/relationships/image" Target="../media/image50.wmf"/><Relationship Id="rId9" Type="http://schemas.openxmlformats.org/officeDocument/2006/relationships/image" Target="../media/image37.wmf"/></Relationships>

</file>

<file path=ppt/slides/_rels/slide16.xml.rels><?xml version="1.0" encoding="UTF-8" standalone="yes"?>
<Relationships xmlns="http://schemas.openxmlformats.org/package/2006/relationships"><Relationship Id="rId13" Type="http://schemas.openxmlformats.org/officeDocument/2006/relationships/image" Target="../media/image57.wmf"/><Relationship Id="rId3" Type="http://schemas.openxmlformats.org/officeDocument/2006/relationships/notesSlide" Target="../notesSlides/notesSlide11.xml"/><Relationship Id="rId7" Type="http://schemas.openxmlformats.org/officeDocument/2006/relationships/image" Target="../media/image54.wmf"/><Relationship Id="rId2" Type="http://schemas.openxmlformats.org/officeDocument/2006/relationships/slideLayout" Target="../slideLayouts/slideLayout2.xml"/><Relationship Id="rId1" Type="http://schemas.openxmlformats.org/officeDocument/2006/relationships/vmlDrawing" Target="../drawings/vmlDrawing11.vml"/><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9" Type="http://schemas.openxmlformats.org/officeDocument/2006/relationships/image" Target="../media/image55.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0.png"/><Relationship Id="rId5" Type="http://schemas.openxmlformats.org/officeDocument/2006/relationships/image" Target="../media/image59.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61.wmf"/></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63.wmf"/></Relationships>

</file>

<file path=ppt/slides/_rels/slide21.xml.rels><?xml version="1.0" encoding="UTF-8" standalone="yes"?>
<Relationships xmlns="http://schemas.openxmlformats.org/package/2006/relationships"><Relationship Id="rId13" Type="http://schemas.openxmlformats.org/officeDocument/2006/relationships/image" Target="../media/image68.wmf"/><Relationship Id="rId3" Type="http://schemas.openxmlformats.org/officeDocument/2006/relationships/notesSlide" Target="../notesSlides/notesSlide16.xml"/><Relationship Id="rId7"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15.vml"/><Relationship Id="rId11" Type="http://schemas.openxmlformats.org/officeDocument/2006/relationships/image" Target="../media/image67.wmf"/><Relationship Id="rId5" Type="http://schemas.openxmlformats.org/officeDocument/2006/relationships/image" Target="../media/image64.wmf"/><Relationship Id="rId9" Type="http://schemas.openxmlformats.org/officeDocument/2006/relationships/image" Target="../media/image66.wmf"/></Relationships>

</file>

<file path=ppt/slides/_rels/slide22.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notesSlide" Target="../notesSlides/notesSlide17.xml"/><Relationship Id="rId12" Type="http://schemas.openxmlformats.org/officeDocument/2006/relationships/image" Target="../media/image72.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9.wmf"/><Relationship Id="rId10" Type="http://schemas.openxmlformats.org/officeDocument/2006/relationships/image" Target="../media/image71.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74.wmf"/><Relationship Id="rId2" Type="http://schemas.openxmlformats.org/officeDocument/2006/relationships/slideLayout" Target="../slideLayouts/slideLayout2.xml"/><Relationship Id="rId1" Type="http://schemas.openxmlformats.org/officeDocument/2006/relationships/vmlDrawing" Target="../drawings/vmlDrawing17.vml"/><Relationship Id="rId11" Type="http://schemas.openxmlformats.org/officeDocument/2006/relationships/image" Target="../media/image76.wmf"/><Relationship Id="rId5" Type="http://schemas.openxmlformats.org/officeDocument/2006/relationships/image" Target="../media/image73.wmf"/><Relationship Id="rId9" Type="http://schemas.openxmlformats.org/officeDocument/2006/relationships/image" Target="../media/image75.wmf"/></Relationships>

</file>

<file path=ppt/slides/_rels/slide24.xml.rels><?xml version="1.0" encoding="UTF-8" standalone="yes"?>
<Relationships xmlns="http://schemas.openxmlformats.org/package/2006/relationships"><Relationship Id="rId8" Type="http://schemas.openxmlformats.org/officeDocument/2006/relationships/image" Target="../media/image79.wmf"/><Relationship Id="rId12" Type="http://schemas.openxmlformats.org/officeDocument/2006/relationships/image" Target="../media/image81.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78.wmf"/><Relationship Id="rId10" Type="http://schemas.openxmlformats.org/officeDocument/2006/relationships/image" Target="../media/image80.wmf"/><Relationship Id="rId4" Type="http://schemas.openxmlformats.org/officeDocument/2006/relationships/image" Target="../media/image77.wmf"/></Relationships>

</file>

<file path=ppt/slides/_rels/slide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notesSlide" Target="../notesSlides/notesSlide20.xml"/><Relationship Id="rId7" Type="http://schemas.openxmlformats.org/officeDocument/2006/relationships/image" Target="../media/image89.wmf"/><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88.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92.wmf"/><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91.wmf"/></Relationships>

</file>

<file path=ppt/slides/_rels/slide3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03.wmf"/><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102.wmf"/></Relationships>

</file>

<file path=ppt/slides/_rels/slide4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9.jpeg"/><Relationship Id="rId7" Type="http://schemas.openxmlformats.org/officeDocument/2006/relationships/image" Target="../media/image116.wmf"/><Relationship Id="rId2" Type="http://schemas.openxmlformats.org/officeDocument/2006/relationships/slideLayout" Target="../slideLayouts/slideLayout7.xml"/><Relationship Id="rId1" Type="http://schemas.openxmlformats.org/officeDocument/2006/relationships/vmlDrawing" Target="../drawings/vmlDrawing22.vml"/><Relationship Id="rId11" Type="http://schemas.openxmlformats.org/officeDocument/2006/relationships/image" Target="../media/image118.wmf"/><Relationship Id="rId5" Type="http://schemas.openxmlformats.org/officeDocument/2006/relationships/image" Target="../media/image115.wmf"/><Relationship Id="rId9" Type="http://schemas.openxmlformats.org/officeDocument/2006/relationships/image" Target="../media/image117.wmf"/></Relationships>

</file>

<file path=ppt/slides/_rels/slide5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6.jpeg"/><Relationship Id="rId7" Type="http://schemas.openxmlformats.org/officeDocument/2006/relationships/image" Target="../media/image125.wmf"/><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124.wmf"/></Relationships>

</file>

<file path=ppt/slides/_rels/slide55.xml.rels><?xml version="1.0" encoding="UTF-8" standalone="yes"?>
<Relationships xmlns="http://schemas.openxmlformats.org/package/2006/relationships"><Relationship Id="rId8" Type="http://schemas.openxmlformats.org/officeDocument/2006/relationships/image" Target="../media/image128.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24.wmf"/><Relationship Id="rId10" Type="http://schemas.openxmlformats.org/officeDocument/2006/relationships/image" Target="../media/image129.wmf"/><Relationship Id="rId4" Type="http://schemas.openxmlformats.org/officeDocument/2006/relationships/image" Target="../media/image127.png"/></Relationships>

</file>

<file path=ppt/slides/_rels/slide5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7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155.wmf"/></Relationships>

</file>

<file path=ppt/slides/_rels/slide76.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59.emf"/><Relationship Id="rId2" Type="http://schemas.openxmlformats.org/officeDocument/2006/relationships/slideLayout" Target="../slideLayouts/slideLayout6.xml"/><Relationship Id="rId1" Type="http://schemas.openxmlformats.org/officeDocument/2006/relationships/vmlDrawing" Target="../drawings/vmlDrawing26.vml"/><Relationship Id="rId6" Type="http://schemas.openxmlformats.org/officeDocument/2006/relationships/image" Target="../media/image158.emf"/><Relationship Id="rId4" Type="http://schemas.openxmlformats.org/officeDocument/2006/relationships/image" Target="../media/image157.em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160.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62.emf"/><Relationship Id="rId4" Type="http://schemas.openxmlformats.org/officeDocument/2006/relationships/image" Target="../media/image161.emf"/></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163.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164.emf"/></Relationships>

</file>

<file path=ppt/slides/_rels/slide87.xml.rels><?xml version="1.0" encoding="UTF-8" standalone="yes"?>
<Relationships xmlns="http://schemas.openxmlformats.org/package/2006/relationships"><Relationship Id="rId8" Type="http://schemas.openxmlformats.org/officeDocument/2006/relationships/image" Target="../media/image167.emf"/><Relationship Id="rId12" Type="http://schemas.openxmlformats.org/officeDocument/2006/relationships/image" Target="../media/image169.e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66.emf"/><Relationship Id="rId10" Type="http://schemas.openxmlformats.org/officeDocument/2006/relationships/image" Target="../media/image168.emf"/><Relationship Id="rId4" Type="http://schemas.openxmlformats.org/officeDocument/2006/relationships/image" Target="../media/image165.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170.e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73.emf"/><Relationship Id="rId4" Type="http://schemas.openxmlformats.org/officeDocument/2006/relationships/image" Target="../media/image172.emf"/></Relationships>

</file>

<file path=ppt/slides/_rels/slide94.xml.rels><?xml version="1.0" encoding="UTF-8" standalone="yes"?>
<Relationships xmlns="http://schemas.openxmlformats.org/package/2006/relationships"><Relationship Id="rId8" Type="http://schemas.openxmlformats.org/officeDocument/2006/relationships/image" Target="../media/image176.e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75.emf"/><Relationship Id="rId4" Type="http://schemas.openxmlformats.org/officeDocument/2006/relationships/image" Target="../media/image174.emf"/></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vmlDrawing" Target="../drawings/vmlDrawing35.vml"/><Relationship Id="rId4" Type="http://schemas.openxmlformats.org/officeDocument/2006/relationships/image" Target="../media/image177.em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79.emf"/><Relationship Id="rId4" Type="http://schemas.openxmlformats.org/officeDocument/2006/relationships/image" Target="../media/image178.emf"/></Relationships>

</file>

<file path=ppt/slides/_rels/slide97.xml.rels><?xml version="1.0" encoding="UTF-8" standalone="yes"?>
<Relationships xmlns="http://schemas.openxmlformats.org/package/2006/relationships"><Relationship Id="rId8" Type="http://schemas.openxmlformats.org/officeDocument/2006/relationships/image" Target="../media/image182.emf"/><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81.emf"/><Relationship Id="rId4" Type="http://schemas.openxmlformats.org/officeDocument/2006/relationships/image" Target="../media/image180.emf"/></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vmlDrawing" Target="../drawings/vmlDrawing38.vml"/><Relationship Id="rId4" Type="http://schemas.openxmlformats.org/officeDocument/2006/relationships/image" Target="../media/image183.emf"/></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85.emf"/><Relationship Id="rId4" Type="http://schemas.openxmlformats.org/officeDocument/2006/relationships/image" Target="../media/image184.emf"/></Relationships>

</file>

<file path=ppt/slides/_rels/slide100.xml.rels><?xml version="1.0" encoding="UTF-8" standalone="yes"?>
<Relationships xmlns="http://schemas.openxmlformats.org/package/2006/relationships"><Relationship Id="rId8" Type="http://schemas.openxmlformats.org/officeDocument/2006/relationships/image" Target="../media/image188.e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87.emf"/><Relationship Id="rId4" Type="http://schemas.openxmlformats.org/officeDocument/2006/relationships/image" Target="../media/image186.emf"/></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vmlDrawing" Target="../drawings/vmlDrawing41.vml"/><Relationship Id="rId4" Type="http://schemas.openxmlformats.org/officeDocument/2006/relationships/image" Target="../media/image189.e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192.e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191.emf"/><Relationship Id="rId4" Type="http://schemas.openxmlformats.org/officeDocument/2006/relationships/image" Target="../media/image190.emf"/></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image" Target="../media/image193.emf"/></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image" Target="../media/image194.emf"/></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5.vml"/><Relationship Id="rId4" Type="http://schemas.openxmlformats.org/officeDocument/2006/relationships/image" Target="../media/image195.emf"/></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6.vml"/><Relationship Id="rId4" Type="http://schemas.openxmlformats.org/officeDocument/2006/relationships/image" Target="../media/image196.emf"/></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7.vml"/><Relationship Id="rId4" Type="http://schemas.openxmlformats.org/officeDocument/2006/relationships/image" Target="../media/image197.emf"/></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8.vml"/><Relationship Id="rId4" Type="http://schemas.openxmlformats.org/officeDocument/2006/relationships/image" Target="../media/image198.emf"/></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9.vml"/><Relationship Id="rId4" Type="http://schemas.openxmlformats.org/officeDocument/2006/relationships/image" Target="../media/image199.emf"/></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image" Target="../media/image200.emf"/></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202.emf"/><Relationship Id="rId4" Type="http://schemas.openxmlformats.org/officeDocument/2006/relationships/image" Target="../media/image201.emf"/></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2.vml"/><Relationship Id="rId4" Type="http://schemas.openxmlformats.org/officeDocument/2006/relationships/image" Target="../media/image203.emf"/></Relationships>

</file>

<file path=ppt/slides/_rels/slide114.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1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3.vml"/><Relationship Id="rId4" Type="http://schemas.openxmlformats.org/officeDocument/2006/relationships/image" Target="../media/image220.wmf"/></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222.wmf"/><Relationship Id="rId4" Type="http://schemas.openxmlformats.org/officeDocument/2006/relationships/image" Target="../media/image221.w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2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225.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27.png"/><Relationship Id="rId4" Type="http://schemas.openxmlformats.org/officeDocument/2006/relationships/image" Target="../media/image226.png"/></Relationships>
</file>

<file path=ppt/slides/_rels/slide136.xml.rels><?xml version="1.0" encoding="UTF-8" standalone="yes"?>
<Relationships xmlns="http://schemas.openxmlformats.org/package/2006/relationships"><Relationship Id="rId3" Type="http://schemas.openxmlformats.org/officeDocument/2006/relationships/image" Target="../media/image228.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29.jpeg"/></Relationships>
</file>

<file path=ppt/slides/_rels/slide137.xml.rels><?xml version="1.0" encoding="UTF-8" standalone="yes"?>
<Relationships xmlns="http://schemas.openxmlformats.org/package/2006/relationships"><Relationship Id="rId3" Type="http://schemas.openxmlformats.org/officeDocument/2006/relationships/image" Target="../media/image230.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31.wmf"/></Relationships>
</file>

<file path=ppt/slides/_rels/slide138.xml.rels><?xml version="1.0" encoding="UTF-8" standalone="yes"?>
<Relationships xmlns="http://schemas.openxmlformats.org/package/2006/relationships"><Relationship Id="rId3" Type="http://schemas.openxmlformats.org/officeDocument/2006/relationships/image" Target="../media/image232.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33.wmf"/></Relationships>
</file>

<file path=ppt/slides/_rels/slide139.xml.rels><?xml version="1.0" encoding="UTF-8" standalone="yes"?>
<Relationships xmlns="http://schemas.openxmlformats.org/package/2006/relationships"><Relationship Id="rId3" Type="http://schemas.openxmlformats.org/officeDocument/2006/relationships/image" Target="../media/image234.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35.png"/></Relationships>
</file>

<file path=ppt/slides/_rels/slide140.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236.jpeg"/><Relationship Id="rId7" Type="http://schemas.openxmlformats.org/officeDocument/2006/relationships/image" Target="../media/image240.wmf"/><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s>
</file>

<file path=ppt/slides/_rels/slide141.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44.wmf"/><Relationship Id="rId4" Type="http://schemas.openxmlformats.org/officeDocument/2006/relationships/image" Target="../media/image24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ELECTROMAGNETIC THEORY</a:t>
            </a:r>
            <a:endParaRPr lang="en-IN" dirty="0"/>
          </a:p>
        </p:txBody>
      </p:sp>
      <p:sp>
        <p:nvSpPr>
          <p:cNvPr id="3" name="Subtitle 2"/>
          <p:cNvSpPr>
            <a:spLocks noGrp="1"/>
          </p:cNvSpPr>
          <p:nvPr>
            <p:ph type="subTitle" idx="1"/>
          </p:nvPr>
        </p:nvSpPr>
        <p:spPr/>
        <p:txBody>
          <a:bodyPr/>
          <a:lstStyle/>
          <a:p>
            <a:r>
              <a:rPr lang="en-IN" dirty="0" smtClean="0"/>
              <a:t>UNIT-1</a:t>
            </a:r>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smtClean="0"/>
              <a:t>Unit-1</a:t>
            </a:r>
            <a:endParaRPr lang="en-IN" dirty="0"/>
          </a:p>
        </p:txBody>
      </p:sp>
      <p:sp>
        <p:nvSpPr>
          <p:cNvPr id="3" name="Content Placeholder 2"/>
          <p:cNvSpPr>
            <a:spLocks noGrp="1"/>
          </p:cNvSpPr>
          <p:nvPr>
            <p:ph idx="1"/>
          </p:nvPr>
        </p:nvSpPr>
        <p:spPr>
          <a:xfrm>
            <a:off x="457200" y="914400"/>
            <a:ext cx="8229600" cy="5486400"/>
          </a:xfrm>
        </p:spPr>
        <p:txBody>
          <a:bodyPr>
            <a:normAutofit/>
          </a:bodyPr>
          <a:lstStyle/>
          <a:p>
            <a:pPr>
              <a:buNone/>
            </a:pPr>
            <a:r>
              <a:rPr lang="en-US" sz="2400" dirty="0" smtClean="0"/>
              <a:t>    </a:t>
            </a:r>
          </a:p>
          <a:p>
            <a:pPr>
              <a:buNone/>
            </a:pPr>
            <a:r>
              <a:rPr lang="en-US" sz="2400" dirty="0" smtClean="0"/>
              <a:t>   </a:t>
            </a:r>
          </a:p>
          <a:p>
            <a:pPr>
              <a:buNone/>
            </a:pPr>
            <a:r>
              <a:rPr lang="en-US" sz="2400" dirty="0" smtClean="0"/>
              <a:t>    Introduction to various Co-ordinate Systems- Sources and effects of electromagnetic fields</a:t>
            </a:r>
            <a:r>
              <a:rPr lang="en-IN" sz="2400" dirty="0" smtClean="0"/>
              <a:t>-</a:t>
            </a:r>
            <a:r>
              <a:rPr lang="en-US" sz="2400" dirty="0" smtClean="0"/>
              <a:t> Divergence theorem-Strokes theorem- Field theory and circuit theory comparison- Electric field intensity-Electric fields due to point, line, surface and volume charge distributions – Electric flux density- Coulomb’s law  -Introduction to magnetic circuits – Magnetically induced EMF and Mechanical force, torque calculations-Magnetic field in a rotating machine-generated voltage –induced EMF</a:t>
            </a:r>
            <a:endParaRPr lang="en-IN" sz="2400" dirty="0" smtClean="0"/>
          </a:p>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IN" sz="3200" dirty="0" smtClean="0"/>
              <a:t>INTRODUCTION</a:t>
            </a:r>
            <a:endParaRPr lang="en-IN" sz="3200" dirty="0"/>
          </a:p>
        </p:txBody>
      </p:sp>
      <p:sp>
        <p:nvSpPr>
          <p:cNvPr id="3" name="Content Placeholder 2"/>
          <p:cNvSpPr>
            <a:spLocks noGrp="1"/>
          </p:cNvSpPr>
          <p:nvPr>
            <p:ph idx="1"/>
          </p:nvPr>
        </p:nvSpPr>
        <p:spPr>
          <a:xfrm>
            <a:off x="457200" y="685800"/>
            <a:ext cx="8229600" cy="5943600"/>
          </a:xfrm>
        </p:spPr>
        <p:txBody>
          <a:bodyPr>
            <a:normAutofit lnSpcReduction="10000"/>
          </a:bodyPr>
          <a:lstStyle/>
          <a:p>
            <a:pPr>
              <a:buNone/>
            </a:pPr>
            <a:r>
              <a:rPr lang="en-IN" sz="2000" dirty="0" smtClean="0"/>
              <a:t>	</a:t>
            </a:r>
            <a:r>
              <a:rPr lang="en-IN" sz="2000" b="1" dirty="0" smtClean="0"/>
              <a:t>Electromagnetics</a:t>
            </a:r>
            <a:r>
              <a:rPr lang="en-IN" sz="2000" dirty="0" smtClean="0"/>
              <a:t>  is the study of interaction between the </a:t>
            </a:r>
            <a:r>
              <a:rPr lang="en-IN" sz="2000" u="sng" dirty="0" smtClean="0"/>
              <a:t>electric charges at rest and in motion.</a:t>
            </a:r>
          </a:p>
          <a:p>
            <a:pPr>
              <a:buNone/>
            </a:pPr>
            <a:r>
              <a:rPr lang="en-IN" sz="2000" dirty="0" smtClean="0"/>
              <a:t>	Electromagnetic is important  b’cos  it provides on real </a:t>
            </a:r>
            <a:r>
              <a:rPr lang="en-IN" sz="2000" u="sng" dirty="0" smtClean="0"/>
              <a:t>world,3D understanding of electricity and magnetism .</a:t>
            </a:r>
          </a:p>
          <a:p>
            <a:pPr>
              <a:buNone/>
            </a:pPr>
            <a:r>
              <a:rPr lang="en-IN" sz="2000" dirty="0" smtClean="0"/>
              <a:t>	Electric and magnetic fields forms a bridge from circuit theory, tr.lines, waves to wireless systems.</a:t>
            </a:r>
          </a:p>
          <a:p>
            <a:pPr>
              <a:buNone/>
            </a:pPr>
            <a:r>
              <a:rPr lang="en-IN" sz="2000" dirty="0" smtClean="0"/>
              <a:t>	Circuit Theory treats resistors, capacitors and inductors as 2 terminal devices connected through wires.</a:t>
            </a:r>
          </a:p>
          <a:p>
            <a:pPr>
              <a:buNone/>
            </a:pPr>
            <a:r>
              <a:rPr lang="en-IN" sz="2000" dirty="0" smtClean="0"/>
              <a:t>	Field theory deals with space inside and outside  these devices, providing a 3D real world understanding of how they work.</a:t>
            </a:r>
          </a:p>
          <a:p>
            <a:pPr>
              <a:buNone/>
            </a:pPr>
            <a:r>
              <a:rPr lang="en-IN" sz="2000" dirty="0" smtClean="0"/>
              <a:t>	</a:t>
            </a:r>
            <a:r>
              <a:rPr lang="en-IN" sz="2000" u="sng" dirty="0" smtClean="0"/>
              <a:t>Most of the energy flows outside the conductor </a:t>
            </a:r>
            <a:r>
              <a:rPr lang="en-IN" sz="2000" dirty="0" smtClean="0"/>
              <a:t>of tr. Lines rather than inside as postulated by  circuit theory</a:t>
            </a:r>
            <a:r>
              <a:rPr lang="en-IN" sz="2400" dirty="0" smtClean="0"/>
              <a:t>.</a:t>
            </a:r>
          </a:p>
          <a:p>
            <a:pPr>
              <a:buNone/>
            </a:pPr>
            <a:r>
              <a:rPr lang="en-IN" sz="2000" b="1" dirty="0" smtClean="0"/>
              <a:t>APPLICATION:</a:t>
            </a:r>
          </a:p>
          <a:p>
            <a:pPr>
              <a:buNone/>
            </a:pPr>
            <a:r>
              <a:rPr lang="en-IN" sz="2000" dirty="0" smtClean="0"/>
              <a:t>	Microwave , antennas, electric machines , satellite communication, bioelectromagnetics ,plasma ,nuclear research , fiber optics, radar metrology, remote sensing.</a:t>
            </a:r>
          </a:p>
          <a:p>
            <a:pPr>
              <a:buNone/>
            </a:pPr>
            <a:r>
              <a:rPr lang="en-IN" sz="2000" b="1" dirty="0" smtClean="0"/>
              <a:t>DEVICES : </a:t>
            </a:r>
            <a:r>
              <a:rPr lang="en-IN" sz="2000" dirty="0" smtClean="0"/>
              <a:t>transformers , relays , radio/TV, telephones, electric motors,  tr.lines ,  wave guides, antenna s, optic fibres radars and laser.</a:t>
            </a:r>
            <a:endParaRPr lang="en-IN" sz="2000" b="1" dirty="0" smtClean="0"/>
          </a:p>
          <a:p>
            <a:pPr>
              <a:buNone/>
            </a:pPr>
            <a:endParaRPr lang="en-IN"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Autofit/>
          </a:bodyPr>
          <a:lstStyle/>
          <a:p>
            <a:r>
              <a:rPr lang="en-IN" sz="2400" dirty="0" smtClean="0"/>
              <a:t>Comparison of field theory with circuit theory</a:t>
            </a:r>
            <a:endParaRPr lang="en-IN" sz="2400" dirty="0"/>
          </a:p>
        </p:txBody>
      </p:sp>
      <p:graphicFrame>
        <p:nvGraphicFramePr>
          <p:cNvPr id="4" name="Content Placeholder 3"/>
          <p:cNvGraphicFramePr>
            <a:graphicFrameLocks noGrp="1"/>
          </p:cNvGraphicFramePr>
          <p:nvPr>
            <p:ph idx="1"/>
          </p:nvPr>
        </p:nvGraphicFramePr>
        <p:xfrm>
          <a:off x="457200" y="381000"/>
          <a:ext cx="8229600" cy="6537960"/>
        </p:xfrm>
        <a:graphic>
          <a:graphicData uri="http://schemas.openxmlformats.org/drawingml/2006/table">
            <a:tbl>
              <a:tblPr firstRow="1" bandRow="1">
                <a:tableStyleId>{5C22544A-7EE6-4342-B048-85BDC9FD1C3A}</a:tableStyleId>
              </a:tblPr>
              <a:tblGrid>
                <a:gridCol w="914400"/>
                <a:gridCol w="3581400"/>
                <a:gridCol w="3733800"/>
              </a:tblGrid>
              <a:tr h="473765">
                <a:tc>
                  <a:txBody>
                    <a:bodyPr/>
                    <a:lstStyle/>
                    <a:p>
                      <a:endParaRPr lang="en-IN" dirty="0"/>
                    </a:p>
                  </a:txBody>
                  <a:tcPr/>
                </a:tc>
                <a:tc>
                  <a:txBody>
                    <a:bodyPr/>
                    <a:lstStyle/>
                    <a:p>
                      <a:r>
                        <a:rPr lang="en-IN" sz="2400" b="0" dirty="0" smtClean="0"/>
                        <a:t>CIRCUIT</a:t>
                      </a:r>
                      <a:r>
                        <a:rPr lang="en-IN" sz="2400" b="0" baseline="0" dirty="0" smtClean="0"/>
                        <a:t> THEORY</a:t>
                      </a:r>
                      <a:endParaRPr lang="en-IN" sz="2400" b="0" dirty="0"/>
                    </a:p>
                  </a:txBody>
                  <a:tcPr/>
                </a:tc>
                <a:tc>
                  <a:txBody>
                    <a:bodyPr/>
                    <a:lstStyle/>
                    <a:p>
                      <a:r>
                        <a:rPr lang="en-IN" dirty="0" smtClean="0"/>
                        <a:t>FIELD THEORY</a:t>
                      </a:r>
                      <a:endParaRPr lang="en-IN" dirty="0"/>
                    </a:p>
                  </a:txBody>
                  <a:tcPr/>
                </a:tc>
              </a:tr>
              <a:tr h="6064195">
                <a:tc>
                  <a:txBody>
                    <a:bodyPr/>
                    <a:lstStyle/>
                    <a:p>
                      <a:r>
                        <a:rPr lang="en-IN" dirty="0" smtClean="0"/>
                        <a:t>1</a:t>
                      </a:r>
                    </a:p>
                    <a:p>
                      <a:endParaRPr lang="en-IN" dirty="0" smtClean="0"/>
                    </a:p>
                    <a:p>
                      <a:endParaRPr lang="en-IN" dirty="0" smtClean="0"/>
                    </a:p>
                    <a:p>
                      <a:r>
                        <a:rPr lang="en-IN" dirty="0" smtClean="0"/>
                        <a:t>2</a:t>
                      </a:r>
                    </a:p>
                    <a:p>
                      <a:endParaRPr lang="en-IN" dirty="0" smtClean="0"/>
                    </a:p>
                    <a:p>
                      <a:r>
                        <a:rPr lang="en-IN" dirty="0" smtClean="0"/>
                        <a:t>3</a:t>
                      </a:r>
                    </a:p>
                    <a:p>
                      <a:endParaRPr lang="en-IN" dirty="0" smtClean="0"/>
                    </a:p>
                    <a:p>
                      <a:endParaRPr lang="en-IN" dirty="0" smtClean="0"/>
                    </a:p>
                    <a:p>
                      <a:r>
                        <a:rPr lang="en-IN" dirty="0" smtClean="0"/>
                        <a:t>4</a:t>
                      </a:r>
                    </a:p>
                    <a:p>
                      <a:endParaRPr lang="en-IN" dirty="0" smtClean="0"/>
                    </a:p>
                    <a:p>
                      <a:endParaRPr lang="en-IN" dirty="0" smtClean="0"/>
                    </a:p>
                    <a:p>
                      <a:r>
                        <a:rPr lang="en-IN" dirty="0" smtClean="0"/>
                        <a:t>5</a:t>
                      </a:r>
                    </a:p>
                    <a:p>
                      <a:endParaRPr lang="en-IN" dirty="0" smtClean="0"/>
                    </a:p>
                    <a:p>
                      <a:r>
                        <a:rPr lang="en-IN" dirty="0" smtClean="0"/>
                        <a:t>6</a:t>
                      </a:r>
                    </a:p>
                    <a:p>
                      <a:endParaRPr lang="en-IN" dirty="0" smtClean="0"/>
                    </a:p>
                    <a:p>
                      <a:endParaRPr lang="en-IN" dirty="0" smtClean="0"/>
                    </a:p>
                    <a:p>
                      <a:r>
                        <a:rPr lang="en-IN" dirty="0" smtClean="0"/>
                        <a:t>7</a:t>
                      </a:r>
                    </a:p>
                    <a:p>
                      <a:endParaRPr lang="en-IN" dirty="0" smtClean="0"/>
                    </a:p>
                    <a:p>
                      <a:endParaRPr lang="en-IN" dirty="0" smtClean="0"/>
                    </a:p>
                    <a:p>
                      <a:r>
                        <a:rPr lang="en-IN" dirty="0" smtClean="0"/>
                        <a:t>8</a:t>
                      </a:r>
                    </a:p>
                    <a:p>
                      <a:endParaRPr lang="en-IN" dirty="0"/>
                    </a:p>
                  </a:txBody>
                  <a:tcPr/>
                </a:tc>
                <a:tc>
                  <a:txBody>
                    <a:bodyPr/>
                    <a:lstStyle/>
                    <a:p>
                      <a:r>
                        <a:rPr lang="en-IN" dirty="0" smtClean="0"/>
                        <a:t>This analysis originated by its own</a:t>
                      </a:r>
                    </a:p>
                    <a:p>
                      <a:endParaRPr lang="en-IN" dirty="0" smtClean="0"/>
                    </a:p>
                    <a:p>
                      <a:endParaRPr lang="en-IN" dirty="0" smtClean="0"/>
                    </a:p>
                    <a:p>
                      <a:r>
                        <a:rPr lang="en-IN" dirty="0" smtClean="0"/>
                        <a:t>Applicable for portion of RF range</a:t>
                      </a:r>
                    </a:p>
                    <a:p>
                      <a:endParaRPr lang="en-IN" dirty="0" smtClean="0"/>
                    </a:p>
                    <a:p>
                      <a:r>
                        <a:rPr lang="en-IN" dirty="0" smtClean="0"/>
                        <a:t>The parameters I </a:t>
                      </a:r>
                      <a:r>
                        <a:rPr lang="en-IN" baseline="0" dirty="0" smtClean="0"/>
                        <a:t> &amp; V directly obtained from the circuit</a:t>
                      </a:r>
                    </a:p>
                    <a:p>
                      <a:endParaRPr lang="en-IN" baseline="0" dirty="0" smtClean="0"/>
                    </a:p>
                    <a:p>
                      <a:r>
                        <a:rPr lang="en-IN" baseline="0" dirty="0" smtClean="0"/>
                        <a:t>Parameters  of medium are not involved</a:t>
                      </a:r>
                    </a:p>
                    <a:p>
                      <a:endParaRPr lang="en-IN" baseline="0" dirty="0" smtClean="0"/>
                    </a:p>
                    <a:p>
                      <a:r>
                        <a:rPr lang="en-IN" baseline="0" dirty="0" smtClean="0"/>
                        <a:t>Laplace transform is used</a:t>
                      </a:r>
                    </a:p>
                    <a:p>
                      <a:endParaRPr lang="en-IN" baseline="0" dirty="0" smtClean="0"/>
                    </a:p>
                    <a:p>
                      <a:r>
                        <a:rPr lang="en-IN" baseline="0" dirty="0" smtClean="0"/>
                        <a:t>Z,Y,H parameters used. It involves low power</a:t>
                      </a:r>
                    </a:p>
                    <a:p>
                      <a:endParaRPr lang="en-IN" baseline="0" dirty="0" smtClean="0"/>
                    </a:p>
                    <a:p>
                      <a:r>
                        <a:rPr lang="en-IN" baseline="0" dirty="0" smtClean="0"/>
                        <a:t>2D</a:t>
                      </a:r>
                    </a:p>
                    <a:p>
                      <a:r>
                        <a:rPr lang="en-IN" baseline="0" dirty="0" smtClean="0"/>
                        <a:t>Frequency is used as reference</a:t>
                      </a:r>
                    </a:p>
                    <a:p>
                      <a:endParaRPr lang="en-IN" baseline="0" dirty="0" smtClean="0"/>
                    </a:p>
                    <a:p>
                      <a:r>
                        <a:rPr lang="en-IN" baseline="0" dirty="0" smtClean="0"/>
                        <a:t>Lumped components </a:t>
                      </a:r>
                      <a:endParaRPr lang="en-IN" dirty="0"/>
                    </a:p>
                  </a:txBody>
                  <a:tcPr/>
                </a:tc>
                <a:tc>
                  <a:txBody>
                    <a:bodyPr/>
                    <a:lstStyle/>
                    <a:p>
                      <a:r>
                        <a:rPr lang="en-IN" dirty="0" smtClean="0"/>
                        <a:t>Evolved from tr. Theory</a:t>
                      </a:r>
                    </a:p>
                    <a:p>
                      <a:endParaRPr lang="en-IN" dirty="0" smtClean="0"/>
                    </a:p>
                    <a:p>
                      <a:endParaRPr lang="en-IN" dirty="0" smtClean="0"/>
                    </a:p>
                    <a:p>
                      <a:r>
                        <a:rPr lang="en-IN" dirty="0" smtClean="0"/>
                        <a:t>Beyond RF range(microwave)</a:t>
                      </a:r>
                    </a:p>
                    <a:p>
                      <a:endParaRPr lang="en-IN" dirty="0" smtClean="0"/>
                    </a:p>
                    <a:p>
                      <a:r>
                        <a:rPr lang="en-IN" dirty="0" smtClean="0"/>
                        <a:t>Obtained</a:t>
                      </a:r>
                      <a:r>
                        <a:rPr lang="en-IN" baseline="0" dirty="0" smtClean="0"/>
                        <a:t> through E &amp; H</a:t>
                      </a:r>
                    </a:p>
                    <a:p>
                      <a:endParaRPr lang="en-IN" baseline="0" dirty="0" smtClean="0"/>
                    </a:p>
                    <a:p>
                      <a:endParaRPr lang="en-IN" baseline="0" dirty="0" smtClean="0"/>
                    </a:p>
                    <a:p>
                      <a:r>
                        <a:rPr lang="en-IN" baseline="0" dirty="0" smtClean="0"/>
                        <a:t>Parameters of medium like permitivity and permeability are involved</a:t>
                      </a:r>
                    </a:p>
                    <a:p>
                      <a:r>
                        <a:rPr lang="en-IN" baseline="0" dirty="0" smtClean="0"/>
                        <a:t>Maxwell equation is used</a:t>
                      </a:r>
                    </a:p>
                    <a:p>
                      <a:endParaRPr lang="en-IN" baseline="0" dirty="0" smtClean="0"/>
                    </a:p>
                    <a:p>
                      <a:r>
                        <a:rPr lang="en-IN" baseline="0" dirty="0" smtClean="0"/>
                        <a:t>S parameter is used. It involves high power</a:t>
                      </a:r>
                    </a:p>
                    <a:p>
                      <a:endParaRPr lang="en-IN" baseline="0" dirty="0" smtClean="0"/>
                    </a:p>
                    <a:p>
                      <a:r>
                        <a:rPr lang="en-IN" baseline="0" dirty="0" smtClean="0"/>
                        <a:t>3D</a:t>
                      </a:r>
                    </a:p>
                    <a:p>
                      <a:r>
                        <a:rPr lang="en-IN" baseline="0" dirty="0" smtClean="0"/>
                        <a:t>Wavelength is used</a:t>
                      </a:r>
                    </a:p>
                    <a:p>
                      <a:endParaRPr lang="en-IN" baseline="0" dirty="0" smtClean="0"/>
                    </a:p>
                    <a:p>
                      <a:r>
                        <a:rPr lang="en-IN" baseline="0" dirty="0" smtClean="0"/>
                        <a:t>Distributed parameter</a:t>
                      </a:r>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Slide Number Placeholder 3"/>
          <p:cNvSpPr>
            <a:spLocks noGrp="1"/>
          </p:cNvSpPr>
          <p:nvPr>
            <p:ph type="sldNum" sz="quarter" idx="10"/>
          </p:nvPr>
        </p:nvSpPr>
        <p:spPr>
          <a:noFill/>
        </p:spPr>
        <p:txBody>
          <a:bodyPr/>
          <a:lstStyle/>
          <a:p>
            <a:fld id="{3880349A-302D-4343-9BFA-85B9801469A8}" type="slidenum">
              <a:rPr lang="en-US" smtClean="0"/>
              <a:pPr/>
              <a:t>5</a:t>
            </a:fld>
            <a:endParaRPr lang="en-US" smtClean="0"/>
          </a:p>
        </p:txBody>
      </p:sp>
      <p:sp>
        <p:nvSpPr>
          <p:cNvPr id="1030" name="Rectangle 4"/>
          <p:cNvSpPr>
            <a:spLocks noGrp="1" noChangeArrowheads="1"/>
          </p:cNvSpPr>
          <p:nvPr>
            <p:ph type="body" idx="1"/>
          </p:nvPr>
        </p:nvSpPr>
        <p:spPr bwMode="auto">
          <a:xfrm>
            <a:off x="593725" y="473075"/>
            <a:ext cx="8048625" cy="5468938"/>
          </a:xfrm>
          <a:noFill/>
          <a:ln>
            <a:miter lim="800000"/>
            <a:headEnd/>
            <a:tailEnd/>
          </a:ln>
        </p:spPr>
        <p:txBody>
          <a:bodyPr wrap="square" lIns="91440" tIns="45720" rIns="91440" bIns="45720" numCol="1" anchor="t" anchorCtr="0" compatLnSpc="1">
            <a:prstTxWarp prst="textNoShape">
              <a:avLst/>
            </a:prstTxWarp>
          </a:bodyPr>
          <a:lstStyle/>
          <a:p>
            <a:pPr algn="ctr" eaLnBrk="1" hangingPunct="1">
              <a:lnSpc>
                <a:spcPct val="90000"/>
              </a:lnSpc>
              <a:buFontTx/>
              <a:buNone/>
            </a:pPr>
            <a:r>
              <a:rPr lang="en-US" sz="2000" u="sng" dirty="0" smtClean="0">
                <a:latin typeface="Verdana" charset="0"/>
              </a:rPr>
              <a:t>Review of Vector Analysis</a:t>
            </a:r>
          </a:p>
          <a:p>
            <a:pPr eaLnBrk="1" hangingPunct="1">
              <a:lnSpc>
                <a:spcPct val="90000"/>
              </a:lnSpc>
              <a:buFontTx/>
              <a:buNone/>
            </a:pPr>
            <a:endParaRPr lang="en-US" sz="2000" dirty="0" smtClean="0">
              <a:latin typeface="Verdana" charset="0"/>
            </a:endParaRPr>
          </a:p>
          <a:p>
            <a:pPr eaLnBrk="1" hangingPunct="1">
              <a:lnSpc>
                <a:spcPct val="90000"/>
              </a:lnSpc>
              <a:buFontTx/>
              <a:buNone/>
            </a:pPr>
            <a:r>
              <a:rPr lang="en-US" sz="2000" dirty="0" smtClean="0">
                <a:latin typeface="Verdana" charset="0"/>
              </a:rPr>
              <a:t>Vector analysis is a mathematical tool with which </a:t>
            </a:r>
          </a:p>
          <a:p>
            <a:pPr eaLnBrk="1" hangingPunct="1">
              <a:lnSpc>
                <a:spcPct val="90000"/>
              </a:lnSpc>
              <a:buFontTx/>
              <a:buNone/>
            </a:pPr>
            <a:r>
              <a:rPr lang="en-US" sz="2000" dirty="0" smtClean="0">
                <a:latin typeface="Verdana" charset="0"/>
              </a:rPr>
              <a:t>electromagnetic (EM) concepts are most conveniently </a:t>
            </a:r>
          </a:p>
          <a:p>
            <a:pPr eaLnBrk="1" hangingPunct="1">
              <a:lnSpc>
                <a:spcPct val="90000"/>
              </a:lnSpc>
              <a:buFontTx/>
              <a:buNone/>
            </a:pPr>
            <a:r>
              <a:rPr lang="en-US" sz="2000" dirty="0" smtClean="0">
                <a:latin typeface="Verdana" charset="0"/>
              </a:rPr>
              <a:t>expressed and best comprehended. </a:t>
            </a:r>
          </a:p>
          <a:p>
            <a:pPr eaLnBrk="1" hangingPunct="1">
              <a:lnSpc>
                <a:spcPct val="90000"/>
              </a:lnSpc>
              <a:buFontTx/>
              <a:buNone/>
            </a:pPr>
            <a:endParaRPr lang="en-US" sz="2000" dirty="0" smtClean="0">
              <a:latin typeface="Verdana" charset="0"/>
            </a:endParaRPr>
          </a:p>
          <a:p>
            <a:pPr eaLnBrk="1" hangingPunct="1">
              <a:lnSpc>
                <a:spcPct val="90000"/>
              </a:lnSpc>
              <a:buFontTx/>
              <a:buNone/>
            </a:pPr>
            <a:r>
              <a:rPr lang="en-US" sz="2000" dirty="0" smtClean="0">
                <a:latin typeface="Verdana" charset="0"/>
              </a:rPr>
              <a:t>A quantity is called a </a:t>
            </a:r>
            <a:r>
              <a:rPr lang="en-US" sz="2000" u="sng" dirty="0" smtClean="0">
                <a:latin typeface="Verdana" charset="0"/>
              </a:rPr>
              <a:t>scalar</a:t>
            </a:r>
            <a:r>
              <a:rPr lang="en-US" sz="2000" dirty="0" smtClean="0">
                <a:latin typeface="Verdana" charset="0"/>
              </a:rPr>
              <a:t> if it has only magnitude (e.g.,</a:t>
            </a:r>
          </a:p>
          <a:p>
            <a:pPr eaLnBrk="1" hangingPunct="1">
              <a:lnSpc>
                <a:spcPct val="90000"/>
              </a:lnSpc>
              <a:buFontTx/>
              <a:buNone/>
            </a:pPr>
            <a:r>
              <a:rPr lang="en-US" sz="2000" dirty="0" smtClean="0">
                <a:latin typeface="Verdana" charset="0"/>
              </a:rPr>
              <a:t>mass, temperature, electric potential, population).</a:t>
            </a:r>
          </a:p>
          <a:p>
            <a:pPr eaLnBrk="1" hangingPunct="1">
              <a:lnSpc>
                <a:spcPct val="90000"/>
              </a:lnSpc>
              <a:buFontTx/>
              <a:buNone/>
            </a:pPr>
            <a:endParaRPr lang="en-US" sz="2000" dirty="0" smtClean="0">
              <a:latin typeface="Verdana" charset="0"/>
            </a:endParaRPr>
          </a:p>
          <a:p>
            <a:pPr eaLnBrk="1" hangingPunct="1">
              <a:lnSpc>
                <a:spcPct val="90000"/>
              </a:lnSpc>
              <a:buFontTx/>
              <a:buNone/>
            </a:pPr>
            <a:r>
              <a:rPr lang="en-US" sz="2000" dirty="0" smtClean="0">
                <a:latin typeface="Verdana" charset="0"/>
              </a:rPr>
              <a:t>A quantity is called a </a:t>
            </a:r>
            <a:r>
              <a:rPr lang="en-US" sz="2000" u="sng" dirty="0" smtClean="0">
                <a:latin typeface="Verdana" charset="0"/>
              </a:rPr>
              <a:t>vector</a:t>
            </a:r>
            <a:r>
              <a:rPr lang="en-US" sz="2000" dirty="0" smtClean="0">
                <a:latin typeface="Verdana" charset="0"/>
              </a:rPr>
              <a:t> if it has both magnitude and</a:t>
            </a:r>
          </a:p>
          <a:p>
            <a:pPr eaLnBrk="1" hangingPunct="1">
              <a:lnSpc>
                <a:spcPct val="90000"/>
              </a:lnSpc>
              <a:buFontTx/>
              <a:buNone/>
            </a:pPr>
            <a:r>
              <a:rPr lang="en-US" sz="2000" dirty="0" smtClean="0">
                <a:latin typeface="Verdana" charset="0"/>
              </a:rPr>
              <a:t>direction (e.g., velocity, force, electric field intensity).</a:t>
            </a:r>
          </a:p>
          <a:p>
            <a:pPr eaLnBrk="1" hangingPunct="1">
              <a:lnSpc>
                <a:spcPct val="90000"/>
              </a:lnSpc>
              <a:buFontTx/>
              <a:buNone/>
            </a:pPr>
            <a:endParaRPr lang="en-US" sz="2000" dirty="0" smtClean="0">
              <a:latin typeface="Verdana" charset="0"/>
            </a:endParaRPr>
          </a:p>
          <a:p>
            <a:pPr eaLnBrk="1" hangingPunct="1">
              <a:lnSpc>
                <a:spcPct val="90000"/>
              </a:lnSpc>
              <a:buFontTx/>
              <a:buNone/>
            </a:pPr>
            <a:r>
              <a:rPr lang="en-US" sz="2000" dirty="0" smtClean="0">
                <a:latin typeface="Verdana" charset="0"/>
              </a:rPr>
              <a:t>The </a:t>
            </a:r>
            <a:r>
              <a:rPr lang="en-US" sz="2000" u="sng" dirty="0" smtClean="0">
                <a:latin typeface="Verdana" charset="0"/>
              </a:rPr>
              <a:t>magnitude</a:t>
            </a:r>
            <a:r>
              <a:rPr lang="en-US" sz="2000" dirty="0" smtClean="0">
                <a:latin typeface="Verdana" charset="0"/>
              </a:rPr>
              <a:t> of a vector   </a:t>
            </a:r>
            <a:r>
              <a:rPr lang="en-US" sz="2000" b="1" dirty="0" smtClean="0">
                <a:latin typeface="Verdana" charset="0"/>
              </a:rPr>
              <a:t>    </a:t>
            </a:r>
            <a:r>
              <a:rPr lang="en-US" sz="2000" dirty="0" smtClean="0">
                <a:latin typeface="Verdana" charset="0"/>
              </a:rPr>
              <a:t>is a scalar written as A or</a:t>
            </a:r>
            <a:r>
              <a:rPr lang="en-US" sz="2000" u="sng" dirty="0" smtClean="0">
                <a:latin typeface="Verdana" charset="0"/>
              </a:rPr>
              <a:t>  </a:t>
            </a:r>
          </a:p>
          <a:p>
            <a:pPr eaLnBrk="1" hangingPunct="1">
              <a:lnSpc>
                <a:spcPct val="90000"/>
              </a:lnSpc>
              <a:buFontTx/>
              <a:buNone/>
            </a:pPr>
            <a:endParaRPr lang="en-US" sz="2000" u="sng" dirty="0" smtClean="0">
              <a:latin typeface="Verdana" charset="0"/>
            </a:endParaRPr>
          </a:p>
          <a:p>
            <a:pPr eaLnBrk="1" hangingPunct="1">
              <a:lnSpc>
                <a:spcPct val="90000"/>
              </a:lnSpc>
              <a:buFontTx/>
              <a:buNone/>
            </a:pPr>
            <a:endParaRPr lang="en-US" sz="2800" dirty="0" smtClean="0">
              <a:latin typeface="Verdana"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Slide Number Placeholder 3"/>
          <p:cNvSpPr>
            <a:spLocks noGrp="1"/>
          </p:cNvSpPr>
          <p:nvPr>
            <p:ph type="sldNum" sz="quarter" idx="10"/>
          </p:nvPr>
        </p:nvSpPr>
        <p:spPr>
          <a:noFill/>
        </p:spPr>
        <p:txBody>
          <a:bodyPr/>
          <a:lstStyle/>
          <a:p>
            <a:fld id="{AC7BE68A-2386-49D5-8235-7DB08D2CB235}" type="slidenum">
              <a:rPr lang="en-US" smtClean="0"/>
              <a:pPr/>
              <a:t>6</a:t>
            </a:fld>
            <a:endParaRPr lang="en-US" smtClean="0"/>
          </a:p>
        </p:txBody>
      </p:sp>
      <p:sp>
        <p:nvSpPr>
          <p:cNvPr id="2060" name="Rectangle 21"/>
          <p:cNvSpPr>
            <a:spLocks noGrp="1" noChangeArrowheads="1"/>
          </p:cNvSpPr>
          <p:nvPr>
            <p:ph type="body" idx="1"/>
          </p:nvPr>
        </p:nvSpPr>
        <p:spPr bwMode="auto">
          <a:xfrm>
            <a:off x="676275" y="427037"/>
            <a:ext cx="8010525" cy="5745163"/>
          </a:xfrm>
          <a:solidFill>
            <a:srgbClr val="FFFFFF"/>
          </a:solid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endParaRPr lang="en-US" sz="2000" smtClean="0">
              <a:latin typeface="Verdana" charset="0"/>
            </a:endParaRPr>
          </a:p>
          <a:p>
            <a:pPr eaLnBrk="1" hangingPunct="1">
              <a:buFontTx/>
              <a:buNone/>
            </a:pPr>
            <a:r>
              <a:rPr lang="en-US" sz="2000" smtClean="0">
                <a:latin typeface="Verdana" charset="0"/>
              </a:rPr>
              <a:t>A unit vector      along     is defined as a vector whose </a:t>
            </a:r>
          </a:p>
          <a:p>
            <a:pPr eaLnBrk="1" hangingPunct="1">
              <a:buFontTx/>
              <a:buNone/>
            </a:pPr>
            <a:r>
              <a:rPr lang="en-US" sz="2000" smtClean="0">
                <a:latin typeface="Verdana" charset="0"/>
              </a:rPr>
              <a:t>magnitude is unity (that is,1) and its direction is along </a:t>
            </a:r>
            <a:r>
              <a:rPr lang="en-US" sz="2000" b="1" smtClean="0">
                <a:latin typeface="Verdana" charset="0"/>
              </a:rPr>
              <a:t> </a:t>
            </a:r>
          </a:p>
          <a:p>
            <a:pPr eaLnBrk="1" hangingPunct="1">
              <a:buFontTx/>
              <a:buNone/>
            </a:pPr>
            <a:endParaRPr lang="en-US" sz="2000" b="1" smtClean="0">
              <a:latin typeface="Verdana" charset="0"/>
            </a:endParaRPr>
          </a:p>
          <a:p>
            <a:pPr eaLnBrk="1" hangingPunct="1">
              <a:buFontTx/>
              <a:buNone/>
            </a:pPr>
            <a:endParaRPr lang="en-US" sz="2000" b="1" smtClean="0">
              <a:latin typeface="Verdana" charset="0"/>
            </a:endParaRPr>
          </a:p>
          <a:p>
            <a:pPr eaLnBrk="1" hangingPunct="1">
              <a:buFontTx/>
              <a:buNone/>
            </a:pPr>
            <a:endParaRPr lang="en-US" sz="2000" b="1" smtClean="0">
              <a:latin typeface="Verdana" charset="0"/>
            </a:endParaRPr>
          </a:p>
          <a:p>
            <a:pPr eaLnBrk="1" hangingPunct="1">
              <a:buFontTx/>
              <a:buNone/>
            </a:pPr>
            <a:r>
              <a:rPr lang="en-US" sz="2000" smtClean="0">
                <a:latin typeface="Verdana" charset="0"/>
              </a:rPr>
              <a:t>                                                                                                                          </a:t>
            </a:r>
          </a:p>
        </p:txBody>
      </p:sp>
      <p:sp>
        <p:nvSpPr>
          <p:cNvPr id="2061" name="Rectangle 26"/>
          <p:cNvSpPr>
            <a:spLocks noChangeArrowheads="1"/>
          </p:cNvSpPr>
          <p:nvPr/>
        </p:nvSpPr>
        <p:spPr bwMode="auto">
          <a:xfrm>
            <a:off x="3200400" y="3170238"/>
            <a:ext cx="1527175" cy="519112"/>
          </a:xfrm>
          <a:prstGeom prst="rect">
            <a:avLst/>
          </a:prstGeom>
          <a:noFill/>
          <a:ln w="9525">
            <a:noFill/>
            <a:miter lim="800000"/>
            <a:headEnd/>
            <a:tailEnd/>
          </a:ln>
        </p:spPr>
        <p:txBody>
          <a:bodyPr>
            <a:spAutoFit/>
          </a:bodyPr>
          <a:lstStyle/>
          <a:p>
            <a:pPr>
              <a:spcBef>
                <a:spcPct val="20000"/>
              </a:spcBef>
            </a:pPr>
            <a:r>
              <a:rPr lang="en-US" sz="2800" i="0"/>
              <a:t> </a:t>
            </a:r>
          </a:p>
        </p:txBody>
      </p:sp>
      <p:pic>
        <p:nvPicPr>
          <p:cNvPr id="2062" name="Picture 41"/>
          <p:cNvPicPr>
            <a:picLocks noChangeAspect="1" noChangeArrowheads="1"/>
          </p:cNvPicPr>
          <p:nvPr/>
        </p:nvPicPr>
        <p:blipFill>
          <a:blip r:embed="rId5" cstate="print">
            <a:lum bright="20000" contrast="60000"/>
          </a:blip>
          <a:srcRect/>
          <a:stretch>
            <a:fillRect/>
          </a:stretch>
        </p:blipFill>
        <p:spPr bwMode="auto">
          <a:xfrm>
            <a:off x="3675063" y="781050"/>
            <a:ext cx="393700" cy="381000"/>
          </a:xfrm>
          <a:prstGeom prst="rect">
            <a:avLst/>
          </a:prstGeom>
          <a:noFill/>
          <a:ln w="9525">
            <a:noFill/>
            <a:miter lim="800000"/>
            <a:headEnd/>
            <a:tailEnd/>
          </a:ln>
        </p:spPr>
      </p:pic>
      <p:pic>
        <p:nvPicPr>
          <p:cNvPr id="2063" name="Picture 42"/>
          <p:cNvPicPr>
            <a:picLocks noChangeAspect="1" noChangeArrowheads="1"/>
          </p:cNvPicPr>
          <p:nvPr/>
        </p:nvPicPr>
        <p:blipFill>
          <a:blip r:embed="rId5" cstate="print">
            <a:lum bright="20000" contrast="60000"/>
          </a:blip>
          <a:srcRect/>
          <a:stretch>
            <a:fillRect/>
          </a:stretch>
        </p:blipFill>
        <p:spPr bwMode="auto">
          <a:xfrm>
            <a:off x="7715250" y="1152525"/>
            <a:ext cx="393700" cy="381000"/>
          </a:xfrm>
          <a:prstGeom prst="rect">
            <a:avLst/>
          </a:prstGeom>
          <a:noFill/>
          <a:ln w="9525">
            <a:noFill/>
            <a:miter lim="800000"/>
            <a:headEnd/>
            <a:tailEnd/>
          </a:ln>
        </p:spPr>
      </p:pic>
      <p:sp>
        <p:nvSpPr>
          <p:cNvPr id="2064" name="Text Box 47"/>
          <p:cNvSpPr txBox="1">
            <a:spLocks noChangeArrowheads="1"/>
          </p:cNvSpPr>
          <p:nvPr/>
        </p:nvSpPr>
        <p:spPr bwMode="auto">
          <a:xfrm>
            <a:off x="609600" y="2743200"/>
            <a:ext cx="1295400" cy="396875"/>
          </a:xfrm>
          <a:prstGeom prst="rect">
            <a:avLst/>
          </a:prstGeom>
          <a:noFill/>
          <a:ln w="9525">
            <a:noFill/>
            <a:miter lim="800000"/>
            <a:headEnd/>
            <a:tailEnd/>
          </a:ln>
        </p:spPr>
        <p:txBody>
          <a:bodyPr>
            <a:spAutoFit/>
          </a:bodyPr>
          <a:lstStyle/>
          <a:p>
            <a:pPr>
              <a:spcBef>
                <a:spcPct val="50000"/>
              </a:spcBef>
            </a:pPr>
            <a:r>
              <a:rPr lang="en-US" sz="2000" i="0"/>
              <a:t>Thus</a:t>
            </a:r>
          </a:p>
        </p:txBody>
      </p:sp>
      <p:sp>
        <p:nvSpPr>
          <p:cNvPr id="2065" name="Text Box 53"/>
          <p:cNvSpPr txBox="1">
            <a:spLocks noChangeArrowheads="1"/>
          </p:cNvSpPr>
          <p:nvPr/>
        </p:nvSpPr>
        <p:spPr bwMode="auto">
          <a:xfrm>
            <a:off x="914400" y="4495800"/>
            <a:ext cx="7610475" cy="1158875"/>
          </a:xfrm>
          <a:prstGeom prst="rect">
            <a:avLst/>
          </a:prstGeom>
          <a:noFill/>
          <a:ln w="9525">
            <a:noFill/>
            <a:miter lim="800000"/>
            <a:headEnd/>
            <a:tailEnd/>
          </a:ln>
        </p:spPr>
        <p:txBody>
          <a:bodyPr>
            <a:spAutoFit/>
          </a:bodyPr>
          <a:lstStyle/>
          <a:p>
            <a:pPr>
              <a:spcBef>
                <a:spcPct val="50000"/>
              </a:spcBef>
            </a:pPr>
            <a:r>
              <a:rPr lang="en-US" sz="2000" i="0"/>
              <a:t>which completely specifies      in terms of A and its direction </a:t>
            </a:r>
          </a:p>
          <a:p>
            <a:pPr>
              <a:spcBef>
                <a:spcPct val="50000"/>
              </a:spcBef>
            </a:pPr>
            <a:endParaRPr lang="en-US" sz="2000" i="0"/>
          </a:p>
        </p:txBody>
      </p:sp>
      <p:sp>
        <p:nvSpPr>
          <p:cNvPr id="10297" name="Text Box 57"/>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Slide Number Placeholder 3"/>
          <p:cNvSpPr>
            <a:spLocks noGrp="1"/>
          </p:cNvSpPr>
          <p:nvPr>
            <p:ph type="sldNum" sz="quarter" idx="10"/>
          </p:nvPr>
        </p:nvSpPr>
        <p:spPr>
          <a:noFill/>
        </p:spPr>
        <p:txBody>
          <a:bodyPr/>
          <a:lstStyle/>
          <a:p>
            <a:fld id="{5687EEC7-C266-4BB9-8B2A-694BB7C91702}" type="slidenum">
              <a:rPr lang="en-US" smtClean="0"/>
              <a:pPr/>
              <a:t>7</a:t>
            </a:fld>
            <a:endParaRPr lang="en-US" smtClean="0"/>
          </a:p>
        </p:txBody>
      </p:sp>
      <p:sp>
        <p:nvSpPr>
          <p:cNvPr id="5125" name="Rectangle 2"/>
          <p:cNvSpPr>
            <a:spLocks noGrp="1" noChangeArrowheads="1"/>
          </p:cNvSpPr>
          <p:nvPr>
            <p:ph type="title"/>
          </p:nvPr>
        </p:nvSpPr>
        <p:spPr bwMode="auto">
          <a:xfrm>
            <a:off x="581025" y="487363"/>
            <a:ext cx="8105775" cy="641350"/>
          </a:xfrm>
          <a:solidFill>
            <a:srgbClr val="FFFFFF"/>
          </a:solidFill>
          <a:ln>
            <a:miter lim="800000"/>
            <a:headEnd/>
            <a:tailEnd/>
          </a:ln>
        </p:spPr>
        <p:txBody>
          <a:bodyPr wrap="square" lIns="91440" tIns="45720" rIns="91440" bIns="45720" numCol="1" anchor="t" anchorCtr="0" compatLnSpc="1">
            <a:prstTxWarp prst="textNoShape">
              <a:avLst/>
            </a:prstTxWarp>
          </a:bodyPr>
          <a:lstStyle/>
          <a:p>
            <a:pPr eaLnBrk="1" hangingPunct="1"/>
            <a:r>
              <a:rPr lang="en-US" sz="2400" u="sng" smtClean="0">
                <a:latin typeface="Verdana" charset="0"/>
              </a:rPr>
              <a:t>The Radius Vector</a:t>
            </a:r>
          </a:p>
        </p:txBody>
      </p:sp>
      <p:sp>
        <p:nvSpPr>
          <p:cNvPr id="5126" name="Rectangle 3"/>
          <p:cNvSpPr>
            <a:spLocks noGrp="1" noChangeArrowheads="1"/>
          </p:cNvSpPr>
          <p:nvPr>
            <p:ph type="body" idx="1"/>
          </p:nvPr>
        </p:nvSpPr>
        <p:spPr bwMode="auto">
          <a:xfrm>
            <a:off x="561975" y="1295400"/>
            <a:ext cx="8124825" cy="4830763"/>
          </a:xfrm>
          <a:solidFill>
            <a:srgbClr val="FFFFFF"/>
          </a:solid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A point P in Cartesian coordinates may be represented by </a:t>
            </a:r>
          </a:p>
          <a:p>
            <a:pPr eaLnBrk="1" hangingPunct="1">
              <a:buFontTx/>
              <a:buNone/>
            </a:pPr>
            <a:r>
              <a:rPr lang="en-US" sz="2000" smtClean="0">
                <a:latin typeface="Verdana" charset="0"/>
              </a:rPr>
              <a:t>specifying (x, y, z). </a:t>
            </a:r>
            <a:r>
              <a:rPr lang="en-US" sz="2000" u="sng" smtClean="0">
                <a:latin typeface="Verdana" charset="0"/>
              </a:rPr>
              <a:t>The radius vector (or position vector</a:t>
            </a:r>
            <a:r>
              <a:rPr lang="en-US" sz="2000" smtClean="0">
                <a:latin typeface="Verdana" charset="0"/>
              </a:rPr>
              <a:t>) of </a:t>
            </a:r>
          </a:p>
          <a:p>
            <a:pPr eaLnBrk="1" hangingPunct="1">
              <a:buFontTx/>
              <a:buNone/>
            </a:pPr>
            <a:r>
              <a:rPr lang="en-US" sz="2000" smtClean="0">
                <a:latin typeface="Verdana" charset="0"/>
              </a:rPr>
              <a:t>point P is defined as the directed distance from the origin O</a:t>
            </a:r>
          </a:p>
          <a:p>
            <a:pPr eaLnBrk="1" hangingPunct="1">
              <a:buFontTx/>
              <a:buNone/>
            </a:pPr>
            <a:r>
              <a:rPr lang="en-US" sz="2000" smtClean="0">
                <a:latin typeface="Verdana" charset="0"/>
              </a:rPr>
              <a:t> to P; that is,</a:t>
            </a:r>
          </a:p>
          <a:p>
            <a:pPr eaLnBrk="1" hangingPunct="1">
              <a:buFontTx/>
              <a:buNone/>
            </a:pPr>
            <a:endParaRPr lang="en-US" sz="2000" smtClean="0">
              <a:latin typeface="Verdana" charset="0"/>
            </a:endParaRPr>
          </a:p>
          <a:p>
            <a:pPr eaLnBrk="1" hangingPunct="1">
              <a:buFontTx/>
              <a:buNone/>
            </a:pPr>
            <a:r>
              <a:rPr lang="en-US" sz="2000" smtClean="0">
                <a:latin typeface="Verdana" charset="0"/>
              </a:rPr>
              <a:t>				</a:t>
            </a:r>
          </a:p>
          <a:p>
            <a:pPr eaLnBrk="1" hangingPunct="1">
              <a:buFontTx/>
              <a:buNone/>
            </a:pPr>
            <a:r>
              <a:rPr lang="en-US" sz="2000" u="sng" smtClean="0">
                <a:latin typeface="Verdana" charset="0"/>
              </a:rPr>
              <a:t>The unit vector in the direction of </a:t>
            </a:r>
            <a:r>
              <a:rPr lang="en-US" sz="2000" b="1" u="sng" smtClean="0">
                <a:latin typeface="Verdana" charset="0"/>
              </a:rPr>
              <a:t>r</a:t>
            </a:r>
            <a:r>
              <a:rPr lang="en-US" sz="2000" b="1" smtClean="0">
                <a:latin typeface="Verdana" charset="0"/>
              </a:rPr>
              <a:t> </a:t>
            </a:r>
            <a:r>
              <a:rPr lang="en-US" sz="2000" smtClean="0">
                <a:latin typeface="Verdana" charset="0"/>
              </a:rPr>
              <a:t>is</a:t>
            </a:r>
            <a:endParaRPr lang="en-US" sz="2000" u="sng" smtClean="0">
              <a:latin typeface="Verdana" charset="0"/>
            </a:endParaRPr>
          </a:p>
        </p:txBody>
      </p:sp>
      <p:sp>
        <p:nvSpPr>
          <p:cNvPr id="25607" name="Text Box 7"/>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5" name="Slide Number Placeholder 5"/>
          <p:cNvSpPr>
            <a:spLocks noGrp="1"/>
          </p:cNvSpPr>
          <p:nvPr>
            <p:ph type="sldNum" sz="quarter" idx="10"/>
          </p:nvPr>
        </p:nvSpPr>
        <p:spPr>
          <a:noFill/>
        </p:spPr>
        <p:txBody>
          <a:bodyPr/>
          <a:lstStyle/>
          <a:p>
            <a:fld id="{E906CE86-351F-435F-854A-F24BB00D3662}" type="slidenum">
              <a:rPr lang="en-US" smtClean="0"/>
              <a:pPr/>
              <a:t>8</a:t>
            </a:fld>
            <a:endParaRPr lang="en-US" smtClean="0"/>
          </a:p>
        </p:txBody>
      </p:sp>
      <p:sp>
        <p:nvSpPr>
          <p:cNvPr id="6156" name="Rectangle 2"/>
          <p:cNvSpPr>
            <a:spLocks noGrp="1" noChangeArrowheads="1"/>
          </p:cNvSpPr>
          <p:nvPr>
            <p:ph type="title"/>
          </p:nvPr>
        </p:nvSpPr>
        <p:spPr bwMode="auto">
          <a:xfrm>
            <a:off x="749300" y="727075"/>
            <a:ext cx="7593013" cy="654050"/>
          </a:xfrm>
          <a:solidFill>
            <a:srgbClr val="FFFFFF"/>
          </a:solidFill>
          <a:ln>
            <a:miter lim="800000"/>
            <a:headEnd/>
            <a:tailEnd/>
          </a:ln>
        </p:spPr>
        <p:txBody>
          <a:bodyPr wrap="square" lIns="91440" tIns="45720" rIns="91440" bIns="45720" numCol="1" anchor="t" anchorCtr="0" compatLnSpc="1">
            <a:prstTxWarp prst="textNoShape">
              <a:avLst/>
            </a:prstTxWarp>
          </a:bodyPr>
          <a:lstStyle/>
          <a:p>
            <a:pPr eaLnBrk="1" hangingPunct="1"/>
            <a:r>
              <a:rPr lang="en-US" sz="2400" smtClean="0">
                <a:latin typeface="Verdana" charset="0"/>
              </a:rPr>
              <a:t>Vector Algebra</a:t>
            </a:r>
          </a:p>
        </p:txBody>
      </p:sp>
      <p:sp>
        <p:nvSpPr>
          <p:cNvPr id="6157" name="Rectangle 3"/>
          <p:cNvSpPr>
            <a:spLocks noGrp="1" noChangeArrowheads="1"/>
          </p:cNvSpPr>
          <p:nvPr>
            <p:ph type="body" sz="half" idx="1"/>
          </p:nvPr>
        </p:nvSpPr>
        <p:spPr bwMode="auto">
          <a:xfrm>
            <a:off x="733425" y="1600200"/>
            <a:ext cx="7724775" cy="452596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Two vectors      and      can be </a:t>
            </a:r>
            <a:r>
              <a:rPr lang="en-US" sz="2000" u="sng" smtClean="0">
                <a:latin typeface="Verdana" charset="0"/>
              </a:rPr>
              <a:t>added</a:t>
            </a:r>
            <a:r>
              <a:rPr lang="en-US" sz="2000" smtClean="0">
                <a:latin typeface="Verdana" charset="0"/>
              </a:rPr>
              <a:t> together to give</a:t>
            </a:r>
          </a:p>
          <a:p>
            <a:pPr eaLnBrk="1" hangingPunct="1">
              <a:buFontTx/>
              <a:buNone/>
            </a:pPr>
            <a:r>
              <a:rPr lang="en-US" sz="2000" smtClean="0">
                <a:latin typeface="Verdana" charset="0"/>
              </a:rPr>
              <a:t>another vector    ; that is ,</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Vectors are added by adding their individual components.</a:t>
            </a:r>
          </a:p>
          <a:p>
            <a:pPr eaLnBrk="1" hangingPunct="1">
              <a:buFontTx/>
              <a:buNone/>
            </a:pPr>
            <a:r>
              <a:rPr lang="en-US" sz="2000" smtClean="0">
                <a:latin typeface="Verdana" charset="0"/>
              </a:rPr>
              <a:t>Thus, if                                  and</a:t>
            </a:r>
            <a:r>
              <a:rPr lang="en-US" sz="2000" u="sng" smtClean="0">
                <a:latin typeface="Verdana" charset="0"/>
              </a:rPr>
              <a:t> </a:t>
            </a:r>
          </a:p>
        </p:txBody>
      </p:sp>
      <p:sp>
        <p:nvSpPr>
          <p:cNvPr id="26642" name="Text Box 18"/>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0"/>
          </p:nvPr>
        </p:nvSpPr>
        <p:spPr>
          <a:noFill/>
        </p:spPr>
        <p:txBody>
          <a:bodyPr/>
          <a:lstStyle/>
          <a:p>
            <a:fld id="{891F4755-7025-436E-9599-63C79C51601C}" type="slidenum">
              <a:rPr lang="en-US" smtClean="0"/>
              <a:pPr/>
              <a:t>9</a:t>
            </a:fld>
            <a:endParaRPr lang="en-US" smtClean="0"/>
          </a:p>
        </p:txBody>
      </p:sp>
      <p:sp>
        <p:nvSpPr>
          <p:cNvPr id="7172" name="Rectangle 3"/>
          <p:cNvSpPr>
            <a:spLocks noGrp="1" noChangeArrowheads="1"/>
          </p:cNvSpPr>
          <p:nvPr>
            <p:ph type="body" idx="1"/>
          </p:nvPr>
        </p:nvSpPr>
        <p:spPr bwMode="auto">
          <a:xfrm>
            <a:off x="666750" y="457200"/>
            <a:ext cx="8020050" cy="5668963"/>
          </a:xfrm>
          <a:solidFill>
            <a:srgbClr val="FFFFFF"/>
          </a:solid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					Parallelogram		Head to 				rule 			tail rule</a:t>
            </a:r>
          </a:p>
          <a:p>
            <a:pPr eaLnBrk="1" hangingPunct="1">
              <a:buFontTx/>
              <a:buNone/>
            </a:pPr>
            <a:r>
              <a:rPr lang="en-US" sz="2000" smtClean="0">
                <a:latin typeface="Verdana" charset="0"/>
              </a:rPr>
              <a:t>			</a:t>
            </a:r>
          </a:p>
          <a:p>
            <a:pPr eaLnBrk="1" hangingPunct="1">
              <a:buFontTx/>
              <a:buNone/>
            </a:pPr>
            <a:r>
              <a:rPr lang="en-US" sz="2000" smtClean="0">
                <a:latin typeface="Verdana" charset="0"/>
              </a:rPr>
              <a:t> 	Vector </a:t>
            </a:r>
            <a:r>
              <a:rPr lang="en-US" sz="2000" u="sng" smtClean="0">
                <a:latin typeface="Verdana" charset="0"/>
              </a:rPr>
              <a:t>subtraction</a:t>
            </a:r>
            <a:r>
              <a:rPr lang="en-US" sz="2000" smtClean="0">
                <a:latin typeface="Verdana" charset="0"/>
              </a:rPr>
              <a:t> is similarly carried out as</a:t>
            </a:r>
          </a:p>
        </p:txBody>
      </p:sp>
      <p:pic>
        <p:nvPicPr>
          <p:cNvPr id="7173" name="Picture 5" descr="2"/>
          <p:cNvPicPr>
            <a:picLocks noChangeAspect="1" noChangeArrowheads="1"/>
          </p:cNvPicPr>
          <p:nvPr/>
        </p:nvPicPr>
        <p:blipFill>
          <a:blip r:embed="rId6" cstate="print"/>
          <a:srcRect/>
          <a:stretch>
            <a:fillRect/>
          </a:stretch>
        </p:blipFill>
        <p:spPr bwMode="auto">
          <a:xfrm>
            <a:off x="890588" y="958850"/>
            <a:ext cx="2808287" cy="2043113"/>
          </a:xfrm>
          <a:prstGeom prst="rect">
            <a:avLst/>
          </a:prstGeom>
          <a:noFill/>
          <a:ln w="9525">
            <a:noFill/>
            <a:miter lim="800000"/>
            <a:headEnd/>
            <a:tailEnd/>
          </a:ln>
        </p:spPr>
      </p:pic>
      <p:pic>
        <p:nvPicPr>
          <p:cNvPr id="7174" name="Picture 7" descr="16"/>
          <p:cNvPicPr>
            <a:picLocks noChangeAspect="1" noChangeArrowheads="1"/>
          </p:cNvPicPr>
          <p:nvPr/>
        </p:nvPicPr>
        <p:blipFill>
          <a:blip r:embed="rId7" cstate="print"/>
          <a:srcRect/>
          <a:stretch>
            <a:fillRect/>
          </a:stretch>
        </p:blipFill>
        <p:spPr bwMode="auto">
          <a:xfrm>
            <a:off x="3748088" y="1366838"/>
            <a:ext cx="5013325" cy="1662112"/>
          </a:xfrm>
          <a:prstGeom prst="rect">
            <a:avLst/>
          </a:prstGeom>
          <a:noFill/>
          <a:ln w="9525">
            <a:noFill/>
            <a:miter lim="800000"/>
            <a:headEnd/>
            <a:tailEnd/>
          </a:ln>
        </p:spPr>
      </p:pic>
      <p:sp>
        <p:nvSpPr>
          <p:cNvPr id="27656" name="Text Box 8"/>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Slide Number Placeholder 3"/>
          <p:cNvSpPr>
            <a:spLocks noGrp="1"/>
          </p:cNvSpPr>
          <p:nvPr>
            <p:ph type="sldNum" sz="quarter" idx="10"/>
          </p:nvPr>
        </p:nvSpPr>
        <p:spPr>
          <a:noFill/>
        </p:spPr>
        <p:txBody>
          <a:bodyPr/>
          <a:lstStyle/>
          <a:p>
            <a:fld id="{9F8221E1-C3AD-4777-8D3B-7DE26B4025DB}" type="slidenum">
              <a:rPr lang="en-US" smtClean="0"/>
              <a:pPr/>
              <a:t>10</a:t>
            </a:fld>
            <a:endParaRPr lang="en-US" smtClean="0"/>
          </a:p>
        </p:txBody>
      </p:sp>
      <p:sp>
        <p:nvSpPr>
          <p:cNvPr id="8200" name="Rectangle 3"/>
          <p:cNvSpPr>
            <a:spLocks noGrp="1" noChangeArrowheads="1"/>
          </p:cNvSpPr>
          <p:nvPr>
            <p:ph type="body" idx="1"/>
          </p:nvPr>
        </p:nvSpPr>
        <p:spPr bwMode="auto">
          <a:xfrm>
            <a:off x="762000" y="471488"/>
            <a:ext cx="7986713" cy="5654675"/>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The three basic laws of algebra obeyed by any given vector</a:t>
            </a:r>
          </a:p>
          <a:p>
            <a:pPr eaLnBrk="1" hangingPunct="1">
              <a:buFontTx/>
              <a:buNone/>
            </a:pPr>
            <a:r>
              <a:rPr lang="en-US" sz="2000" smtClean="0">
                <a:latin typeface="Verdana" charset="0"/>
              </a:rPr>
              <a:t> </a:t>
            </a:r>
            <a:r>
              <a:rPr lang="en-US" sz="2000" b="1" smtClean="0">
                <a:latin typeface="Verdana" charset="0"/>
              </a:rPr>
              <a:t>A, B</a:t>
            </a:r>
            <a:r>
              <a:rPr lang="en-US" sz="2000" smtClean="0">
                <a:latin typeface="Verdana" charset="0"/>
              </a:rPr>
              <a:t>, and </a:t>
            </a:r>
            <a:r>
              <a:rPr lang="en-US" sz="2000" b="1" smtClean="0">
                <a:latin typeface="Verdana" charset="0"/>
              </a:rPr>
              <a:t>C,</a:t>
            </a:r>
            <a:r>
              <a:rPr lang="en-US" sz="2000" smtClean="0">
                <a:latin typeface="Verdana" charset="0"/>
              </a:rPr>
              <a:t> are summarized as follows:</a:t>
            </a:r>
          </a:p>
          <a:p>
            <a:pPr eaLnBrk="1" hangingPunct="1">
              <a:buFontTx/>
              <a:buNone/>
            </a:pPr>
            <a:endParaRPr lang="en-US" sz="2000" smtClean="0">
              <a:latin typeface="Verdana" charset="0"/>
            </a:endParaRPr>
          </a:p>
          <a:p>
            <a:pPr eaLnBrk="1" hangingPunct="1">
              <a:buFontTx/>
              <a:buNone/>
            </a:pPr>
            <a:r>
              <a:rPr lang="en-US" sz="2000" b="1" u="sng" smtClean="0">
                <a:latin typeface="Verdana" charset="0"/>
              </a:rPr>
              <a:t>Law			Addition		Multiplication</a:t>
            </a:r>
          </a:p>
          <a:p>
            <a:pPr eaLnBrk="1" hangingPunct="1">
              <a:buFontTx/>
              <a:buNone/>
            </a:pPr>
            <a:r>
              <a:rPr lang="en-US" sz="2000" smtClean="0">
                <a:latin typeface="Verdana" charset="0"/>
              </a:rPr>
              <a:t>  Commutative</a:t>
            </a:r>
          </a:p>
          <a:p>
            <a:pPr eaLnBrk="1" hangingPunct="1">
              <a:buFontTx/>
              <a:buNone/>
            </a:pPr>
            <a:endParaRPr lang="en-US" sz="2000" smtClean="0">
              <a:latin typeface="Verdana" charset="0"/>
            </a:endParaRPr>
          </a:p>
          <a:p>
            <a:pPr eaLnBrk="1" hangingPunct="1">
              <a:buFontTx/>
              <a:buNone/>
            </a:pPr>
            <a:r>
              <a:rPr lang="en-US" sz="2000" smtClean="0">
                <a:latin typeface="Verdana" charset="0"/>
              </a:rPr>
              <a:t>  Associative</a:t>
            </a:r>
          </a:p>
          <a:p>
            <a:pPr eaLnBrk="1" hangingPunct="1">
              <a:buFontTx/>
              <a:buNone/>
            </a:pPr>
            <a:endParaRPr lang="en-US" sz="2000" smtClean="0">
              <a:latin typeface="Verdana" charset="0"/>
            </a:endParaRPr>
          </a:p>
          <a:p>
            <a:pPr eaLnBrk="1" hangingPunct="1">
              <a:buFontTx/>
              <a:buNone/>
            </a:pPr>
            <a:r>
              <a:rPr lang="en-US" sz="2000" smtClean="0">
                <a:latin typeface="Verdana" charset="0"/>
              </a:rPr>
              <a:t>  Distributive</a:t>
            </a:r>
          </a:p>
          <a:p>
            <a:pPr eaLnBrk="1" hangingPunct="1">
              <a:buFontTx/>
              <a:buNone/>
            </a:pPr>
            <a:endParaRPr lang="en-US" sz="2000" smtClean="0">
              <a:latin typeface="Verdana" charset="0"/>
            </a:endParaRPr>
          </a:p>
          <a:p>
            <a:pPr eaLnBrk="1" hangingPunct="1">
              <a:buFontTx/>
              <a:buNone/>
            </a:pPr>
            <a:r>
              <a:rPr lang="en-US" sz="2000" smtClean="0">
                <a:latin typeface="Verdana" charset="0"/>
              </a:rPr>
              <a:t>where k and l are scalars</a:t>
            </a:r>
            <a:r>
              <a:rPr lang="en-US" sz="2000" b="1" smtClean="0">
                <a:latin typeface="Verdana" charset="0"/>
              </a:rPr>
              <a:t>			</a:t>
            </a:r>
          </a:p>
        </p:txBody>
      </p:sp>
      <p:sp>
        <p:nvSpPr>
          <p:cNvPr id="37900" name="Text Box 12"/>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IN" sz="2400" dirty="0" smtClean="0"/>
              <a:t>POSITION VECTOR AND DISTANCE  VECTOR</a:t>
            </a:r>
            <a:endParaRPr lang="en-IN" sz="2400" dirty="0"/>
          </a:p>
        </p:txBody>
      </p:sp>
      <p:pic>
        <p:nvPicPr>
          <p:cNvPr id="350210" name="Picture 2"/>
          <p:cNvPicPr>
            <a:picLocks noGrp="1" noChangeAspect="1" noChangeArrowheads="1"/>
          </p:cNvPicPr>
          <p:nvPr>
            <p:ph idx="1"/>
          </p:nvPr>
        </p:nvPicPr>
        <p:blipFill>
          <a:blip r:embed="rId2" cstate="print"/>
          <a:srcRect/>
          <a:stretch>
            <a:fillRect/>
          </a:stretch>
        </p:blipFill>
        <p:spPr bwMode="auto">
          <a:xfrm>
            <a:off x="1371600" y="762000"/>
            <a:ext cx="6248400" cy="5257799"/>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1" name="Slide Number Placeholder 3"/>
          <p:cNvSpPr>
            <a:spLocks noGrp="1"/>
          </p:cNvSpPr>
          <p:nvPr>
            <p:ph type="sldNum" sz="quarter" idx="10"/>
          </p:nvPr>
        </p:nvSpPr>
        <p:spPr>
          <a:noFill/>
        </p:spPr>
        <p:txBody>
          <a:bodyPr/>
          <a:lstStyle/>
          <a:p>
            <a:fld id="{7480FD29-005F-4B49-B97A-65CFE5C4E571}" type="slidenum">
              <a:rPr lang="en-US" smtClean="0"/>
              <a:pPr/>
              <a:t>12</a:t>
            </a:fld>
            <a:endParaRPr lang="en-US" smtClean="0"/>
          </a:p>
        </p:txBody>
      </p:sp>
      <p:sp>
        <p:nvSpPr>
          <p:cNvPr id="9232" name="Rectangle 3"/>
          <p:cNvSpPr>
            <a:spLocks noGrp="1" noChangeArrowheads="1"/>
          </p:cNvSpPr>
          <p:nvPr>
            <p:ph type="body" idx="1"/>
          </p:nvPr>
        </p:nvSpPr>
        <p:spPr bwMode="auto">
          <a:xfrm>
            <a:off x="654050" y="411163"/>
            <a:ext cx="8032750" cy="5715000"/>
          </a:xfrm>
          <a:noFill/>
          <a:ln>
            <a:miter lim="800000"/>
            <a:headEnd/>
            <a:tailEnd/>
          </a:ln>
        </p:spPr>
        <p:txBody>
          <a:bodyPr wrap="square" lIns="91440" tIns="45720" rIns="91440" bIns="45720" numCol="1" anchor="t" anchorCtr="0" compatLnSpc="1">
            <a:prstTxWarp prst="textNoShape">
              <a:avLst/>
            </a:prstTxWarp>
          </a:bodyPr>
          <a:lstStyle/>
          <a:p>
            <a:pPr eaLnBrk="1" hangingPunct="1">
              <a:lnSpc>
                <a:spcPct val="90000"/>
              </a:lnSpc>
              <a:buFontTx/>
              <a:buNone/>
            </a:pPr>
            <a:r>
              <a:rPr lang="en-US" sz="2000" smtClean="0">
                <a:latin typeface="Verdana" charset="0"/>
              </a:rPr>
              <a:t>When two vectors     and     are </a:t>
            </a:r>
            <a:r>
              <a:rPr lang="en-US" sz="2000" u="sng" smtClean="0">
                <a:latin typeface="Verdana" charset="0"/>
              </a:rPr>
              <a:t>multiplied</a:t>
            </a:r>
            <a:r>
              <a:rPr lang="en-US" sz="2000" smtClean="0">
                <a:latin typeface="Verdana" charset="0"/>
              </a:rPr>
              <a:t>, the result is</a:t>
            </a:r>
          </a:p>
          <a:p>
            <a:pPr eaLnBrk="1" hangingPunct="1">
              <a:lnSpc>
                <a:spcPct val="90000"/>
              </a:lnSpc>
              <a:buFontTx/>
              <a:buNone/>
            </a:pPr>
            <a:r>
              <a:rPr lang="en-US" sz="2000" smtClean="0">
                <a:latin typeface="Verdana" charset="0"/>
              </a:rPr>
              <a:t>either a scalar or a vector depending on how they are</a:t>
            </a:r>
          </a:p>
          <a:p>
            <a:pPr eaLnBrk="1" hangingPunct="1">
              <a:lnSpc>
                <a:spcPct val="90000"/>
              </a:lnSpc>
              <a:buFontTx/>
              <a:buNone/>
            </a:pPr>
            <a:r>
              <a:rPr lang="en-US" sz="2000" smtClean="0">
                <a:latin typeface="Verdana" charset="0"/>
              </a:rPr>
              <a:t>multiplied. There are two types of vector multiplication:</a:t>
            </a:r>
          </a:p>
          <a:p>
            <a:pPr eaLnBrk="1" hangingPunct="1">
              <a:lnSpc>
                <a:spcPct val="90000"/>
              </a:lnSpc>
              <a:buFontTx/>
              <a:buNone/>
            </a:pPr>
            <a:endParaRPr lang="en-US" sz="2000" smtClean="0">
              <a:latin typeface="Verdana" charset="0"/>
            </a:endParaRPr>
          </a:p>
          <a:p>
            <a:pPr eaLnBrk="1" hangingPunct="1">
              <a:lnSpc>
                <a:spcPct val="90000"/>
              </a:lnSpc>
              <a:buFontTx/>
              <a:buNone/>
            </a:pPr>
            <a:r>
              <a:rPr lang="en-US" sz="2000" smtClean="0">
                <a:latin typeface="Verdana" charset="0"/>
              </a:rPr>
              <a:t>1. Scalar (or dot) product:</a:t>
            </a:r>
          </a:p>
          <a:p>
            <a:pPr eaLnBrk="1" hangingPunct="1">
              <a:lnSpc>
                <a:spcPct val="90000"/>
              </a:lnSpc>
              <a:buFontTx/>
              <a:buNone/>
            </a:pPr>
            <a:endParaRPr lang="en-US" sz="2000" smtClean="0">
              <a:latin typeface="Verdana" charset="0"/>
            </a:endParaRPr>
          </a:p>
          <a:p>
            <a:pPr eaLnBrk="1" hangingPunct="1">
              <a:lnSpc>
                <a:spcPct val="90000"/>
              </a:lnSpc>
              <a:buFontTx/>
              <a:buNone/>
            </a:pPr>
            <a:r>
              <a:rPr lang="en-US" sz="2000" smtClean="0">
                <a:latin typeface="Verdana" charset="0"/>
              </a:rPr>
              <a:t>2.Vector (or cross) product:</a:t>
            </a:r>
          </a:p>
          <a:p>
            <a:pPr eaLnBrk="1" hangingPunct="1">
              <a:lnSpc>
                <a:spcPct val="90000"/>
              </a:lnSpc>
              <a:buFontTx/>
              <a:buNone/>
            </a:pPr>
            <a:endParaRPr lang="en-US" sz="2000" smtClean="0">
              <a:latin typeface="Verdana" charset="0"/>
            </a:endParaRPr>
          </a:p>
          <a:p>
            <a:pPr eaLnBrk="1" hangingPunct="1">
              <a:lnSpc>
                <a:spcPct val="90000"/>
              </a:lnSpc>
              <a:buFontTx/>
              <a:buNone/>
            </a:pPr>
            <a:r>
              <a:rPr lang="en-US" sz="2000" u="sng" smtClean="0">
                <a:latin typeface="Verdana" charset="0"/>
              </a:rPr>
              <a:t>The dot product</a:t>
            </a:r>
            <a:r>
              <a:rPr lang="en-US" sz="2000" smtClean="0">
                <a:latin typeface="Verdana" charset="0"/>
              </a:rPr>
              <a:t> of the two vectors     and     is defined</a:t>
            </a:r>
          </a:p>
          <a:p>
            <a:pPr eaLnBrk="1" hangingPunct="1">
              <a:lnSpc>
                <a:spcPct val="90000"/>
              </a:lnSpc>
              <a:buFontTx/>
              <a:buNone/>
            </a:pPr>
            <a:r>
              <a:rPr lang="en-US" sz="2000" smtClean="0">
                <a:latin typeface="Verdana" charset="0"/>
              </a:rPr>
              <a:t>geometrically as the product of the magnitude of     and the</a:t>
            </a:r>
          </a:p>
          <a:p>
            <a:pPr eaLnBrk="1" hangingPunct="1">
              <a:lnSpc>
                <a:spcPct val="90000"/>
              </a:lnSpc>
              <a:buFontTx/>
              <a:buNone/>
            </a:pPr>
            <a:r>
              <a:rPr lang="en-US" sz="2000" smtClean="0">
                <a:latin typeface="Verdana" charset="0"/>
              </a:rPr>
              <a:t>projection of     onto      (or vice versa):</a:t>
            </a:r>
          </a:p>
          <a:p>
            <a:pPr eaLnBrk="1" hangingPunct="1">
              <a:lnSpc>
                <a:spcPct val="90000"/>
              </a:lnSpc>
              <a:buFontTx/>
              <a:buNone/>
            </a:pPr>
            <a:endParaRPr lang="en-US" sz="2000" b="1" smtClean="0">
              <a:latin typeface="Verdana" charset="0"/>
            </a:endParaRPr>
          </a:p>
          <a:p>
            <a:pPr eaLnBrk="1" hangingPunct="1">
              <a:lnSpc>
                <a:spcPct val="90000"/>
              </a:lnSpc>
              <a:buFontTx/>
              <a:buNone/>
            </a:pPr>
            <a:endParaRPr lang="en-US" sz="2000" smtClean="0">
              <a:latin typeface="Verdana" charset="0"/>
            </a:endParaRPr>
          </a:p>
          <a:p>
            <a:pPr eaLnBrk="1" hangingPunct="1">
              <a:lnSpc>
                <a:spcPct val="90000"/>
              </a:lnSpc>
              <a:buFontTx/>
              <a:buNone/>
            </a:pPr>
            <a:endParaRPr lang="en-US" sz="2000" smtClean="0">
              <a:latin typeface="Verdana" charset="0"/>
            </a:endParaRPr>
          </a:p>
          <a:p>
            <a:pPr eaLnBrk="1" hangingPunct="1">
              <a:lnSpc>
                <a:spcPct val="90000"/>
              </a:lnSpc>
              <a:buFontTx/>
              <a:buNone/>
            </a:pPr>
            <a:r>
              <a:rPr lang="en-US" sz="2000" smtClean="0">
                <a:latin typeface="Verdana" charset="0"/>
              </a:rPr>
              <a:t>where       is the smaller angle between    and</a:t>
            </a:r>
          </a:p>
        </p:txBody>
      </p:sp>
      <p:sp>
        <p:nvSpPr>
          <p:cNvPr id="38935" name="Text Box 23"/>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2" name="Slide Number Placeholder 3"/>
          <p:cNvSpPr>
            <a:spLocks noGrp="1"/>
          </p:cNvSpPr>
          <p:nvPr>
            <p:ph type="sldNum" sz="quarter" idx="10"/>
          </p:nvPr>
        </p:nvSpPr>
        <p:spPr>
          <a:noFill/>
        </p:spPr>
        <p:txBody>
          <a:bodyPr/>
          <a:lstStyle/>
          <a:p>
            <a:fld id="{B5E3B68F-0856-400A-AD1A-1CED02A4A925}" type="slidenum">
              <a:rPr lang="en-US" smtClean="0"/>
              <a:pPr/>
              <a:t>13</a:t>
            </a:fld>
            <a:endParaRPr lang="en-US" smtClean="0"/>
          </a:p>
        </p:txBody>
      </p:sp>
      <p:sp>
        <p:nvSpPr>
          <p:cNvPr id="10253" name="Rectangle 3"/>
          <p:cNvSpPr>
            <a:spLocks noGrp="1" noChangeArrowheads="1"/>
          </p:cNvSpPr>
          <p:nvPr>
            <p:ph type="body" idx="1"/>
          </p:nvPr>
        </p:nvSpPr>
        <p:spPr bwMode="auto">
          <a:xfrm>
            <a:off x="730250" y="473075"/>
            <a:ext cx="7956550" cy="5653088"/>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If				  and			     then</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which is obtained by multiplying      and     component by</a:t>
            </a:r>
          </a:p>
          <a:p>
            <a:pPr eaLnBrk="1" hangingPunct="1">
              <a:buFontTx/>
              <a:buNone/>
            </a:pPr>
            <a:r>
              <a:rPr lang="en-US" sz="2000" smtClean="0">
                <a:latin typeface="Verdana" charset="0"/>
              </a:rPr>
              <a:t>component </a:t>
            </a:r>
          </a:p>
        </p:txBody>
      </p:sp>
      <p:sp>
        <p:nvSpPr>
          <p:cNvPr id="39956" name="Text Box 20"/>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5" name="Slide Number Placeholder 3"/>
          <p:cNvSpPr>
            <a:spLocks noGrp="1"/>
          </p:cNvSpPr>
          <p:nvPr>
            <p:ph type="sldNum" sz="quarter" idx="10"/>
          </p:nvPr>
        </p:nvSpPr>
        <p:spPr>
          <a:noFill/>
        </p:spPr>
        <p:txBody>
          <a:bodyPr/>
          <a:lstStyle/>
          <a:p>
            <a:fld id="{3D1E19C2-D94E-4956-8191-E3DD5AD71CF3}" type="slidenum">
              <a:rPr lang="en-US" smtClean="0"/>
              <a:pPr/>
              <a:t>14</a:t>
            </a:fld>
            <a:endParaRPr lang="en-US" smtClean="0"/>
          </a:p>
        </p:txBody>
      </p:sp>
      <p:sp>
        <p:nvSpPr>
          <p:cNvPr id="11276" name="Rectangle 3"/>
          <p:cNvSpPr>
            <a:spLocks noGrp="1" noChangeArrowheads="1"/>
          </p:cNvSpPr>
          <p:nvPr>
            <p:ph type="body" idx="1"/>
          </p:nvPr>
        </p:nvSpPr>
        <p:spPr bwMode="auto">
          <a:xfrm>
            <a:off x="669925" y="352425"/>
            <a:ext cx="7970838" cy="5805488"/>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u="sng" dirty="0" smtClean="0">
                <a:latin typeface="Verdana" charset="0"/>
              </a:rPr>
              <a:t>The cross product</a:t>
            </a:r>
            <a:r>
              <a:rPr lang="en-US" sz="2000" dirty="0" smtClean="0">
                <a:latin typeface="Verdana" charset="0"/>
              </a:rPr>
              <a:t> of two vectors     and     is defined as</a:t>
            </a: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r>
              <a:rPr lang="en-US" sz="2000" dirty="0" smtClean="0">
                <a:latin typeface="Verdana" charset="0"/>
              </a:rPr>
              <a:t>where     is a unit vector normal to the plane containing     </a:t>
            </a:r>
          </a:p>
          <a:p>
            <a:pPr eaLnBrk="1" hangingPunct="1">
              <a:buFontTx/>
              <a:buNone/>
            </a:pPr>
            <a:r>
              <a:rPr lang="en-US" sz="2000" dirty="0" smtClean="0">
                <a:latin typeface="Verdana" charset="0"/>
              </a:rPr>
              <a:t>and     . The direction of     is determined using the right-</a:t>
            </a:r>
          </a:p>
          <a:p>
            <a:pPr eaLnBrk="1" hangingPunct="1">
              <a:buFontTx/>
              <a:buNone/>
            </a:pPr>
            <a:r>
              <a:rPr lang="en-US" sz="2000" dirty="0" smtClean="0">
                <a:latin typeface="Verdana" charset="0"/>
              </a:rPr>
              <a:t>hand rule or the right-handed screw rule.</a:t>
            </a:r>
          </a:p>
          <a:p>
            <a:pPr eaLnBrk="1" hangingPunct="1">
              <a:buFontTx/>
              <a:buNone/>
            </a:pPr>
            <a:endParaRPr lang="en-US" sz="2400" dirty="0" smtClean="0">
              <a:latin typeface="Verdana" charset="0"/>
            </a:endParaRPr>
          </a:p>
          <a:p>
            <a:pPr eaLnBrk="1" hangingPunct="1">
              <a:buFontTx/>
              <a:buNone/>
            </a:pPr>
            <a:endParaRPr lang="en-US" dirty="0" smtClean="0">
              <a:latin typeface="Verdana" charset="0"/>
            </a:endParaRPr>
          </a:p>
          <a:p>
            <a:pPr eaLnBrk="1" hangingPunct="1">
              <a:buFontTx/>
              <a:buNone/>
            </a:pPr>
            <a:endParaRPr lang="en-US" dirty="0" smtClean="0">
              <a:latin typeface="Verdana" charset="0"/>
            </a:endParaRPr>
          </a:p>
          <a:p>
            <a:pPr eaLnBrk="1" hangingPunct="1">
              <a:buFontTx/>
              <a:buNone/>
            </a:pPr>
            <a:endParaRPr lang="en-US" dirty="0" smtClean="0">
              <a:latin typeface="Verdana" charset="0"/>
            </a:endParaRPr>
          </a:p>
          <a:p>
            <a:pPr eaLnBrk="1" hangingPunct="1">
              <a:buFontTx/>
              <a:buNone/>
            </a:pPr>
            <a:r>
              <a:rPr lang="en-US" dirty="0" smtClean="0">
                <a:latin typeface="Verdana" charset="0"/>
              </a:rPr>
              <a:t>				</a:t>
            </a:r>
          </a:p>
        </p:txBody>
      </p:sp>
      <p:pic>
        <p:nvPicPr>
          <p:cNvPr id="11277" name="Picture 12" descr="18"/>
          <p:cNvPicPr>
            <a:picLocks noChangeAspect="1" noChangeArrowheads="1"/>
          </p:cNvPicPr>
          <p:nvPr/>
        </p:nvPicPr>
        <p:blipFill>
          <a:blip r:embed="rId15" cstate="print"/>
          <a:srcRect/>
          <a:stretch>
            <a:fillRect/>
          </a:stretch>
        </p:blipFill>
        <p:spPr bwMode="auto">
          <a:xfrm>
            <a:off x="1060450" y="2894013"/>
            <a:ext cx="5270500" cy="2735262"/>
          </a:xfrm>
          <a:prstGeom prst="rect">
            <a:avLst/>
          </a:prstGeom>
          <a:noFill/>
          <a:ln w="9525">
            <a:noFill/>
            <a:miter lim="800000"/>
            <a:headEnd/>
            <a:tailEnd/>
          </a:ln>
        </p:spPr>
      </p:pic>
      <p:sp>
        <p:nvSpPr>
          <p:cNvPr id="11278" name="Text Box 16"/>
          <p:cNvSpPr txBox="1">
            <a:spLocks noChangeArrowheads="1"/>
          </p:cNvSpPr>
          <p:nvPr/>
        </p:nvSpPr>
        <p:spPr bwMode="auto">
          <a:xfrm>
            <a:off x="6629400" y="3033713"/>
            <a:ext cx="1927225" cy="2031325"/>
          </a:xfrm>
          <a:prstGeom prst="rect">
            <a:avLst/>
          </a:prstGeom>
          <a:noFill/>
          <a:ln w="9525">
            <a:noFill/>
            <a:miter lim="800000"/>
            <a:headEnd/>
            <a:tailEnd/>
          </a:ln>
        </p:spPr>
        <p:txBody>
          <a:bodyPr wrap="square">
            <a:spAutoFit/>
          </a:bodyPr>
          <a:lstStyle/>
          <a:p>
            <a:r>
              <a:rPr lang="en-US" i="0" dirty="0"/>
              <a:t>Direction of  </a:t>
            </a:r>
            <a:r>
              <a:rPr lang="en-US" i="0" dirty="0" smtClean="0"/>
              <a:t>     </a:t>
            </a:r>
            <a:endParaRPr lang="en-US" i="0" dirty="0"/>
          </a:p>
          <a:p>
            <a:r>
              <a:rPr lang="en-US" i="0" dirty="0"/>
              <a:t>and      using </a:t>
            </a:r>
          </a:p>
          <a:p>
            <a:r>
              <a:rPr lang="en-US" i="0" dirty="0"/>
              <a:t>(a) right-hand rule,</a:t>
            </a:r>
          </a:p>
          <a:p>
            <a:r>
              <a:rPr lang="en-US" i="0" dirty="0"/>
              <a:t>(b) right-handed</a:t>
            </a:r>
          </a:p>
          <a:p>
            <a:r>
              <a:rPr lang="en-US" i="0" dirty="0"/>
              <a:t>     screw rule</a:t>
            </a:r>
          </a:p>
          <a:p>
            <a:endParaRPr lang="en-US" i="0" dirty="0"/>
          </a:p>
        </p:txBody>
      </p:sp>
      <p:sp>
        <p:nvSpPr>
          <p:cNvPr id="40978" name="Text Box 18"/>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Slide Number Placeholder 3"/>
          <p:cNvSpPr>
            <a:spLocks noGrp="1"/>
          </p:cNvSpPr>
          <p:nvPr>
            <p:ph type="sldNum" sz="quarter" idx="10"/>
          </p:nvPr>
        </p:nvSpPr>
        <p:spPr>
          <a:noFill/>
        </p:spPr>
        <p:txBody>
          <a:bodyPr/>
          <a:lstStyle/>
          <a:p>
            <a:fld id="{21180416-53BD-4643-B584-755721BCD419}" type="slidenum">
              <a:rPr lang="en-US" smtClean="0"/>
              <a:pPr/>
              <a:t>15</a:t>
            </a:fld>
            <a:endParaRPr lang="en-US" smtClean="0"/>
          </a:p>
        </p:txBody>
      </p:sp>
      <p:sp>
        <p:nvSpPr>
          <p:cNvPr id="12295" name="Rectangle 3"/>
          <p:cNvSpPr>
            <a:spLocks noGrp="1" noChangeArrowheads="1"/>
          </p:cNvSpPr>
          <p:nvPr>
            <p:ph type="body" idx="1"/>
          </p:nvPr>
        </p:nvSpPr>
        <p:spPr bwMode="auto">
          <a:xfrm>
            <a:off x="731838" y="273050"/>
            <a:ext cx="7954962" cy="585311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If                             and                            then</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p:txBody>
      </p:sp>
      <p:sp>
        <p:nvSpPr>
          <p:cNvPr id="65544" name="Text Box 8"/>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Slide Number Placeholder 3"/>
          <p:cNvSpPr>
            <a:spLocks noGrp="1"/>
          </p:cNvSpPr>
          <p:nvPr>
            <p:ph type="sldNum" sz="quarter" idx="10"/>
          </p:nvPr>
        </p:nvSpPr>
        <p:spPr>
          <a:noFill/>
        </p:spPr>
        <p:txBody>
          <a:bodyPr/>
          <a:lstStyle/>
          <a:p>
            <a:fld id="{1DC20DF9-63A3-4E94-A856-86856529DB2C}" type="slidenum">
              <a:rPr lang="en-US" smtClean="0"/>
              <a:pPr/>
              <a:t>16</a:t>
            </a:fld>
            <a:endParaRPr lang="en-US" smtClean="0"/>
          </a:p>
        </p:txBody>
      </p:sp>
      <p:sp>
        <p:nvSpPr>
          <p:cNvPr id="13321" name="Rectangle 3"/>
          <p:cNvSpPr>
            <a:spLocks noGrp="1" noChangeArrowheads="1"/>
          </p:cNvSpPr>
          <p:nvPr>
            <p:ph type="body" idx="1"/>
          </p:nvPr>
        </p:nvSpPr>
        <p:spPr bwMode="auto">
          <a:xfrm>
            <a:off x="669925" y="304800"/>
            <a:ext cx="8016875" cy="582136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Note that the cross product has the following basic</a:t>
            </a:r>
          </a:p>
          <a:p>
            <a:pPr eaLnBrk="1" hangingPunct="1">
              <a:buFontTx/>
              <a:buNone/>
            </a:pPr>
            <a:r>
              <a:rPr lang="en-US" sz="2000" smtClean="0">
                <a:latin typeface="Verdana" charset="0"/>
              </a:rPr>
              <a:t>properties:</a:t>
            </a:r>
          </a:p>
          <a:p>
            <a:pPr eaLnBrk="1" hangingPunct="1">
              <a:buFontTx/>
              <a:buNone/>
            </a:pPr>
            <a:r>
              <a:rPr lang="en-US" sz="2000" smtClean="0">
                <a:latin typeface="Verdana" charset="0"/>
              </a:rPr>
              <a:t>(i) It is </a:t>
            </a:r>
            <a:r>
              <a:rPr lang="en-US" sz="2000" u="sng" smtClean="0">
                <a:latin typeface="Verdana" charset="0"/>
              </a:rPr>
              <a:t>not commutative</a:t>
            </a:r>
            <a:r>
              <a:rPr lang="en-US" sz="2000" smtClean="0">
                <a:latin typeface="Verdana" charset="0"/>
              </a:rPr>
              <a:t>:</a:t>
            </a:r>
          </a:p>
          <a:p>
            <a:pPr eaLnBrk="1" hangingPunct="1">
              <a:buFontTx/>
              <a:buNone/>
            </a:pPr>
            <a:endParaRPr lang="en-US" sz="2000" u="sng" smtClean="0">
              <a:latin typeface="Verdana" charset="0"/>
            </a:endParaRPr>
          </a:p>
          <a:p>
            <a:pPr eaLnBrk="1" hangingPunct="1">
              <a:buFontTx/>
              <a:buNone/>
            </a:pPr>
            <a:endParaRPr lang="en-US" sz="2000" u="sng" smtClean="0">
              <a:latin typeface="Verdana" charset="0"/>
            </a:endParaRPr>
          </a:p>
          <a:p>
            <a:pPr eaLnBrk="1" hangingPunct="1">
              <a:buFontTx/>
              <a:buNone/>
            </a:pPr>
            <a:r>
              <a:rPr lang="en-US" sz="2000" smtClean="0">
                <a:latin typeface="Verdana" charset="0"/>
              </a:rPr>
              <a:t>	It is </a:t>
            </a:r>
            <a:r>
              <a:rPr lang="en-US" sz="2000" u="sng" smtClean="0">
                <a:latin typeface="Verdana" charset="0"/>
              </a:rPr>
              <a:t>anticommutative</a:t>
            </a:r>
            <a:r>
              <a:rPr lang="en-US" sz="2000" smtClean="0">
                <a:latin typeface="Verdana" charset="0"/>
              </a:rPr>
              <a:t>:</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(ii) It is </a:t>
            </a:r>
            <a:r>
              <a:rPr lang="en-US" sz="2000" u="sng" smtClean="0">
                <a:latin typeface="Verdana" charset="0"/>
              </a:rPr>
              <a:t>not associative</a:t>
            </a:r>
            <a:r>
              <a:rPr lang="en-US" sz="2000" smtClean="0">
                <a:latin typeface="Verdana" charset="0"/>
              </a:rPr>
              <a:t>:</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(iii) It is </a:t>
            </a:r>
            <a:r>
              <a:rPr lang="en-US" sz="2000" u="sng" smtClean="0">
                <a:latin typeface="Verdana" charset="0"/>
              </a:rPr>
              <a:t>distributive</a:t>
            </a:r>
            <a:r>
              <a:rPr lang="en-US" sz="2000" smtClean="0">
                <a:latin typeface="Verdana" charset="0"/>
              </a:rPr>
              <a:t>:</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(iv)</a:t>
            </a:r>
          </a:p>
        </p:txBody>
      </p:sp>
      <p:sp>
        <p:nvSpPr>
          <p:cNvPr id="41995" name="Text Box 11"/>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3"/>
          <p:cNvSpPr>
            <a:spLocks noGrp="1"/>
          </p:cNvSpPr>
          <p:nvPr>
            <p:ph type="sldNum" sz="quarter" idx="10"/>
          </p:nvPr>
        </p:nvSpPr>
        <p:spPr>
          <a:noFill/>
        </p:spPr>
        <p:txBody>
          <a:bodyPr/>
          <a:lstStyle/>
          <a:p>
            <a:fld id="{1EF5F58D-0BEB-4CA8-BA9C-010FA86473A3}" type="slidenum">
              <a:rPr lang="en-US" smtClean="0"/>
              <a:pPr/>
              <a:t>17</a:t>
            </a:fld>
            <a:endParaRPr lang="en-US" smtClean="0"/>
          </a:p>
        </p:txBody>
      </p:sp>
      <p:sp>
        <p:nvSpPr>
          <p:cNvPr id="14340" name="Rectangle 3"/>
          <p:cNvSpPr>
            <a:spLocks noGrp="1" noChangeArrowheads="1"/>
          </p:cNvSpPr>
          <p:nvPr>
            <p:ph type="body" idx="1"/>
          </p:nvPr>
        </p:nvSpPr>
        <p:spPr bwMode="auto">
          <a:xfrm>
            <a:off x="700088" y="533400"/>
            <a:ext cx="7986712" cy="559276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Also note that </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which are obtained in cyclic permutation and illustrated </a:t>
            </a:r>
          </a:p>
          <a:p>
            <a:pPr eaLnBrk="1" hangingPunct="1">
              <a:buFontTx/>
              <a:buNone/>
            </a:pPr>
            <a:r>
              <a:rPr lang="en-US" sz="2000" smtClean="0">
                <a:latin typeface="Verdana" charset="0"/>
              </a:rPr>
              <a:t>below.</a:t>
            </a:r>
          </a:p>
        </p:txBody>
      </p:sp>
      <p:sp>
        <p:nvSpPr>
          <p:cNvPr id="14341" name="Text Box 7"/>
          <p:cNvSpPr txBox="1">
            <a:spLocks noChangeArrowheads="1"/>
          </p:cNvSpPr>
          <p:nvPr/>
        </p:nvSpPr>
        <p:spPr bwMode="auto">
          <a:xfrm>
            <a:off x="701675" y="5426075"/>
            <a:ext cx="7177088" cy="549275"/>
          </a:xfrm>
          <a:prstGeom prst="rect">
            <a:avLst/>
          </a:prstGeom>
          <a:noFill/>
          <a:ln w="9525">
            <a:noFill/>
            <a:miter lim="800000"/>
            <a:headEnd/>
            <a:tailEnd/>
          </a:ln>
        </p:spPr>
        <p:txBody>
          <a:bodyPr>
            <a:spAutoFit/>
          </a:bodyPr>
          <a:lstStyle/>
          <a:p>
            <a:pPr>
              <a:spcBef>
                <a:spcPct val="50000"/>
              </a:spcBef>
            </a:pPr>
            <a:r>
              <a:rPr lang="en-US" i="0"/>
              <a:t>Cross product using cyclic permutation: (a) moving clockwise leads to positive results;</a:t>
            </a:r>
          </a:p>
          <a:p>
            <a:pPr>
              <a:spcBef>
                <a:spcPct val="50000"/>
              </a:spcBef>
            </a:pPr>
            <a:r>
              <a:rPr lang="en-US" i="0"/>
              <a:t>(b) moving counterclockwise leads to negative results</a:t>
            </a:r>
          </a:p>
        </p:txBody>
      </p:sp>
      <p:pic>
        <p:nvPicPr>
          <p:cNvPr id="14342" name="Picture 8" descr="17"/>
          <p:cNvPicPr>
            <a:picLocks noChangeAspect="1" noChangeArrowheads="1"/>
          </p:cNvPicPr>
          <p:nvPr/>
        </p:nvPicPr>
        <p:blipFill>
          <a:blip r:embed="rId6" cstate="print"/>
          <a:srcRect/>
          <a:stretch>
            <a:fillRect/>
          </a:stretch>
        </p:blipFill>
        <p:spPr bwMode="auto">
          <a:xfrm>
            <a:off x="1250950" y="2817813"/>
            <a:ext cx="6408738" cy="2530475"/>
          </a:xfrm>
          <a:prstGeom prst="rect">
            <a:avLst/>
          </a:prstGeom>
          <a:noFill/>
          <a:ln w="9525">
            <a:noFill/>
            <a:miter lim="800000"/>
            <a:headEnd/>
            <a:tailEnd/>
          </a:ln>
        </p:spPr>
      </p:pic>
      <p:sp>
        <p:nvSpPr>
          <p:cNvPr id="43017" name="Text Box 9"/>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Slide Number Placeholder 3"/>
          <p:cNvSpPr>
            <a:spLocks noGrp="1"/>
          </p:cNvSpPr>
          <p:nvPr>
            <p:ph type="sldNum" sz="quarter" idx="10"/>
          </p:nvPr>
        </p:nvSpPr>
        <p:spPr>
          <a:noFill/>
        </p:spPr>
        <p:txBody>
          <a:bodyPr/>
          <a:lstStyle/>
          <a:p>
            <a:fld id="{2C4A9ED8-FBB6-486E-9AA0-BCB0FC71B3F6}" type="slidenum">
              <a:rPr lang="en-US" smtClean="0"/>
              <a:pPr/>
              <a:t>18</a:t>
            </a:fld>
            <a:endParaRPr lang="en-US" smtClean="0"/>
          </a:p>
        </p:txBody>
      </p:sp>
      <p:sp>
        <p:nvSpPr>
          <p:cNvPr id="15367" name="Rectangle 3"/>
          <p:cNvSpPr>
            <a:spLocks noGrp="1" noChangeArrowheads="1"/>
          </p:cNvSpPr>
          <p:nvPr>
            <p:ph type="body" idx="1"/>
          </p:nvPr>
        </p:nvSpPr>
        <p:spPr bwMode="auto">
          <a:xfrm>
            <a:off x="655638" y="427038"/>
            <a:ext cx="8031162" cy="5699125"/>
          </a:xfrm>
          <a:noFill/>
          <a:ln>
            <a:miter lim="800000"/>
            <a:headEnd/>
            <a:tailEnd/>
          </a:ln>
        </p:spPr>
        <p:txBody>
          <a:bodyPr wrap="square" lIns="91440" tIns="45720" rIns="91440" bIns="45720" numCol="1" anchor="t" anchorCtr="0" compatLnSpc="1">
            <a:prstTxWarp prst="textNoShape">
              <a:avLst/>
            </a:prstTxWarp>
          </a:bodyPr>
          <a:lstStyle/>
          <a:p>
            <a:pPr algn="ctr" eaLnBrk="1" hangingPunct="1">
              <a:buFontTx/>
              <a:buNone/>
            </a:pPr>
            <a:endParaRPr lang="en-US" sz="2000" u="sng" dirty="0" smtClean="0">
              <a:latin typeface="Verdana" charset="0"/>
            </a:endParaRPr>
          </a:p>
          <a:p>
            <a:pPr algn="ctr" eaLnBrk="1" hangingPunct="1">
              <a:buFontTx/>
              <a:buNone/>
            </a:pPr>
            <a:endParaRPr lang="en-US" sz="2000" u="sng" dirty="0" smtClean="0">
              <a:latin typeface="Verdana" charset="0"/>
            </a:endParaRPr>
          </a:p>
          <a:p>
            <a:pPr algn="ctr" eaLnBrk="1" hangingPunct="1">
              <a:buFontTx/>
              <a:buNone/>
            </a:pPr>
            <a:r>
              <a:rPr lang="en-US" sz="2000" u="sng" dirty="0" smtClean="0">
                <a:latin typeface="Verdana" charset="0"/>
              </a:rPr>
              <a:t>Scalar and Vector Fields</a:t>
            </a:r>
          </a:p>
          <a:p>
            <a:pPr eaLnBrk="1" hangingPunct="1">
              <a:buFontTx/>
              <a:buNone/>
            </a:pPr>
            <a:endParaRPr lang="en-US" sz="2000" dirty="0" smtClean="0">
              <a:latin typeface="Verdana" charset="0"/>
            </a:endParaRPr>
          </a:p>
          <a:p>
            <a:pPr eaLnBrk="1" hangingPunct="1">
              <a:buFontTx/>
              <a:buNone/>
            </a:pPr>
            <a:r>
              <a:rPr lang="en-US" sz="2000" dirty="0" smtClean="0">
                <a:latin typeface="Verdana" charset="0"/>
              </a:rPr>
              <a:t>A field can be defined as a function that specifies a particular</a:t>
            </a:r>
          </a:p>
          <a:p>
            <a:pPr eaLnBrk="1" hangingPunct="1">
              <a:buFontTx/>
              <a:buNone/>
            </a:pPr>
            <a:r>
              <a:rPr lang="en-US" sz="2000" dirty="0" smtClean="0">
                <a:latin typeface="Verdana" charset="0"/>
              </a:rPr>
              <a:t>quantity everywhere in a region (e.g., temperature </a:t>
            </a:r>
          </a:p>
          <a:p>
            <a:pPr eaLnBrk="1" hangingPunct="1">
              <a:buFontTx/>
              <a:buNone/>
            </a:pPr>
            <a:r>
              <a:rPr lang="en-US" sz="2000" dirty="0" smtClean="0">
                <a:latin typeface="Verdana" charset="0"/>
              </a:rPr>
              <a:t>distribution in a building), or as a spatial distribution of a </a:t>
            </a:r>
          </a:p>
          <a:p>
            <a:pPr eaLnBrk="1" hangingPunct="1">
              <a:buFontTx/>
              <a:buNone/>
            </a:pPr>
            <a:r>
              <a:rPr lang="en-US" sz="2000" dirty="0" smtClean="0">
                <a:latin typeface="Verdana" charset="0"/>
              </a:rPr>
              <a:t>quantity, which may or may not be a function of time.</a:t>
            </a:r>
          </a:p>
          <a:p>
            <a:pPr eaLnBrk="1" hangingPunct="1">
              <a:buFontTx/>
              <a:buNone/>
            </a:pPr>
            <a:endParaRPr lang="en-US" sz="2000" dirty="0" smtClean="0">
              <a:latin typeface="Verdana" charset="0"/>
            </a:endParaRPr>
          </a:p>
          <a:p>
            <a:pPr eaLnBrk="1" hangingPunct="1">
              <a:buFontTx/>
              <a:buNone/>
            </a:pPr>
            <a:r>
              <a:rPr lang="en-US" sz="2000" dirty="0" smtClean="0">
                <a:latin typeface="Verdana" charset="0"/>
              </a:rPr>
              <a:t>Scalar quantity       scalar function of position      scalar field</a:t>
            </a:r>
          </a:p>
          <a:p>
            <a:pPr eaLnBrk="1" hangingPunct="1">
              <a:buFontTx/>
              <a:buNone/>
            </a:pPr>
            <a:r>
              <a:rPr lang="en-US" sz="2000" dirty="0" smtClean="0">
                <a:latin typeface="Verdana" charset="0"/>
              </a:rPr>
              <a:t>Vector quantity      vector function of position      vector field</a:t>
            </a:r>
            <a:endParaRPr lang="en-US" sz="2000" u="sng" dirty="0" smtClean="0">
              <a:latin typeface="Verdana" charset="0"/>
            </a:endParaRPr>
          </a:p>
        </p:txBody>
      </p:sp>
      <p:sp>
        <p:nvSpPr>
          <p:cNvPr id="44041" name="Text Box 9"/>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a:spLocks noGrp="1"/>
          </p:cNvSpPr>
          <p:nvPr>
            <p:ph type="sldNum" sz="quarter" idx="10"/>
          </p:nvPr>
        </p:nvSpPr>
        <p:spPr>
          <a:noFill/>
        </p:spPr>
        <p:txBody>
          <a:bodyPr/>
          <a:lstStyle/>
          <a:p>
            <a:fld id="{63F4950C-5B99-48DC-AF2F-0B59AD3F026B}" type="slidenum">
              <a:rPr lang="en-US" smtClean="0"/>
              <a:pPr/>
              <a:t>19</a:t>
            </a:fld>
            <a:endParaRPr lang="en-US" smtClean="0"/>
          </a:p>
        </p:txBody>
      </p:sp>
      <p:pic>
        <p:nvPicPr>
          <p:cNvPr id="48131" name="Picture 4" descr="Untitled-6"/>
          <p:cNvPicPr>
            <a:picLocks noChangeAspect="1" noChangeArrowheads="1"/>
          </p:cNvPicPr>
          <p:nvPr/>
        </p:nvPicPr>
        <p:blipFill>
          <a:blip r:embed="rId3" cstate="print"/>
          <a:srcRect/>
          <a:stretch>
            <a:fillRect/>
          </a:stretch>
        </p:blipFill>
        <p:spPr bwMode="auto">
          <a:xfrm>
            <a:off x="2419350" y="704850"/>
            <a:ext cx="4305300" cy="5448300"/>
          </a:xfrm>
          <a:prstGeom prst="rect">
            <a:avLst/>
          </a:prstGeom>
          <a:noFill/>
          <a:ln w="9525">
            <a:noFill/>
            <a:miter lim="800000"/>
            <a:headEnd/>
            <a:tailEnd/>
          </a:ln>
        </p:spPr>
      </p:pic>
      <p:sp>
        <p:nvSpPr>
          <p:cNvPr id="60421" name="Text Box 5"/>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0"/>
          </p:nvPr>
        </p:nvSpPr>
        <p:spPr>
          <a:noFill/>
        </p:spPr>
        <p:txBody>
          <a:bodyPr/>
          <a:lstStyle/>
          <a:p>
            <a:fld id="{5A78E4BF-BC08-407F-B204-83FCF4CCC8C3}" type="slidenum">
              <a:rPr lang="en-US" smtClean="0"/>
              <a:pPr/>
              <a:t>20</a:t>
            </a:fld>
            <a:endParaRPr lang="en-US" smtClean="0"/>
          </a:p>
        </p:txBody>
      </p:sp>
      <p:sp>
        <p:nvSpPr>
          <p:cNvPr id="51203" name="Rectangle 3"/>
          <p:cNvSpPr>
            <a:spLocks noGrp="1" noChangeArrowheads="1"/>
          </p:cNvSpPr>
          <p:nvPr>
            <p:ph type="body" idx="1"/>
          </p:nvPr>
        </p:nvSpPr>
        <p:spPr bwMode="auto">
          <a:xfrm>
            <a:off x="715963" y="396875"/>
            <a:ext cx="7970837" cy="5729288"/>
          </a:xfrm>
          <a:noFill/>
          <a:ln>
            <a:miter lim="800000"/>
            <a:headEnd/>
            <a:tailEnd/>
          </a:ln>
        </p:spPr>
        <p:txBody>
          <a:bodyPr wrap="square" lIns="91440" tIns="45720" rIns="91440" bIns="45720" numCol="1" anchor="t" anchorCtr="0" compatLnSpc="1">
            <a:prstTxWarp prst="textNoShape">
              <a:avLst/>
            </a:prstTxWarp>
          </a:bodyPr>
          <a:lstStyle/>
          <a:p>
            <a:pPr algn="ctr" eaLnBrk="1" hangingPunct="1">
              <a:buFontTx/>
              <a:buNone/>
            </a:pPr>
            <a:endParaRPr lang="en-US" sz="2000" u="sng" dirty="0" smtClean="0">
              <a:latin typeface="Verdana" charset="0"/>
            </a:endParaRPr>
          </a:p>
          <a:p>
            <a:pPr algn="ctr" eaLnBrk="1" hangingPunct="1">
              <a:buFontTx/>
              <a:buNone/>
            </a:pPr>
            <a:r>
              <a:rPr lang="en-US" sz="2000" u="sng" dirty="0" smtClean="0">
                <a:latin typeface="Verdana" charset="0"/>
              </a:rPr>
              <a:t>Introduction to Differential Operators</a:t>
            </a:r>
          </a:p>
          <a:p>
            <a:pPr algn="ctr" eaLnBrk="1" hangingPunct="1">
              <a:buFontTx/>
              <a:buNone/>
            </a:pPr>
            <a:endParaRPr lang="en-US" sz="2000" u="sng" dirty="0" smtClean="0">
              <a:latin typeface="Verdana" charset="0"/>
            </a:endParaRPr>
          </a:p>
          <a:p>
            <a:pPr eaLnBrk="1" hangingPunct="1">
              <a:buFontTx/>
              <a:buNone/>
            </a:pPr>
            <a:r>
              <a:rPr lang="en-US" sz="2000" dirty="0" smtClean="0">
                <a:latin typeface="Verdana" charset="0"/>
              </a:rPr>
              <a:t>An operator acts on a vector field at a point to produce</a:t>
            </a:r>
          </a:p>
          <a:p>
            <a:pPr eaLnBrk="1" hangingPunct="1">
              <a:buFontTx/>
              <a:buNone/>
            </a:pPr>
            <a:r>
              <a:rPr lang="en-US" sz="2000" dirty="0" smtClean="0">
                <a:latin typeface="Verdana" charset="0"/>
              </a:rPr>
              <a:t>some function of the vector field. It is like a function of a</a:t>
            </a:r>
          </a:p>
          <a:p>
            <a:pPr eaLnBrk="1" hangingPunct="1">
              <a:buFontTx/>
              <a:buNone/>
            </a:pPr>
            <a:r>
              <a:rPr lang="en-US" sz="2000" dirty="0" smtClean="0">
                <a:latin typeface="Verdana" charset="0"/>
              </a:rPr>
              <a:t>function.</a:t>
            </a:r>
          </a:p>
          <a:p>
            <a:pPr eaLnBrk="1" hangingPunct="1">
              <a:buFontTx/>
              <a:buNone/>
            </a:pPr>
            <a:endParaRPr lang="en-US" sz="2000" dirty="0" smtClean="0">
              <a:latin typeface="Verdana" charset="0"/>
            </a:endParaRPr>
          </a:p>
          <a:p>
            <a:pPr eaLnBrk="1" hangingPunct="1">
              <a:buFontTx/>
              <a:buNone/>
            </a:pPr>
            <a:r>
              <a:rPr lang="en-US" sz="2000" dirty="0" smtClean="0">
                <a:latin typeface="Verdana" charset="0"/>
              </a:rPr>
              <a:t>If ”O” is an operator acting on a function f(x) of the single </a:t>
            </a:r>
          </a:p>
          <a:p>
            <a:pPr eaLnBrk="1" hangingPunct="1">
              <a:buFontTx/>
              <a:buNone/>
            </a:pPr>
            <a:r>
              <a:rPr lang="en-US" sz="2000" dirty="0" smtClean="0">
                <a:latin typeface="Verdana" charset="0"/>
              </a:rPr>
              <a:t>variable X , the result is written O[f(x)].</a:t>
            </a:r>
          </a:p>
          <a:p>
            <a:pPr eaLnBrk="1" hangingPunct="1">
              <a:buFontTx/>
              <a:buNone/>
            </a:pPr>
            <a:endParaRPr lang="en-US" sz="2000" dirty="0" smtClean="0">
              <a:latin typeface="Verdana" charset="0"/>
            </a:endParaRPr>
          </a:p>
          <a:p>
            <a:pPr>
              <a:lnSpc>
                <a:spcPct val="90000"/>
              </a:lnSpc>
              <a:buNone/>
            </a:pPr>
            <a:r>
              <a:rPr lang="en-US" sz="2000" dirty="0" smtClean="0">
                <a:latin typeface="Verdana" charset="0"/>
              </a:rPr>
              <a:t>An operator acting on a vector field                   can produce</a:t>
            </a:r>
          </a:p>
          <a:p>
            <a:pPr>
              <a:lnSpc>
                <a:spcPct val="90000"/>
              </a:lnSpc>
              <a:buNone/>
            </a:pPr>
            <a:r>
              <a:rPr lang="en-US" sz="2000" dirty="0" smtClean="0">
                <a:latin typeface="Verdana" charset="0"/>
              </a:rPr>
              <a:t>either a scalar or a vector. </a:t>
            </a: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p:txBody>
      </p:sp>
      <p:sp>
        <p:nvSpPr>
          <p:cNvPr id="52228" name="Text Box 4"/>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8" name="Slide Number Placeholder 3"/>
          <p:cNvSpPr>
            <a:spLocks noGrp="1"/>
          </p:cNvSpPr>
          <p:nvPr>
            <p:ph type="sldNum" sz="quarter" idx="10"/>
          </p:nvPr>
        </p:nvSpPr>
        <p:spPr>
          <a:noFill/>
        </p:spPr>
        <p:txBody>
          <a:bodyPr/>
          <a:lstStyle/>
          <a:p>
            <a:fld id="{B7244480-A73F-4BB6-AB08-DC821BAD0467}" type="slidenum">
              <a:rPr lang="en-US" smtClean="0"/>
              <a:pPr/>
              <a:t>21</a:t>
            </a:fld>
            <a:endParaRPr lang="en-US" smtClean="0"/>
          </a:p>
        </p:txBody>
      </p:sp>
      <p:sp>
        <p:nvSpPr>
          <p:cNvPr id="27659" name="Rectangle 3"/>
          <p:cNvSpPr>
            <a:spLocks noGrp="1" noChangeArrowheads="1"/>
          </p:cNvSpPr>
          <p:nvPr>
            <p:ph type="body" idx="1"/>
          </p:nvPr>
        </p:nvSpPr>
        <p:spPr bwMode="auto">
          <a:xfrm>
            <a:off x="655638" y="350838"/>
            <a:ext cx="8031162" cy="5775325"/>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Vector fields are often specified in terms of their rectangular </a:t>
            </a:r>
          </a:p>
          <a:p>
            <a:pPr eaLnBrk="1" hangingPunct="1">
              <a:buFontTx/>
              <a:buNone/>
            </a:pPr>
            <a:r>
              <a:rPr lang="en-US" sz="2000" smtClean="0">
                <a:latin typeface="Verdana" charset="0"/>
              </a:rPr>
              <a:t>components:</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where      ,     , and     are three scalar features functions of</a:t>
            </a:r>
          </a:p>
          <a:p>
            <a:pPr eaLnBrk="1" hangingPunct="1">
              <a:buFontTx/>
              <a:buNone/>
            </a:pPr>
            <a:r>
              <a:rPr lang="en-US" sz="2000" smtClean="0">
                <a:latin typeface="Verdana" charset="0"/>
              </a:rPr>
              <a:t>position. Operators can then be specified in terms of      ,</a:t>
            </a:r>
          </a:p>
          <a:p>
            <a:pPr eaLnBrk="1" hangingPunct="1">
              <a:buFontTx/>
              <a:buNone/>
            </a:pPr>
            <a:r>
              <a:rPr lang="en-US" sz="2000" smtClean="0">
                <a:latin typeface="Verdana" charset="0"/>
              </a:rPr>
              <a:t>     , and     .</a:t>
            </a:r>
          </a:p>
          <a:p>
            <a:pPr eaLnBrk="1" hangingPunct="1">
              <a:buFontTx/>
              <a:buNone/>
            </a:pPr>
            <a:endParaRPr lang="en-US" sz="2000" smtClean="0">
              <a:latin typeface="Verdana" charset="0"/>
            </a:endParaRPr>
          </a:p>
          <a:p>
            <a:pPr eaLnBrk="1" hangingPunct="1">
              <a:buFontTx/>
              <a:buNone/>
            </a:pPr>
            <a:r>
              <a:rPr lang="en-US" sz="2000" smtClean="0">
                <a:latin typeface="Verdana" charset="0"/>
              </a:rPr>
              <a:t>The </a:t>
            </a:r>
            <a:r>
              <a:rPr lang="en-US" sz="2000" u="sng" smtClean="0">
                <a:latin typeface="Verdana" charset="0"/>
              </a:rPr>
              <a:t>divergence</a:t>
            </a:r>
            <a:r>
              <a:rPr lang="en-US" sz="2000" smtClean="0">
                <a:latin typeface="Verdana" charset="0"/>
              </a:rPr>
              <a:t> operator is defined as</a:t>
            </a:r>
          </a:p>
          <a:p>
            <a:pPr eaLnBrk="1" hangingPunct="1">
              <a:buFontTx/>
              <a:buNone/>
            </a:pPr>
            <a:endParaRPr lang="en-US" smtClean="0">
              <a:latin typeface="Verdana" charset="0"/>
            </a:endParaRPr>
          </a:p>
          <a:p>
            <a:pPr eaLnBrk="1" hangingPunct="1">
              <a:buFontTx/>
              <a:buNone/>
            </a:pPr>
            <a:endParaRPr lang="en-US" smtClean="0">
              <a:latin typeface="Verdana" charset="0"/>
            </a:endParaRPr>
          </a:p>
        </p:txBody>
      </p:sp>
      <p:sp>
        <p:nvSpPr>
          <p:cNvPr id="54290" name="Text Box 18"/>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Slide Number Placeholder 3"/>
          <p:cNvSpPr>
            <a:spLocks noGrp="1"/>
          </p:cNvSpPr>
          <p:nvPr>
            <p:ph type="sldNum" sz="quarter" idx="10"/>
          </p:nvPr>
        </p:nvSpPr>
        <p:spPr>
          <a:noFill/>
        </p:spPr>
        <p:txBody>
          <a:bodyPr/>
          <a:lstStyle/>
          <a:p>
            <a:fld id="{319FA046-FF25-472D-AC95-4442677B22E3}" type="slidenum">
              <a:rPr lang="en-US" smtClean="0"/>
              <a:pPr/>
              <a:t>22</a:t>
            </a:fld>
            <a:endParaRPr lang="en-US" smtClean="0"/>
          </a:p>
        </p:txBody>
      </p:sp>
      <p:sp>
        <p:nvSpPr>
          <p:cNvPr id="28680" name="Rectangle 3"/>
          <p:cNvSpPr>
            <a:spLocks noGrp="1" noChangeArrowheads="1"/>
          </p:cNvSpPr>
          <p:nvPr>
            <p:ph type="body" idx="1"/>
          </p:nvPr>
        </p:nvSpPr>
        <p:spPr bwMode="auto">
          <a:xfrm>
            <a:off x="746125" y="503238"/>
            <a:ext cx="7940675" cy="5622925"/>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u="sng" dirty="0" smtClean="0">
                <a:latin typeface="Verdana" charset="0"/>
              </a:rPr>
              <a:t>Example</a:t>
            </a:r>
            <a:r>
              <a:rPr lang="en-US" sz="2000" dirty="0" smtClean="0">
                <a:latin typeface="Verdana" charset="0"/>
              </a:rPr>
              <a:t>  				. Evaluate          at the</a:t>
            </a:r>
          </a:p>
          <a:p>
            <a:pPr eaLnBrk="1" hangingPunct="1">
              <a:buFontTx/>
              <a:buNone/>
            </a:pPr>
            <a:r>
              <a:rPr lang="en-US" sz="2000" dirty="0" smtClean="0">
                <a:latin typeface="Verdana" charset="0"/>
              </a:rPr>
              <a:t>point x=1, y=-1, z=2.</a:t>
            </a:r>
            <a:endParaRPr lang="en-US" sz="2000" u="sng" dirty="0" smtClean="0">
              <a:latin typeface="Verdana" charset="0"/>
            </a:endParaRPr>
          </a:p>
          <a:p>
            <a:pPr eaLnBrk="1" hangingPunct="1">
              <a:buFontTx/>
              <a:buNone/>
            </a:pPr>
            <a:endParaRPr lang="en-US" sz="2000" dirty="0" smtClean="0">
              <a:latin typeface="Verdana" charset="0"/>
            </a:endParaRPr>
          </a:p>
        </p:txBody>
      </p:sp>
      <p:sp>
        <p:nvSpPr>
          <p:cNvPr id="28681" name="Rectangle 10"/>
          <p:cNvSpPr>
            <a:spLocks noChangeArrowheads="1"/>
          </p:cNvSpPr>
          <p:nvPr/>
        </p:nvSpPr>
        <p:spPr bwMode="auto">
          <a:xfrm>
            <a:off x="1500188" y="4564063"/>
            <a:ext cx="6851650" cy="461665"/>
          </a:xfrm>
          <a:prstGeom prst="rect">
            <a:avLst/>
          </a:prstGeom>
          <a:noFill/>
          <a:ln w="9525">
            <a:noFill/>
            <a:miter lim="800000"/>
            <a:headEnd/>
            <a:tailEnd/>
          </a:ln>
        </p:spPr>
        <p:txBody>
          <a:bodyPr>
            <a:spAutoFit/>
          </a:bodyPr>
          <a:lstStyle/>
          <a:p>
            <a:pPr>
              <a:spcBef>
                <a:spcPct val="20000"/>
              </a:spcBef>
            </a:pPr>
            <a:r>
              <a:rPr lang="en-US" sz="2400" i="0" dirty="0"/>
              <a:t>Clearly </a:t>
            </a:r>
            <a:r>
              <a:rPr lang="en-US" sz="2400" i="0" u="sng" dirty="0"/>
              <a:t>the divergence operator is a scalar operator</a:t>
            </a:r>
            <a:r>
              <a:rPr lang="en-US" sz="2400" i="0" dirty="0"/>
              <a:t>.</a:t>
            </a:r>
          </a:p>
        </p:txBody>
      </p:sp>
      <p:sp>
        <p:nvSpPr>
          <p:cNvPr id="68619" name="Text Box 11"/>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Slide Number Placeholder 3"/>
          <p:cNvSpPr>
            <a:spLocks noGrp="1"/>
          </p:cNvSpPr>
          <p:nvPr>
            <p:ph type="sldNum" sz="quarter" idx="10"/>
          </p:nvPr>
        </p:nvSpPr>
        <p:spPr>
          <a:noFill/>
        </p:spPr>
        <p:txBody>
          <a:bodyPr/>
          <a:lstStyle/>
          <a:p>
            <a:fld id="{BDBCAFDA-3228-4405-AB37-E2762A819FE5}" type="slidenum">
              <a:rPr lang="en-US" smtClean="0"/>
              <a:pPr/>
              <a:t>23</a:t>
            </a:fld>
            <a:endParaRPr lang="en-US" smtClean="0"/>
          </a:p>
        </p:txBody>
      </p:sp>
      <p:sp>
        <p:nvSpPr>
          <p:cNvPr id="29703" name="Rectangle 3"/>
          <p:cNvSpPr>
            <a:spLocks noGrp="1" noChangeArrowheads="1"/>
          </p:cNvSpPr>
          <p:nvPr>
            <p:ph type="body" idx="1"/>
          </p:nvPr>
        </p:nvSpPr>
        <p:spPr bwMode="auto">
          <a:xfrm>
            <a:off x="609600" y="365125"/>
            <a:ext cx="8077200" cy="5761038"/>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smtClean="0">
                <a:latin typeface="Verdana" charset="0"/>
              </a:rPr>
              <a:t>1.           - </a:t>
            </a:r>
            <a:r>
              <a:rPr lang="en-US" sz="2000" u="sng" smtClean="0">
                <a:latin typeface="Verdana" charset="0"/>
              </a:rPr>
              <a:t>gradient</a:t>
            </a:r>
            <a:r>
              <a:rPr lang="en-US" sz="2000" smtClean="0">
                <a:latin typeface="Verdana" charset="0"/>
              </a:rPr>
              <a:t>, acts on a scalar to produce a vector</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2.           - </a:t>
            </a:r>
            <a:r>
              <a:rPr lang="en-US" sz="2000" u="sng" smtClean="0">
                <a:latin typeface="Verdana" charset="0"/>
              </a:rPr>
              <a:t>divergence</a:t>
            </a:r>
            <a:r>
              <a:rPr lang="en-US" sz="2000" smtClean="0">
                <a:latin typeface="Verdana" charset="0"/>
              </a:rPr>
              <a:t>, acts on a vector to produce a scalar</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3.           - </a:t>
            </a:r>
            <a:r>
              <a:rPr lang="en-US" sz="2000" u="sng" smtClean="0">
                <a:latin typeface="Verdana" charset="0"/>
              </a:rPr>
              <a:t>curl</a:t>
            </a:r>
            <a:r>
              <a:rPr lang="en-US" sz="2000" smtClean="0">
                <a:latin typeface="Verdana" charset="0"/>
              </a:rPr>
              <a:t>, acts on a vector to produce a vector</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4.           -</a:t>
            </a:r>
            <a:r>
              <a:rPr lang="en-US" sz="2000" u="sng" smtClean="0">
                <a:latin typeface="Verdana" charset="0"/>
              </a:rPr>
              <a:t>Laplacian</a:t>
            </a:r>
            <a:r>
              <a:rPr lang="en-US" sz="2000" smtClean="0">
                <a:latin typeface="Verdana" charset="0"/>
              </a:rPr>
              <a:t>, acts on a scalar to produce a scalar</a:t>
            </a: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endParaRPr lang="en-US" sz="2000" smtClean="0">
              <a:latin typeface="Verdana" charset="0"/>
            </a:endParaRPr>
          </a:p>
          <a:p>
            <a:pPr eaLnBrk="1" hangingPunct="1">
              <a:buFontTx/>
              <a:buNone/>
            </a:pPr>
            <a:r>
              <a:rPr lang="en-US" sz="2000" smtClean="0">
                <a:latin typeface="Verdana" charset="0"/>
              </a:rPr>
              <a:t>Each of these will be defined in detail in the subsequent</a:t>
            </a:r>
          </a:p>
          <a:p>
            <a:pPr eaLnBrk="1" hangingPunct="1">
              <a:buFontTx/>
              <a:buNone/>
            </a:pPr>
            <a:r>
              <a:rPr lang="en-US" sz="2000" smtClean="0">
                <a:latin typeface="Verdana" charset="0"/>
              </a:rPr>
              <a:t>sections.</a:t>
            </a:r>
          </a:p>
        </p:txBody>
      </p:sp>
      <p:sp>
        <p:nvSpPr>
          <p:cNvPr id="55305" name="Text Box 9"/>
          <p:cNvSpPr txBox="1">
            <a:spLocks noChangeArrowheads="1"/>
          </p:cNvSpPr>
          <p:nvPr/>
        </p:nvSpPr>
        <p:spPr bwMode="auto">
          <a:xfrm>
            <a:off x="6657975" y="0"/>
            <a:ext cx="2486025" cy="274638"/>
          </a:xfrm>
          <a:prstGeom prst="rect">
            <a:avLst/>
          </a:prstGeom>
          <a:noFill/>
          <a:ln w="9525">
            <a:noFill/>
            <a:miter lim="800000"/>
            <a:headEnd/>
            <a:tailEnd/>
          </a:ln>
          <a:effectLst/>
        </p:spPr>
        <p:txBody>
          <a:bodyPr>
            <a:spAutoFit/>
          </a:bodyPr>
          <a:lstStyle/>
          <a:p>
            <a:pPr algn="r">
              <a:spcBef>
                <a:spcPct val="50000"/>
              </a:spcBef>
              <a:defRPr/>
            </a:pPr>
            <a:r>
              <a:rPr lang="en-US" b="1" i="0" u="sng">
                <a:effectLst>
                  <a:outerShdw blurRad="38100" dist="38100" dir="2700000" algn="tl">
                    <a:srgbClr val="DDDDDD"/>
                  </a:outerShdw>
                </a:effectLst>
                <a:ea typeface="+mn-ea"/>
              </a:rPr>
              <a:t>Review of Vector Analysis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IN" sz="2000" dirty="0" smtClean="0"/>
              <a:t>Divergence operator in cylindrical and spherical co-ordinate system.</a:t>
            </a:r>
          </a:p>
          <a:p>
            <a:endParaRPr lang="en-IN"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Grp="1" noChangeAspect="1" noChangeArrowheads="1"/>
          </p:cNvPicPr>
          <p:nvPr>
            <p:ph idx="1"/>
          </p:nvPr>
        </p:nvPicPr>
        <p:blipFill>
          <a:blip r:embed="rId2" cstate="print"/>
          <a:srcRect/>
          <a:stretch>
            <a:fillRect/>
          </a:stretch>
        </p:blipFill>
        <p:spPr bwMode="auto">
          <a:xfrm>
            <a:off x="381000" y="0"/>
            <a:ext cx="8534400" cy="655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Grp="1" noChangeAspect="1" noChangeArrowheads="1"/>
          </p:cNvPicPr>
          <p:nvPr>
            <p:ph idx="1"/>
          </p:nvPr>
        </p:nvPicPr>
        <p:blipFill>
          <a:blip r:embed="rId2" cstate="print"/>
          <a:srcRect/>
          <a:stretch>
            <a:fillRect/>
          </a:stretch>
        </p:blipFill>
        <p:spPr bwMode="auto">
          <a:xfrm>
            <a:off x="838200" y="0"/>
            <a:ext cx="7467600" cy="1600200"/>
          </a:xfrm>
          <a:prstGeom prst="rect">
            <a:avLst/>
          </a:prstGeom>
          <a:noFill/>
          <a:ln w="9525">
            <a:noFill/>
            <a:miter lim="800000"/>
            <a:headEnd/>
            <a:tailEnd/>
          </a:ln>
        </p:spPr>
      </p:pic>
      <p:pic>
        <p:nvPicPr>
          <p:cNvPr id="37891" name="Picture 3"/>
          <p:cNvPicPr>
            <a:picLocks noChangeAspect="1" noChangeArrowheads="1"/>
          </p:cNvPicPr>
          <p:nvPr/>
        </p:nvPicPr>
        <p:blipFill>
          <a:blip r:embed="rId3" cstate="print"/>
          <a:srcRect/>
          <a:stretch>
            <a:fillRect/>
          </a:stretch>
        </p:blipFill>
        <p:spPr bwMode="auto">
          <a:xfrm>
            <a:off x="0" y="1371600"/>
            <a:ext cx="8610600"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p:cNvSpPr>
            <a:spLocks noGrp="1"/>
          </p:cNvSpPr>
          <p:nvPr>
            <p:ph type="sldNum" sz="quarter" idx="10"/>
          </p:nvPr>
        </p:nvSpPr>
        <p:spPr>
          <a:noFill/>
        </p:spPr>
        <p:txBody>
          <a:bodyPr/>
          <a:lstStyle/>
          <a:p>
            <a:fld id="{C470A130-BA7E-4098-AF02-EFF2E4896409}" type="slidenum">
              <a:rPr lang="en-US" smtClean="0"/>
              <a:pPr/>
              <a:t>27</a:t>
            </a:fld>
            <a:endParaRPr lang="en-US" smtClean="0"/>
          </a:p>
        </p:txBody>
      </p:sp>
      <p:sp>
        <p:nvSpPr>
          <p:cNvPr id="52227" name="Rectangle 3"/>
          <p:cNvSpPr>
            <a:spLocks noGrp="1" noChangeArrowheads="1"/>
          </p:cNvSpPr>
          <p:nvPr>
            <p:ph type="body" idx="1"/>
          </p:nvPr>
        </p:nvSpPr>
        <p:spPr bwMode="auto">
          <a:xfrm>
            <a:off x="228600" y="228600"/>
            <a:ext cx="8915400" cy="6324600"/>
          </a:xfrm>
          <a:noFill/>
          <a:ln>
            <a:miter lim="800000"/>
            <a:headEnd/>
            <a:tailEnd/>
          </a:ln>
        </p:spPr>
        <p:txBody>
          <a:bodyPr wrap="square" lIns="91440" tIns="45720" rIns="91440" bIns="45720" numCol="1" anchor="t" anchorCtr="0" compatLnSpc="1">
            <a:prstTxWarp prst="textNoShape">
              <a:avLst/>
            </a:prstTxWarp>
          </a:bodyPr>
          <a:lstStyle/>
          <a:p>
            <a:pPr algn="ctr" eaLnBrk="1" hangingPunct="1">
              <a:buFontTx/>
              <a:buNone/>
            </a:pPr>
            <a:r>
              <a:rPr lang="en-US" sz="2000" u="sng" dirty="0" smtClean="0">
                <a:latin typeface="Verdana" charset="0"/>
              </a:rPr>
              <a:t>Coordinate Systems</a:t>
            </a:r>
          </a:p>
          <a:p>
            <a:pPr algn="ctr" eaLnBrk="1" hangingPunct="1">
              <a:buFontTx/>
              <a:buNone/>
            </a:pPr>
            <a:endParaRPr lang="en-US" sz="2000" u="sng" dirty="0" smtClean="0">
              <a:latin typeface="Verdana" charset="0"/>
            </a:endParaRPr>
          </a:p>
          <a:p>
            <a:pPr algn="just" eaLnBrk="1" hangingPunct="1">
              <a:buFontTx/>
              <a:buNone/>
            </a:pPr>
            <a:r>
              <a:rPr lang="en-US" sz="2000" dirty="0" smtClean="0">
                <a:latin typeface="Verdana" charset="0"/>
              </a:rPr>
              <a:t>In order to define the position of a point in space, an </a:t>
            </a:r>
          </a:p>
          <a:p>
            <a:pPr algn="just" eaLnBrk="1" hangingPunct="1">
              <a:buFontTx/>
              <a:buNone/>
            </a:pPr>
            <a:r>
              <a:rPr lang="en-US" sz="2000" dirty="0" smtClean="0">
                <a:latin typeface="Verdana" charset="0"/>
              </a:rPr>
              <a:t>appropriate coordinate system is needed. A considerable</a:t>
            </a:r>
          </a:p>
          <a:p>
            <a:pPr algn="just" eaLnBrk="1" hangingPunct="1">
              <a:buFontTx/>
              <a:buNone/>
            </a:pPr>
            <a:r>
              <a:rPr lang="en-US" sz="2000" dirty="0" smtClean="0">
                <a:latin typeface="Verdana" charset="0"/>
              </a:rPr>
              <a:t>amount of work and time may be saved by choosing a </a:t>
            </a:r>
          </a:p>
          <a:p>
            <a:pPr algn="just" eaLnBrk="1" hangingPunct="1">
              <a:buFontTx/>
              <a:buNone/>
            </a:pPr>
            <a:r>
              <a:rPr lang="en-US" sz="2000" dirty="0" smtClean="0">
                <a:latin typeface="Verdana" charset="0"/>
              </a:rPr>
              <a:t>coordinate system that best fits a given problem. A hard </a:t>
            </a:r>
          </a:p>
          <a:p>
            <a:pPr algn="just" eaLnBrk="1" hangingPunct="1">
              <a:buFontTx/>
              <a:buNone/>
            </a:pPr>
            <a:r>
              <a:rPr lang="en-US" sz="2000" dirty="0" smtClean="0">
                <a:latin typeface="Verdana" charset="0"/>
              </a:rPr>
              <a:t>problem in one coordinate system may turn out to be easy</a:t>
            </a:r>
          </a:p>
          <a:p>
            <a:pPr algn="just" eaLnBrk="1" hangingPunct="1">
              <a:buFontTx/>
              <a:buNone/>
            </a:pPr>
            <a:r>
              <a:rPr lang="en-US" sz="2000" dirty="0" smtClean="0">
                <a:latin typeface="Verdana" charset="0"/>
              </a:rPr>
              <a:t>in another system.</a:t>
            </a:r>
          </a:p>
          <a:p>
            <a:pPr algn="just" eaLnBrk="1" hangingPunct="1">
              <a:buFontTx/>
              <a:buNone/>
            </a:pPr>
            <a:endParaRPr lang="en-US" sz="2000" dirty="0" smtClean="0">
              <a:latin typeface="Verdana" charset="0"/>
            </a:endParaRPr>
          </a:p>
          <a:p>
            <a:pPr algn="just" eaLnBrk="1" hangingPunct="1">
              <a:buFontTx/>
              <a:buNone/>
            </a:pPr>
            <a:r>
              <a:rPr lang="en-US" sz="2000" dirty="0" smtClean="0">
                <a:latin typeface="Verdana" charset="0"/>
              </a:rPr>
              <a:t> We will consider the Cartesian, the circular cylindrical, and the spherical coordinate systems. All three are orthogonal(the coordinates are mutually perpendicular). </a:t>
            </a:r>
          </a:p>
        </p:txBody>
      </p:sp>
      <p:sp>
        <p:nvSpPr>
          <p:cNvPr id="56324" name="Text Box 4"/>
          <p:cNvSpPr txBox="1">
            <a:spLocks noChangeArrowheads="1"/>
          </p:cNvSpPr>
          <p:nvPr/>
        </p:nvSpPr>
        <p:spPr bwMode="auto">
          <a:xfrm>
            <a:off x="6657975" y="0"/>
            <a:ext cx="2486025" cy="369332"/>
          </a:xfrm>
          <a:prstGeom prst="rect">
            <a:avLst/>
          </a:prstGeom>
          <a:noFill/>
          <a:ln w="9525">
            <a:noFill/>
            <a:miter lim="800000"/>
            <a:headEnd/>
            <a:tailEnd/>
          </a:ln>
          <a:effectLst/>
        </p:spPr>
        <p:txBody>
          <a:bodyPr>
            <a:spAutoFit/>
          </a:bodyPr>
          <a:lstStyle/>
          <a:p>
            <a:pPr algn="r">
              <a:spcBef>
                <a:spcPct val="50000"/>
              </a:spcBef>
              <a:defRPr/>
            </a:pPr>
            <a:endParaRPr lang="en-US" b="1" i="0" u="sng" dirty="0">
              <a:effectLst>
                <a:outerShdw blurRad="38100" dist="38100" dir="2700000" algn="tl">
                  <a:srgbClr val="DDDDDD"/>
                </a:outerShdw>
              </a:effectLst>
              <a:ea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2" cstate="print"/>
          <a:srcRect/>
          <a:stretch>
            <a:fillRect/>
          </a:stretch>
        </p:blipFill>
        <p:spPr bwMode="auto">
          <a:xfrm>
            <a:off x="0" y="0"/>
            <a:ext cx="9144000" cy="2362200"/>
          </a:xfrm>
          <a:prstGeom prst="rect">
            <a:avLst/>
          </a:prstGeom>
          <a:noFill/>
          <a:ln w="9525">
            <a:noFill/>
            <a:miter lim="800000"/>
            <a:headEnd/>
            <a:tailEnd/>
          </a:ln>
        </p:spPr>
      </p:pic>
      <p:pic>
        <p:nvPicPr>
          <p:cNvPr id="38915" name="Picture 3"/>
          <p:cNvPicPr>
            <a:picLocks noChangeAspect="1" noChangeArrowheads="1"/>
          </p:cNvPicPr>
          <p:nvPr/>
        </p:nvPicPr>
        <p:blipFill>
          <a:blip r:embed="rId3" cstate="print"/>
          <a:srcRect/>
          <a:stretch>
            <a:fillRect/>
          </a:stretch>
        </p:blipFill>
        <p:spPr bwMode="auto">
          <a:xfrm>
            <a:off x="152400" y="2133600"/>
            <a:ext cx="89916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2" cstate="print"/>
          <a:srcRect/>
          <a:stretch>
            <a:fillRect/>
          </a:stretch>
        </p:blipFill>
        <p:spPr bwMode="auto">
          <a:xfrm>
            <a:off x="0" y="685800"/>
            <a:ext cx="9144000" cy="480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Slide Number Placeholder 3"/>
          <p:cNvSpPr>
            <a:spLocks noGrp="1"/>
          </p:cNvSpPr>
          <p:nvPr>
            <p:ph type="sldNum" sz="quarter" idx="10"/>
          </p:nvPr>
        </p:nvSpPr>
        <p:spPr>
          <a:noFill/>
        </p:spPr>
        <p:txBody>
          <a:bodyPr/>
          <a:lstStyle/>
          <a:p>
            <a:fld id="{A4523940-4202-4AED-838A-937E1106F7B4}" type="slidenum">
              <a:rPr lang="en-US" smtClean="0"/>
              <a:pPr/>
              <a:t>30</a:t>
            </a:fld>
            <a:endParaRPr lang="en-US" smtClean="0"/>
          </a:p>
        </p:txBody>
      </p:sp>
      <p:sp>
        <p:nvSpPr>
          <p:cNvPr id="33798" name="Rectangle 3"/>
          <p:cNvSpPr>
            <a:spLocks noGrp="1" noChangeArrowheads="1"/>
          </p:cNvSpPr>
          <p:nvPr>
            <p:ph type="body" idx="1"/>
          </p:nvPr>
        </p:nvSpPr>
        <p:spPr bwMode="auto">
          <a:xfrm>
            <a:off x="701675" y="412750"/>
            <a:ext cx="7985125" cy="571341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u="sng" dirty="0" smtClean="0">
                <a:latin typeface="Verdana" charset="0"/>
              </a:rPr>
              <a:t>Cylindrical Coordinates            : </a:t>
            </a:r>
          </a:p>
          <a:p>
            <a:pPr eaLnBrk="1" hangingPunct="1">
              <a:buFontTx/>
              <a:buNone/>
            </a:pPr>
            <a:endParaRPr lang="en-US" sz="2000" u="sng" dirty="0" smtClean="0">
              <a:latin typeface="Verdana" charset="0"/>
            </a:endParaRPr>
          </a:p>
          <a:p>
            <a:pPr eaLnBrk="1" hangingPunct="1">
              <a:buFontTx/>
              <a:buNone/>
            </a:pPr>
            <a:r>
              <a:rPr lang="en-US" sz="2000" dirty="0" smtClean="0">
                <a:latin typeface="Verdana" charset="0"/>
              </a:rPr>
              <a:t>			- the radial distance from the z – axis</a:t>
            </a:r>
          </a:p>
          <a:p>
            <a:pPr eaLnBrk="1" hangingPunct="1">
              <a:buFontTx/>
              <a:buNone/>
            </a:pPr>
            <a:r>
              <a:rPr lang="en-US" sz="2000" dirty="0" smtClean="0">
                <a:latin typeface="Verdana" charset="0"/>
              </a:rPr>
              <a:t>			- the </a:t>
            </a:r>
            <a:r>
              <a:rPr lang="en-US" sz="2000" dirty="0" err="1" smtClean="0">
                <a:latin typeface="Verdana" charset="0"/>
              </a:rPr>
              <a:t>azimuthal</a:t>
            </a:r>
            <a:r>
              <a:rPr lang="en-US" sz="2000" dirty="0" smtClean="0">
                <a:latin typeface="Verdana" charset="0"/>
              </a:rPr>
              <a:t> angle, measured </a:t>
            </a:r>
            <a:r>
              <a:rPr lang="en-US" sz="2000" u="sng" dirty="0" smtClean="0">
                <a:latin typeface="Verdana" charset="0"/>
              </a:rPr>
              <a:t>from the x-</a:t>
            </a:r>
            <a:r>
              <a:rPr lang="en-US" sz="2000" dirty="0" smtClean="0">
                <a:latin typeface="Verdana" charset="0"/>
              </a:rPr>
              <a:t>		  axis in the </a:t>
            </a:r>
            <a:r>
              <a:rPr lang="en-US" sz="2000" dirty="0" err="1" smtClean="0">
                <a:latin typeface="Verdana" charset="0"/>
              </a:rPr>
              <a:t>xy</a:t>
            </a:r>
            <a:r>
              <a:rPr lang="en-US" sz="2000" dirty="0" smtClean="0">
                <a:latin typeface="Verdana" charset="0"/>
              </a:rPr>
              <a:t> – plane</a:t>
            </a:r>
          </a:p>
          <a:p>
            <a:pPr eaLnBrk="1" hangingPunct="1">
              <a:buFontTx/>
              <a:buNone/>
            </a:pPr>
            <a:r>
              <a:rPr lang="en-US" sz="2000" dirty="0" smtClean="0">
                <a:latin typeface="Verdana" charset="0"/>
              </a:rPr>
              <a:t>			- the same as in the Cartesian system.</a:t>
            </a:r>
          </a:p>
          <a:p>
            <a:pPr eaLnBrk="1" hangingPunct="1">
              <a:buFontTx/>
              <a:buNone/>
            </a:pPr>
            <a:endParaRPr lang="en-US" sz="2000" dirty="0" smtClean="0">
              <a:latin typeface="Verdana" charset="0"/>
            </a:endParaRPr>
          </a:p>
          <a:p>
            <a:pPr eaLnBrk="1" hangingPunct="1">
              <a:buFontTx/>
              <a:buNone/>
            </a:pPr>
            <a:endParaRPr lang="en-US" sz="2000" u="sng" dirty="0" smtClean="0">
              <a:latin typeface="Verdana" charset="0"/>
            </a:endParaRPr>
          </a:p>
          <a:p>
            <a:pPr eaLnBrk="1" hangingPunct="1">
              <a:buFontTx/>
              <a:buNone/>
            </a:pPr>
            <a:r>
              <a:rPr lang="en-US" sz="2000" u="sng" dirty="0" smtClean="0">
                <a:latin typeface="Verdana" charset="0"/>
              </a:rPr>
              <a:t>Cartesian (</a:t>
            </a:r>
            <a:r>
              <a:rPr lang="en-US" sz="2000" u="sng" dirty="0" err="1" smtClean="0">
                <a:latin typeface="Verdana" charset="0"/>
              </a:rPr>
              <a:t>x,y,z</a:t>
            </a:r>
            <a:r>
              <a:rPr lang="en-US" sz="2000" u="sng" dirty="0" smtClean="0">
                <a:latin typeface="Verdana" charset="0"/>
              </a:rPr>
              <a:t>):</a:t>
            </a:r>
          </a:p>
          <a:p>
            <a:pPr eaLnBrk="1" hangingPunct="1">
              <a:buFontTx/>
              <a:buNone/>
            </a:pPr>
            <a:endParaRPr lang="en-US" sz="2000" u="sng" dirty="0" smtClean="0">
              <a:latin typeface="Verdana" charset="0"/>
            </a:endParaRP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p:txBody>
      </p:sp>
      <p:pic>
        <p:nvPicPr>
          <p:cNvPr id="105476" name="Picture 4"/>
          <p:cNvPicPr>
            <a:picLocks noChangeAspect="1" noChangeArrowheads="1"/>
          </p:cNvPicPr>
          <p:nvPr/>
        </p:nvPicPr>
        <p:blipFill>
          <a:blip r:embed="rId8" cstate="print"/>
          <a:srcRect/>
          <a:stretch>
            <a:fillRect/>
          </a:stretch>
        </p:blipFill>
        <p:spPr bwMode="auto">
          <a:xfrm>
            <a:off x="838200" y="3886200"/>
            <a:ext cx="1352550" cy="129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Slide Number Placeholder 3"/>
          <p:cNvSpPr>
            <a:spLocks noGrp="1"/>
          </p:cNvSpPr>
          <p:nvPr>
            <p:ph type="sldNum" sz="quarter" idx="10"/>
          </p:nvPr>
        </p:nvSpPr>
        <p:spPr>
          <a:noFill/>
        </p:spPr>
        <p:txBody>
          <a:bodyPr/>
          <a:lstStyle/>
          <a:p>
            <a:fld id="{2FB0DA73-FB36-4604-AB2E-7D6881F73339}" type="slidenum">
              <a:rPr lang="en-US" smtClean="0"/>
              <a:pPr/>
              <a:t>31</a:t>
            </a:fld>
            <a:endParaRPr lang="en-US" smtClean="0"/>
          </a:p>
        </p:txBody>
      </p:sp>
      <p:sp>
        <p:nvSpPr>
          <p:cNvPr id="39941" name="Rectangle 3"/>
          <p:cNvSpPr>
            <a:spLocks noGrp="1" noChangeArrowheads="1"/>
          </p:cNvSpPr>
          <p:nvPr>
            <p:ph type="body" idx="1"/>
          </p:nvPr>
        </p:nvSpPr>
        <p:spPr bwMode="auto">
          <a:xfrm>
            <a:off x="731838" y="304800"/>
            <a:ext cx="7954962" cy="5821363"/>
          </a:xfrm>
          <a:noFill/>
          <a:ln>
            <a:miter lim="800000"/>
            <a:headEnd/>
            <a:tailEnd/>
          </a:ln>
        </p:spPr>
        <p:txBody>
          <a:bodyPr wrap="square" lIns="91440" tIns="45720" rIns="91440" bIns="45720" numCol="1" anchor="t" anchorCtr="0" compatLnSpc="1">
            <a:prstTxWarp prst="textNoShape">
              <a:avLst/>
            </a:prstTxWarp>
          </a:bodyPr>
          <a:lstStyle/>
          <a:p>
            <a:pPr eaLnBrk="1" hangingPunct="1">
              <a:buFontTx/>
              <a:buNone/>
            </a:pPr>
            <a:r>
              <a:rPr lang="en-US" sz="2000" u="sng" dirty="0" smtClean="0">
                <a:latin typeface="Verdana" charset="0"/>
              </a:rPr>
              <a:t>Spherical coordinates            .</a:t>
            </a:r>
          </a:p>
          <a:p>
            <a:pPr eaLnBrk="1" hangingPunct="1">
              <a:buFontTx/>
              <a:buNone/>
            </a:pPr>
            <a:endParaRPr lang="en-US" sz="2000" dirty="0" smtClean="0">
              <a:latin typeface="Verdana" charset="0"/>
            </a:endParaRPr>
          </a:p>
          <a:p>
            <a:pPr eaLnBrk="1" hangingPunct="1">
              <a:buFontTx/>
              <a:buNone/>
            </a:pPr>
            <a:endParaRPr lang="en-US" sz="2000" dirty="0" smtClean="0">
              <a:latin typeface="Verdana" charset="0"/>
            </a:endParaRPr>
          </a:p>
          <a:p>
            <a:pPr eaLnBrk="1" hangingPunct="1">
              <a:buFontTx/>
              <a:buNone/>
            </a:pPr>
            <a:r>
              <a:rPr lang="en-US" sz="2000" dirty="0" smtClean="0">
                <a:latin typeface="Verdana" charset="0"/>
              </a:rPr>
              <a:t>			- the distance </a:t>
            </a:r>
            <a:r>
              <a:rPr lang="en-US" sz="2000" u="sng" dirty="0" smtClean="0">
                <a:latin typeface="Verdana" charset="0"/>
              </a:rPr>
              <a:t>from the origin </a:t>
            </a:r>
            <a:r>
              <a:rPr lang="en-US" sz="2000" dirty="0" smtClean="0">
                <a:latin typeface="Verdana" charset="0"/>
              </a:rPr>
              <a:t>to the point P</a:t>
            </a:r>
          </a:p>
          <a:p>
            <a:pPr eaLnBrk="1" hangingPunct="1">
              <a:buFontTx/>
              <a:buNone/>
            </a:pPr>
            <a:r>
              <a:rPr lang="en-US" sz="2000" dirty="0" smtClean="0">
                <a:latin typeface="Verdana" charset="0"/>
              </a:rPr>
              <a:t>			- the angle between the z-axis and the radius </a:t>
            </a:r>
          </a:p>
          <a:p>
            <a:pPr eaLnBrk="1" hangingPunct="1">
              <a:buFontTx/>
              <a:buNone/>
            </a:pPr>
            <a:r>
              <a:rPr lang="en-US" sz="2000" dirty="0" smtClean="0">
                <a:latin typeface="Verdana" charset="0"/>
              </a:rPr>
              <a:t>			  vector of P</a:t>
            </a:r>
          </a:p>
          <a:p>
            <a:pPr eaLnBrk="1" hangingPunct="1">
              <a:buFontTx/>
              <a:buNone/>
            </a:pPr>
            <a:r>
              <a:rPr lang="en-US" sz="2000" dirty="0" smtClean="0">
                <a:latin typeface="Verdana" charset="0"/>
              </a:rPr>
              <a:t>			- the same as the </a:t>
            </a:r>
            <a:r>
              <a:rPr lang="en-US" sz="2000" dirty="0" err="1" smtClean="0">
                <a:latin typeface="Verdana" charset="0"/>
              </a:rPr>
              <a:t>azimuthal</a:t>
            </a:r>
            <a:r>
              <a:rPr lang="en-US" sz="2000" dirty="0" smtClean="0">
                <a:latin typeface="Verdana" charset="0"/>
              </a:rPr>
              <a:t> angle in 			  cylindrical coordinates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1"/>
          </p:nvPr>
        </p:nvPicPr>
        <p:blipFill>
          <a:blip r:embed="rId2" cstate="print"/>
          <a:srcRect/>
          <a:stretch>
            <a:fillRect/>
          </a:stretch>
        </p:blipFill>
        <p:spPr bwMode="auto">
          <a:xfrm>
            <a:off x="533400" y="457200"/>
            <a:ext cx="8229600" cy="563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Grp="1" noChangeAspect="1" noChangeArrowheads="1"/>
          </p:cNvPicPr>
          <p:nvPr>
            <p:ph idx="1"/>
          </p:nvPr>
        </p:nvPicPr>
        <p:blipFill>
          <a:blip r:embed="rId2" cstate="print"/>
          <a:srcRect/>
          <a:stretch>
            <a:fillRect/>
          </a:stretch>
        </p:blipFill>
        <p:spPr bwMode="auto">
          <a:xfrm>
            <a:off x="228600" y="304800"/>
            <a:ext cx="8686799" cy="59435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Grp="1" noChangeAspect="1" noChangeArrowheads="1"/>
          </p:cNvPicPr>
          <p:nvPr>
            <p:ph idx="1"/>
          </p:nvPr>
        </p:nvPicPr>
        <p:blipFill>
          <a:blip r:embed="rId2" cstate="print"/>
          <a:srcRect/>
          <a:stretch>
            <a:fillRect/>
          </a:stretch>
        </p:blipFill>
        <p:spPr bwMode="auto">
          <a:xfrm>
            <a:off x="228600" y="1"/>
            <a:ext cx="8534400" cy="3505199"/>
          </a:xfrm>
          <a:prstGeom prst="rect">
            <a:avLst/>
          </a:prstGeom>
          <a:noFill/>
          <a:ln w="9525">
            <a:noFill/>
            <a:miter lim="800000"/>
            <a:headEnd/>
            <a:tailEnd/>
          </a:ln>
        </p:spPr>
      </p:pic>
      <p:pic>
        <p:nvPicPr>
          <p:cNvPr id="95235" name="Picture 3"/>
          <p:cNvPicPr>
            <a:picLocks noChangeAspect="1" noChangeArrowheads="1"/>
          </p:cNvPicPr>
          <p:nvPr/>
        </p:nvPicPr>
        <p:blipFill>
          <a:blip r:embed="rId3" cstate="print"/>
          <a:srcRect/>
          <a:stretch>
            <a:fillRect/>
          </a:stretch>
        </p:blipFill>
        <p:spPr bwMode="auto">
          <a:xfrm>
            <a:off x="685800" y="3429000"/>
            <a:ext cx="5114925"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Grp="1" noChangeAspect="1" noChangeArrowheads="1"/>
          </p:cNvPicPr>
          <p:nvPr>
            <p:ph idx="1"/>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p:cNvPicPr>
            <a:picLocks noGrp="1" noChangeAspect="1" noChangeArrowheads="1"/>
          </p:cNvPicPr>
          <p:nvPr>
            <p:ph idx="1"/>
          </p:nvPr>
        </p:nvPicPr>
        <p:blipFill>
          <a:blip r:embed="rId2" cstate="print"/>
          <a:srcRect/>
          <a:stretch>
            <a:fillRect/>
          </a:stretch>
        </p:blipFill>
        <p:spPr bwMode="auto">
          <a:xfrm>
            <a:off x="762000" y="457200"/>
            <a:ext cx="7620000"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Grp="1" noChangeAspect="1" noChangeArrowheads="1"/>
          </p:cNvPicPr>
          <p:nvPr>
            <p:ph idx="1"/>
          </p:nvPr>
        </p:nvPicPr>
        <p:blipFill>
          <a:blip r:embed="rId2" cstate="print"/>
          <a:srcRect/>
          <a:stretch>
            <a:fillRect/>
          </a:stretch>
        </p:blipFill>
        <p:spPr bwMode="auto">
          <a:xfrm>
            <a:off x="514350" y="304800"/>
            <a:ext cx="8115300" cy="563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p:cNvPicPr>
            <a:picLocks noGrp="1" noChangeAspect="1" noChangeArrowheads="1"/>
          </p:cNvPicPr>
          <p:nvPr>
            <p:ph idx="1"/>
          </p:nvPr>
        </p:nvPicPr>
        <p:blipFill>
          <a:blip r:embed="rId2" cstate="print"/>
          <a:srcRect/>
          <a:stretch>
            <a:fillRect/>
          </a:stretch>
        </p:blipFill>
        <p:spPr bwMode="auto">
          <a:xfrm>
            <a:off x="661987" y="381000"/>
            <a:ext cx="7820025"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51234" name="Picture 2"/>
          <p:cNvPicPr>
            <a:picLocks noGrp="1" noChangeAspect="1" noChangeArrowheads="1"/>
          </p:cNvPicPr>
          <p:nvPr>
            <p:ph idx="1"/>
          </p:nvPr>
        </p:nvPicPr>
        <p:blipFill>
          <a:blip r:embed="rId2" cstate="print"/>
          <a:srcRect/>
          <a:stretch>
            <a:fillRect/>
          </a:stretch>
        </p:blipFill>
        <p:spPr bwMode="auto">
          <a:xfrm>
            <a:off x="457201" y="381001"/>
            <a:ext cx="8229600" cy="6172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descr="http://www.mhhe.com/engcs/electrical/haytbuck/webfigures/chap1/0106.gif"/>
          <p:cNvPicPr>
            <a:picLocks noChangeAspect="1" noChangeArrowheads="1"/>
          </p:cNvPicPr>
          <p:nvPr/>
        </p:nvPicPr>
        <p:blipFill>
          <a:blip r:embed="rId3" cstate="print"/>
          <a:srcRect/>
          <a:stretch>
            <a:fillRect/>
          </a:stretch>
        </p:blipFill>
        <p:spPr bwMode="auto">
          <a:xfrm>
            <a:off x="609600" y="1143000"/>
            <a:ext cx="5943600" cy="5268913"/>
          </a:xfrm>
          <a:prstGeom prst="rect">
            <a:avLst/>
          </a:prstGeom>
          <a:noFill/>
        </p:spPr>
      </p:pic>
      <p:sp>
        <p:nvSpPr>
          <p:cNvPr id="8196" name="Text Box 4"/>
          <p:cNvSpPr txBox="1">
            <a:spLocks noChangeArrowheads="1"/>
          </p:cNvSpPr>
          <p:nvPr/>
        </p:nvSpPr>
        <p:spPr bwMode="auto">
          <a:xfrm>
            <a:off x="517525" y="269875"/>
            <a:ext cx="5027613" cy="457200"/>
          </a:xfrm>
          <a:prstGeom prst="rect">
            <a:avLst/>
          </a:prstGeom>
          <a:noFill/>
          <a:ln w="9525">
            <a:noFill/>
            <a:miter lim="800000"/>
            <a:headEnd/>
            <a:tailEnd/>
          </a:ln>
          <a:effectLst/>
        </p:spPr>
        <p:txBody>
          <a:bodyPr wrap="none">
            <a:spAutoFit/>
          </a:bodyPr>
          <a:lstStyle/>
          <a:p>
            <a:r>
              <a:rPr lang="en-US" sz="2400">
                <a:latin typeface="Times New Roman" pitchFamily="18" charset="0"/>
              </a:rPr>
              <a:t>Circular Cylindrical Coordinate System</a:t>
            </a:r>
          </a:p>
        </p:txBody>
      </p:sp>
      <p:sp>
        <p:nvSpPr>
          <p:cNvPr id="8197" name="Text Box 5"/>
          <p:cNvSpPr txBox="1">
            <a:spLocks noChangeArrowheads="1"/>
          </p:cNvSpPr>
          <p:nvPr/>
        </p:nvSpPr>
        <p:spPr bwMode="auto">
          <a:xfrm>
            <a:off x="6096000" y="3886200"/>
            <a:ext cx="2149475" cy="2225675"/>
          </a:xfrm>
          <a:prstGeom prst="rect">
            <a:avLst/>
          </a:prstGeom>
          <a:noFill/>
          <a:ln w="9525">
            <a:noFill/>
            <a:miter lim="800000"/>
            <a:headEnd/>
            <a:tailEnd/>
          </a:ln>
          <a:effectLst/>
        </p:spPr>
        <p:txBody>
          <a:bodyPr>
            <a:spAutoFit/>
          </a:bodyPr>
          <a:lstStyle/>
          <a:p>
            <a:r>
              <a:rPr lang="en-US" sz="2000">
                <a:latin typeface="Times New Roman" pitchFamily="18" charset="0"/>
              </a:rPr>
              <a:t>1 - Unit Vector</a:t>
            </a:r>
          </a:p>
          <a:p>
            <a:r>
              <a:rPr lang="en-US" sz="2000">
                <a:latin typeface="Times New Roman" pitchFamily="18" charset="0"/>
              </a:rPr>
              <a:t> vary with </a:t>
            </a:r>
          </a:p>
          <a:p>
            <a:r>
              <a:rPr lang="en-US" sz="2000">
                <a:latin typeface="Times New Roman" pitchFamily="18" charset="0"/>
              </a:rPr>
              <a:t>The coordinate </a:t>
            </a:r>
            <a:r>
              <a:rPr lang="en-US" sz="2000">
                <a:latin typeface="Symbol" pitchFamily="18" charset="2"/>
              </a:rPr>
              <a:t>f</a:t>
            </a:r>
          </a:p>
          <a:p>
            <a:r>
              <a:rPr lang="en-US" sz="2000">
                <a:latin typeface="Times New Roman" pitchFamily="18" charset="0"/>
              </a:rPr>
              <a:t>Since direction changes</a:t>
            </a:r>
          </a:p>
          <a:p>
            <a:endParaRPr lang="en-US" sz="2000">
              <a:latin typeface="Times New Roman" pitchFamily="18" charset="0"/>
            </a:endParaRPr>
          </a:p>
          <a:p>
            <a:r>
              <a:rPr lang="en-US" sz="2000">
                <a:latin typeface="Times New Roman" pitchFamily="18" charset="0"/>
              </a:rPr>
              <a:t>2 – Dot Product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Grp="1" noChangeAspect="1" noChangeArrowheads="1"/>
          </p:cNvPicPr>
          <p:nvPr>
            <p:ph idx="1"/>
          </p:nvPr>
        </p:nvPicPr>
        <p:blipFill>
          <a:blip r:embed="rId2" cstate="print"/>
          <a:srcRect/>
          <a:stretch>
            <a:fillRect/>
          </a:stretch>
        </p:blipFill>
        <p:spPr bwMode="auto">
          <a:xfrm>
            <a:off x="533400" y="533400"/>
            <a:ext cx="8229600" cy="571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Grp="1" noChangeAspect="1" noChangeArrowheads="1"/>
          </p:cNvPicPr>
          <p:nvPr>
            <p:ph idx="1"/>
          </p:nvPr>
        </p:nvPicPr>
        <p:blipFill>
          <a:blip r:embed="rId2" cstate="print"/>
          <a:srcRect/>
          <a:stretch>
            <a:fillRect/>
          </a:stretch>
        </p:blipFill>
        <p:spPr bwMode="auto">
          <a:xfrm>
            <a:off x="152400" y="457200"/>
            <a:ext cx="8839200" cy="609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Grp="1" noChangeAspect="1" noChangeArrowheads="1"/>
          </p:cNvPicPr>
          <p:nvPr>
            <p:ph idx="1"/>
          </p:nvPr>
        </p:nvPicPr>
        <p:blipFill>
          <a:blip r:embed="rId2" cstate="print"/>
          <a:srcRect/>
          <a:stretch>
            <a:fillRect/>
          </a:stretch>
        </p:blipFill>
        <p:spPr bwMode="auto">
          <a:xfrm>
            <a:off x="457200" y="228600"/>
            <a:ext cx="8229600" cy="586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1" name="Picture 1"/>
          <p:cNvPicPr>
            <a:picLocks noGrp="1" noChangeAspect="1" noChangeArrowheads="1"/>
          </p:cNvPicPr>
          <p:nvPr>
            <p:ph idx="1"/>
          </p:nvPr>
        </p:nvPicPr>
        <p:blipFill>
          <a:blip r:embed="rId2" cstate="print"/>
          <a:srcRect/>
          <a:stretch>
            <a:fillRect/>
          </a:stretch>
        </p:blipFill>
        <p:spPr bwMode="auto">
          <a:xfrm>
            <a:off x="914400" y="990600"/>
            <a:ext cx="3810000" cy="4744244"/>
          </a:xfrm>
          <a:prstGeom prst="rect">
            <a:avLst/>
          </a:prstGeom>
          <a:noFill/>
          <a:ln w="9525">
            <a:noFill/>
            <a:miter lim="800000"/>
            <a:headEnd/>
            <a:tailEnd/>
          </a:ln>
        </p:spPr>
      </p:pic>
      <p:pic>
        <p:nvPicPr>
          <p:cNvPr id="117762" name="Picture 2"/>
          <p:cNvPicPr>
            <a:picLocks noChangeAspect="1" noChangeArrowheads="1"/>
          </p:cNvPicPr>
          <p:nvPr/>
        </p:nvPicPr>
        <p:blipFill>
          <a:blip r:embed="rId3" cstate="print"/>
          <a:srcRect/>
          <a:stretch>
            <a:fillRect/>
          </a:stretch>
        </p:blipFill>
        <p:spPr bwMode="auto">
          <a:xfrm>
            <a:off x="5257801" y="895350"/>
            <a:ext cx="3429000" cy="506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7" name="Picture 1"/>
          <p:cNvPicPr>
            <a:picLocks noGrp="1" noChangeAspect="1" noChangeArrowheads="1"/>
          </p:cNvPicPr>
          <p:nvPr>
            <p:ph idx="1"/>
          </p:nvPr>
        </p:nvPicPr>
        <p:blipFill>
          <a:blip r:embed="rId2" cstate="print"/>
          <a:srcRect/>
          <a:stretch>
            <a:fillRect/>
          </a:stretch>
        </p:blipFill>
        <p:spPr bwMode="auto">
          <a:xfrm>
            <a:off x="1066800" y="152400"/>
            <a:ext cx="6096000" cy="1600200"/>
          </a:xfrm>
          <a:prstGeom prst="rect">
            <a:avLst/>
          </a:prstGeom>
          <a:noFill/>
          <a:ln w="9525">
            <a:noFill/>
            <a:miter lim="800000"/>
            <a:headEnd/>
            <a:tailEnd/>
          </a:ln>
        </p:spPr>
      </p:pic>
      <p:pic>
        <p:nvPicPr>
          <p:cNvPr id="116738" name="Picture 2"/>
          <p:cNvPicPr>
            <a:picLocks noChangeAspect="1" noChangeArrowheads="1"/>
          </p:cNvPicPr>
          <p:nvPr/>
        </p:nvPicPr>
        <p:blipFill>
          <a:blip r:embed="rId3" cstate="print"/>
          <a:srcRect/>
          <a:stretch>
            <a:fillRect/>
          </a:stretch>
        </p:blipFill>
        <p:spPr bwMode="auto">
          <a:xfrm>
            <a:off x="2971800" y="1600200"/>
            <a:ext cx="3886200" cy="1914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p:cNvPicPr>
            <a:picLocks noGrp="1" noChangeAspect="1" noChangeArrowheads="1"/>
          </p:cNvPicPr>
          <p:nvPr>
            <p:ph idx="1"/>
          </p:nvPr>
        </p:nvPicPr>
        <p:blipFill>
          <a:blip r:embed="rId2" cstate="print"/>
          <a:srcRect/>
          <a:stretch>
            <a:fillRect/>
          </a:stretch>
        </p:blipFill>
        <p:spPr bwMode="auto">
          <a:xfrm>
            <a:off x="490537" y="381000"/>
            <a:ext cx="8162925" cy="6248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4" name="Picture 2"/>
          <p:cNvPicPr>
            <a:picLocks noGrp="1" noChangeAspect="1" noChangeArrowheads="1"/>
          </p:cNvPicPr>
          <p:nvPr>
            <p:ph idx="1"/>
          </p:nvPr>
        </p:nvPicPr>
        <p:blipFill>
          <a:blip r:embed="rId2" cstate="print"/>
          <a:srcRect/>
          <a:stretch>
            <a:fillRect/>
          </a:stretch>
        </p:blipFill>
        <p:spPr bwMode="auto">
          <a:xfrm>
            <a:off x="457200" y="381000"/>
            <a:ext cx="82296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p:cNvPicPr>
            <a:picLocks noGrp="1" noChangeAspect="1" noChangeArrowheads="1"/>
          </p:cNvPicPr>
          <p:nvPr>
            <p:ph idx="1"/>
          </p:nvPr>
        </p:nvPicPr>
        <p:blipFill>
          <a:blip r:embed="rId2" cstate="print"/>
          <a:srcRect/>
          <a:stretch>
            <a:fillRect/>
          </a:stretch>
        </p:blipFill>
        <p:spPr bwMode="auto">
          <a:xfrm>
            <a:off x="581025" y="609600"/>
            <a:ext cx="798195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http://www.mhhe.com/engcs/electrical/haytbuck/webfigures/chap1/hay04243_0107.jpg"/>
          <p:cNvPicPr>
            <a:picLocks noChangeAspect="1" noChangeArrowheads="1"/>
          </p:cNvPicPr>
          <p:nvPr/>
        </p:nvPicPr>
        <p:blipFill>
          <a:blip r:embed="rId3" cstate="print"/>
          <a:srcRect/>
          <a:stretch>
            <a:fillRect/>
          </a:stretch>
        </p:blipFill>
        <p:spPr bwMode="auto">
          <a:xfrm>
            <a:off x="0" y="1600200"/>
            <a:ext cx="4419600" cy="4167188"/>
          </a:xfrm>
          <a:prstGeom prst="rect">
            <a:avLst/>
          </a:prstGeom>
          <a:noFill/>
        </p:spPr>
      </p:pic>
      <p:sp>
        <p:nvSpPr>
          <p:cNvPr id="9220" name="Text Box 4"/>
          <p:cNvSpPr txBox="1">
            <a:spLocks noChangeArrowheads="1"/>
          </p:cNvSpPr>
          <p:nvPr/>
        </p:nvSpPr>
        <p:spPr bwMode="auto">
          <a:xfrm>
            <a:off x="517525" y="269875"/>
            <a:ext cx="5027613" cy="457200"/>
          </a:xfrm>
          <a:prstGeom prst="rect">
            <a:avLst/>
          </a:prstGeom>
          <a:noFill/>
          <a:ln w="9525">
            <a:noFill/>
            <a:miter lim="800000"/>
            <a:headEnd/>
            <a:tailEnd/>
          </a:ln>
          <a:effectLst/>
        </p:spPr>
        <p:txBody>
          <a:bodyPr wrap="none">
            <a:spAutoFit/>
          </a:bodyPr>
          <a:lstStyle/>
          <a:p>
            <a:r>
              <a:rPr lang="en-US" sz="2400">
                <a:latin typeface="Times New Roman" pitchFamily="18" charset="0"/>
              </a:rPr>
              <a:t>Circular Cylindrical Coordinate System</a:t>
            </a:r>
          </a:p>
        </p:txBody>
      </p:sp>
      <p:sp>
        <p:nvSpPr>
          <p:cNvPr id="9225" name="Text Box 9"/>
          <p:cNvSpPr txBox="1">
            <a:spLocks noChangeArrowheads="1"/>
          </p:cNvSpPr>
          <p:nvPr/>
        </p:nvSpPr>
        <p:spPr bwMode="auto">
          <a:xfrm>
            <a:off x="4419600" y="2743200"/>
            <a:ext cx="1665288" cy="457200"/>
          </a:xfrm>
          <a:prstGeom prst="rect">
            <a:avLst/>
          </a:prstGeom>
          <a:noFill/>
          <a:ln w="9525">
            <a:noFill/>
            <a:miter lim="800000"/>
            <a:headEnd/>
            <a:tailEnd/>
          </a:ln>
          <a:effectLst/>
        </p:spPr>
        <p:txBody>
          <a:bodyPr wrap="none">
            <a:spAutoFit/>
          </a:bodyPr>
          <a:lstStyle/>
          <a:p>
            <a:r>
              <a:rPr lang="en-US" sz="2400">
                <a:latin typeface="Times New Roman" pitchFamily="18" charset="0"/>
              </a:rPr>
              <a:t>Dot Product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IN" sz="2800" dirty="0" smtClean="0"/>
              <a:t>Spherical co-ordinate system</a:t>
            </a:r>
            <a:endParaRPr lang="en-IN" sz="2800" dirty="0"/>
          </a:p>
        </p:txBody>
      </p:sp>
      <p:sp>
        <p:nvSpPr>
          <p:cNvPr id="3" name="Content Placeholder 2"/>
          <p:cNvSpPr>
            <a:spLocks noGrp="1"/>
          </p:cNvSpPr>
          <p:nvPr>
            <p:ph idx="1"/>
          </p:nvPr>
        </p:nvSpPr>
        <p:spPr>
          <a:xfrm>
            <a:off x="457200" y="838200"/>
            <a:ext cx="8229600" cy="5287963"/>
          </a:xfrm>
        </p:spPr>
        <p:txBody>
          <a:bodyPr/>
          <a:lstStyle/>
          <a:p>
            <a:endParaRPr lang="en-IN" dirty="0"/>
          </a:p>
        </p:txBody>
      </p:sp>
      <p:pic>
        <p:nvPicPr>
          <p:cNvPr id="115713" name="Picture 1"/>
          <p:cNvPicPr>
            <a:picLocks noChangeAspect="1" noChangeArrowheads="1"/>
          </p:cNvPicPr>
          <p:nvPr/>
        </p:nvPicPr>
        <p:blipFill>
          <a:blip r:embed="rId2" cstate="print"/>
          <a:srcRect/>
          <a:stretch>
            <a:fillRect/>
          </a:stretch>
        </p:blipFill>
        <p:spPr bwMode="auto">
          <a:xfrm>
            <a:off x="557213" y="838200"/>
            <a:ext cx="8029575"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Grp="1" noChangeAspect="1" noChangeArrowheads="1"/>
          </p:cNvPicPr>
          <p:nvPr>
            <p:ph idx="1"/>
          </p:nvPr>
        </p:nvPicPr>
        <p:blipFill>
          <a:blip r:embed="rId2" cstate="print"/>
          <a:srcRect/>
          <a:stretch>
            <a:fillRect/>
          </a:stretch>
        </p:blipFill>
        <p:spPr bwMode="auto">
          <a:xfrm>
            <a:off x="914400" y="609600"/>
            <a:ext cx="6858000" cy="50442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0033" name="Picture 1"/>
          <p:cNvPicPr>
            <a:picLocks noGrp="1" noChangeAspect="1" noChangeArrowheads="1"/>
          </p:cNvPicPr>
          <p:nvPr>
            <p:ph idx="1"/>
          </p:nvPr>
        </p:nvPicPr>
        <p:blipFill>
          <a:blip r:embed="rId2" cstate="print"/>
          <a:srcRect/>
          <a:stretch>
            <a:fillRect/>
          </a:stretch>
        </p:blipFill>
        <p:spPr bwMode="auto">
          <a:xfrm>
            <a:off x="381000" y="304800"/>
            <a:ext cx="8458200" cy="59435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p:cNvPicPr>
            <a:picLocks noGrp="1" noChangeAspect="1" noChangeArrowheads="1"/>
          </p:cNvPicPr>
          <p:nvPr>
            <p:ph idx="1"/>
          </p:nvPr>
        </p:nvPicPr>
        <p:blipFill>
          <a:blip r:embed="rId2" cstate="print"/>
          <a:srcRect/>
          <a:stretch>
            <a:fillRect/>
          </a:stretch>
        </p:blipFill>
        <p:spPr bwMode="auto">
          <a:xfrm>
            <a:off x="457200" y="457200"/>
            <a:ext cx="7696199"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descr="http://www.mhhe.com/engcs/electrical/haytbuck/webfigures/chap1/hay04243_0108.jpg"/>
          <p:cNvPicPr>
            <a:picLocks noChangeAspect="1" noChangeArrowheads="1"/>
          </p:cNvPicPr>
          <p:nvPr/>
        </p:nvPicPr>
        <p:blipFill>
          <a:blip r:embed="rId3" cstate="print"/>
          <a:srcRect/>
          <a:stretch>
            <a:fillRect/>
          </a:stretch>
        </p:blipFill>
        <p:spPr bwMode="auto">
          <a:xfrm>
            <a:off x="838200" y="1143000"/>
            <a:ext cx="5413375" cy="5434013"/>
          </a:xfrm>
          <a:prstGeom prst="rect">
            <a:avLst/>
          </a:prstGeom>
          <a:noFill/>
        </p:spPr>
      </p:pic>
      <p:sp>
        <p:nvSpPr>
          <p:cNvPr id="10244" name="Text Box 4"/>
          <p:cNvSpPr txBox="1">
            <a:spLocks noChangeArrowheads="1"/>
          </p:cNvSpPr>
          <p:nvPr/>
        </p:nvSpPr>
        <p:spPr bwMode="auto">
          <a:xfrm>
            <a:off x="517525" y="346075"/>
            <a:ext cx="4284663" cy="457200"/>
          </a:xfrm>
          <a:prstGeom prst="rect">
            <a:avLst/>
          </a:prstGeom>
          <a:noFill/>
          <a:ln w="9525">
            <a:noFill/>
            <a:miter lim="800000"/>
            <a:headEnd/>
            <a:tailEnd/>
          </a:ln>
          <a:effectLst/>
        </p:spPr>
        <p:txBody>
          <a:bodyPr wrap="none">
            <a:spAutoFit/>
          </a:bodyPr>
          <a:lstStyle/>
          <a:p>
            <a:r>
              <a:rPr lang="en-US" sz="2400">
                <a:latin typeface="Times New Roman" pitchFamily="18" charset="0"/>
              </a:rPr>
              <a:t>The Spherical Coordinate System</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p:cNvSpPr txBox="1">
            <a:spLocks noChangeArrowheads="1"/>
          </p:cNvSpPr>
          <p:nvPr/>
        </p:nvSpPr>
        <p:spPr bwMode="auto">
          <a:xfrm>
            <a:off x="517525" y="346075"/>
            <a:ext cx="4284663" cy="457200"/>
          </a:xfrm>
          <a:prstGeom prst="rect">
            <a:avLst/>
          </a:prstGeom>
          <a:noFill/>
          <a:ln w="9525">
            <a:noFill/>
            <a:miter lim="800000"/>
            <a:headEnd/>
            <a:tailEnd/>
          </a:ln>
          <a:effectLst/>
        </p:spPr>
        <p:txBody>
          <a:bodyPr wrap="none">
            <a:spAutoFit/>
          </a:bodyPr>
          <a:lstStyle/>
          <a:p>
            <a:r>
              <a:rPr lang="en-US" sz="2400">
                <a:latin typeface="Times New Roman" pitchFamily="18" charset="0"/>
              </a:rPr>
              <a:t>The Spherical Coordinate System</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p:cNvPicPr>
            <a:picLocks noGrp="1" noChangeAspect="1" noChangeArrowheads="1"/>
          </p:cNvPicPr>
          <p:nvPr>
            <p:ph idx="1"/>
          </p:nvPr>
        </p:nvPicPr>
        <p:blipFill>
          <a:blip r:embed="rId2" cstate="print"/>
          <a:srcRect/>
          <a:stretch>
            <a:fillRect/>
          </a:stretch>
        </p:blipFill>
        <p:spPr bwMode="auto">
          <a:xfrm>
            <a:off x="381000" y="304800"/>
            <a:ext cx="8172450" cy="2286000"/>
          </a:xfrm>
          <a:prstGeom prst="rect">
            <a:avLst/>
          </a:prstGeom>
          <a:noFill/>
          <a:ln w="9525">
            <a:noFill/>
            <a:miter lim="800000"/>
            <a:headEnd/>
            <a:tailEnd/>
          </a:ln>
        </p:spPr>
      </p:pic>
      <p:pic>
        <p:nvPicPr>
          <p:cNvPr id="160771" name="Picture 3"/>
          <p:cNvPicPr>
            <a:picLocks noChangeAspect="1" noChangeArrowheads="1"/>
          </p:cNvPicPr>
          <p:nvPr/>
        </p:nvPicPr>
        <p:blipFill>
          <a:blip r:embed="rId3" cstate="print"/>
          <a:srcRect/>
          <a:stretch>
            <a:fillRect/>
          </a:stretch>
        </p:blipFill>
        <p:spPr bwMode="auto">
          <a:xfrm>
            <a:off x="381000" y="1524000"/>
            <a:ext cx="81915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Grp="1" noChangeAspect="1" noChangeArrowheads="1"/>
          </p:cNvPicPr>
          <p:nvPr>
            <p:ph idx="1"/>
          </p:nvPr>
        </p:nvPicPr>
        <p:blipFill>
          <a:blip r:embed="rId2" cstate="print"/>
          <a:srcRect/>
          <a:stretch>
            <a:fillRect/>
          </a:stretch>
        </p:blipFill>
        <p:spPr bwMode="auto">
          <a:xfrm>
            <a:off x="471487" y="0"/>
            <a:ext cx="8201025" cy="655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p:cNvPicPr>
            <a:picLocks noGrp="1" noChangeAspect="1" noChangeArrowheads="1"/>
          </p:cNvPicPr>
          <p:nvPr>
            <p:ph idx="1"/>
          </p:nvPr>
        </p:nvPicPr>
        <p:blipFill>
          <a:blip r:embed="rId2" cstate="print"/>
          <a:srcRect/>
          <a:stretch>
            <a:fillRect/>
          </a:stretch>
        </p:blipFill>
        <p:spPr bwMode="auto">
          <a:xfrm>
            <a:off x="457200" y="685800"/>
            <a:ext cx="7991475" cy="2143125"/>
          </a:xfrm>
          <a:prstGeom prst="rect">
            <a:avLst/>
          </a:prstGeom>
          <a:noFill/>
          <a:ln w="9525">
            <a:noFill/>
            <a:miter lim="800000"/>
            <a:headEnd/>
            <a:tailEnd/>
          </a:ln>
        </p:spPr>
      </p:pic>
      <p:pic>
        <p:nvPicPr>
          <p:cNvPr id="162819" name="Picture 3"/>
          <p:cNvPicPr>
            <a:picLocks noChangeAspect="1" noChangeArrowheads="1"/>
          </p:cNvPicPr>
          <p:nvPr/>
        </p:nvPicPr>
        <p:blipFill>
          <a:blip r:embed="rId3" cstate="print"/>
          <a:srcRect/>
          <a:stretch>
            <a:fillRect/>
          </a:stretch>
        </p:blipFill>
        <p:spPr bwMode="auto">
          <a:xfrm>
            <a:off x="1447800" y="2971800"/>
            <a:ext cx="7162800" cy="3886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Grp="1" noChangeAspect="1" noChangeArrowheads="1"/>
          </p:cNvPicPr>
          <p:nvPr>
            <p:ph idx="1"/>
          </p:nvPr>
        </p:nvPicPr>
        <p:blipFill>
          <a:blip r:embed="rId2" cstate="print"/>
          <a:srcRect/>
          <a:stretch>
            <a:fillRect/>
          </a:stretch>
        </p:blipFill>
        <p:spPr bwMode="auto">
          <a:xfrm>
            <a:off x="381000" y="228600"/>
            <a:ext cx="8239125" cy="624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2"/>
          <p:cNvPicPr>
            <a:picLocks noGrp="1" noChangeAspect="1" noChangeArrowheads="1"/>
          </p:cNvPicPr>
          <p:nvPr>
            <p:ph idx="1"/>
          </p:nvPr>
        </p:nvPicPr>
        <p:blipFill>
          <a:blip r:embed="rId2" cstate="print"/>
          <a:srcRect/>
          <a:stretch>
            <a:fillRect/>
          </a:stretch>
        </p:blipFill>
        <p:spPr bwMode="auto">
          <a:xfrm>
            <a:off x="457200" y="457200"/>
            <a:ext cx="8229600"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p:cNvPicPr>
            <a:picLocks noGrp="1" noChangeAspect="1" noChangeArrowheads="1"/>
          </p:cNvPicPr>
          <p:nvPr>
            <p:ph idx="1"/>
          </p:nvPr>
        </p:nvPicPr>
        <p:blipFill>
          <a:blip r:embed="rId2" cstate="print"/>
          <a:srcRect/>
          <a:stretch>
            <a:fillRect/>
          </a:stretch>
        </p:blipFill>
        <p:spPr bwMode="auto">
          <a:xfrm>
            <a:off x="1143000" y="304800"/>
            <a:ext cx="6934200" cy="2438400"/>
          </a:xfrm>
          <a:prstGeom prst="rect">
            <a:avLst/>
          </a:prstGeom>
          <a:noFill/>
          <a:ln w="9525">
            <a:noFill/>
            <a:miter lim="800000"/>
            <a:headEnd/>
            <a:tailEnd/>
          </a:ln>
        </p:spPr>
      </p:pic>
      <p:pic>
        <p:nvPicPr>
          <p:cNvPr id="165891" name="Picture 3"/>
          <p:cNvPicPr>
            <a:picLocks noChangeAspect="1" noChangeArrowheads="1"/>
          </p:cNvPicPr>
          <p:nvPr/>
        </p:nvPicPr>
        <p:blipFill>
          <a:blip r:embed="rId3" cstate="print"/>
          <a:srcRect/>
          <a:stretch>
            <a:fillRect/>
          </a:stretch>
        </p:blipFill>
        <p:spPr bwMode="auto">
          <a:xfrm>
            <a:off x="304800" y="2286000"/>
            <a:ext cx="8372475"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Grp="1" noChangeAspect="1" noChangeArrowheads="1"/>
          </p:cNvPicPr>
          <p:nvPr>
            <p:ph idx="1"/>
          </p:nvPr>
        </p:nvPicPr>
        <p:blipFill>
          <a:blip r:embed="rId2" cstate="print"/>
          <a:srcRect/>
          <a:stretch>
            <a:fillRect/>
          </a:stretch>
        </p:blipFill>
        <p:spPr bwMode="auto">
          <a:xfrm>
            <a:off x="838200" y="533400"/>
            <a:ext cx="7315200" cy="579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p:cNvPicPr>
            <a:picLocks noGrp="1" noChangeAspect="1" noChangeArrowheads="1"/>
          </p:cNvPicPr>
          <p:nvPr>
            <p:ph idx="1"/>
          </p:nvPr>
        </p:nvPicPr>
        <p:blipFill>
          <a:blip r:embed="rId2" cstate="print"/>
          <a:srcRect/>
          <a:stretch>
            <a:fillRect/>
          </a:stretch>
        </p:blipFill>
        <p:spPr bwMode="auto">
          <a:xfrm>
            <a:off x="381000" y="152400"/>
            <a:ext cx="8229599" cy="617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Grp="1" noChangeAspect="1" noChangeArrowheads="1"/>
          </p:cNvPicPr>
          <p:nvPr>
            <p:ph idx="1"/>
          </p:nvPr>
        </p:nvPicPr>
        <p:blipFill>
          <a:blip r:embed="rId2" cstate="print"/>
          <a:srcRect/>
          <a:stretch>
            <a:fillRect/>
          </a:stretch>
        </p:blipFill>
        <p:spPr bwMode="auto">
          <a:xfrm>
            <a:off x="762000" y="304800"/>
            <a:ext cx="7848600" cy="563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p:cNvPicPr>
            <a:picLocks noGrp="1" noChangeAspect="1" noChangeArrowheads="1"/>
          </p:cNvPicPr>
          <p:nvPr>
            <p:ph idx="1"/>
          </p:nvPr>
        </p:nvPicPr>
        <p:blipFill>
          <a:blip r:embed="rId2" cstate="print"/>
          <a:srcRect/>
          <a:stretch>
            <a:fillRect/>
          </a:stretch>
        </p:blipFill>
        <p:spPr bwMode="auto">
          <a:xfrm>
            <a:off x="0" y="0"/>
            <a:ext cx="9143999"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0" name="Picture 2"/>
          <p:cNvPicPr>
            <a:picLocks noGrp="1" noChangeAspect="1" noChangeArrowheads="1"/>
          </p:cNvPicPr>
          <p:nvPr>
            <p:ph idx="1"/>
          </p:nvPr>
        </p:nvPicPr>
        <p:blipFill>
          <a:blip r:embed="rId2" cstate="print"/>
          <a:srcRect/>
          <a:stretch>
            <a:fillRect/>
          </a:stretch>
        </p:blipFill>
        <p:spPr bwMode="auto">
          <a:xfrm>
            <a:off x="228600" y="228600"/>
            <a:ext cx="8686800" cy="632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p:cNvPicPr>
            <a:picLocks noGrp="1" noChangeAspect="1" noChangeArrowheads="1"/>
          </p:cNvPicPr>
          <p:nvPr>
            <p:ph idx="1"/>
          </p:nvPr>
        </p:nvPicPr>
        <p:blipFill>
          <a:blip r:embed="rId2" cstate="print"/>
          <a:srcRect/>
          <a:stretch>
            <a:fillRect/>
          </a:stretch>
        </p:blipFill>
        <p:spPr bwMode="auto">
          <a:xfrm>
            <a:off x="609600" y="152400"/>
            <a:ext cx="7620000" cy="2514600"/>
          </a:xfrm>
          <a:prstGeom prst="rect">
            <a:avLst/>
          </a:prstGeom>
          <a:noFill/>
          <a:ln w="9525">
            <a:noFill/>
            <a:miter lim="800000"/>
            <a:headEnd/>
            <a:tailEnd/>
          </a:ln>
        </p:spPr>
      </p:pic>
      <p:pic>
        <p:nvPicPr>
          <p:cNvPr id="172035" name="Picture 3"/>
          <p:cNvPicPr>
            <a:picLocks noChangeAspect="1" noChangeArrowheads="1"/>
          </p:cNvPicPr>
          <p:nvPr/>
        </p:nvPicPr>
        <p:blipFill>
          <a:blip r:embed="rId3" cstate="print"/>
          <a:srcRect/>
          <a:stretch>
            <a:fillRect/>
          </a:stretch>
        </p:blipFill>
        <p:spPr bwMode="auto">
          <a:xfrm>
            <a:off x="1371600" y="2667000"/>
            <a:ext cx="7239000" cy="28955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p:cNvPicPr>
            <a:picLocks noGrp="1" noChangeAspect="1" noChangeArrowheads="1"/>
          </p:cNvPicPr>
          <p:nvPr>
            <p:ph idx="1"/>
          </p:nvPr>
        </p:nvPicPr>
        <p:blipFill>
          <a:blip r:embed="rId2" cstate="print"/>
          <a:srcRect/>
          <a:stretch>
            <a:fillRect/>
          </a:stretch>
        </p:blipFill>
        <p:spPr bwMode="auto">
          <a:xfrm>
            <a:off x="381000" y="0"/>
            <a:ext cx="8305800" cy="655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Grp="1" noChangeAspect="1" noChangeArrowheads="1"/>
          </p:cNvPicPr>
          <p:nvPr>
            <p:ph idx="1"/>
          </p:nvPr>
        </p:nvPicPr>
        <p:blipFill>
          <a:blip r:embed="rId2" cstate="print"/>
          <a:srcRect/>
          <a:stretch>
            <a:fillRect/>
          </a:stretch>
        </p:blipFill>
        <p:spPr bwMode="auto">
          <a:xfrm>
            <a:off x="685800" y="0"/>
            <a:ext cx="8077200" cy="3657600"/>
          </a:xfrm>
          <a:prstGeom prst="rect">
            <a:avLst/>
          </a:prstGeom>
          <a:noFill/>
          <a:ln w="9525">
            <a:noFill/>
            <a:miter lim="800000"/>
            <a:headEnd/>
            <a:tailEnd/>
          </a:ln>
        </p:spPr>
      </p:pic>
      <p:pic>
        <p:nvPicPr>
          <p:cNvPr id="174083" name="Picture 3"/>
          <p:cNvPicPr>
            <a:picLocks noChangeAspect="1" noChangeArrowheads="1"/>
          </p:cNvPicPr>
          <p:nvPr/>
        </p:nvPicPr>
        <p:blipFill>
          <a:blip r:embed="rId3" cstate="print"/>
          <a:srcRect/>
          <a:stretch>
            <a:fillRect/>
          </a:stretch>
        </p:blipFill>
        <p:spPr bwMode="auto">
          <a:xfrm>
            <a:off x="1219200" y="3429000"/>
            <a:ext cx="6781800" cy="2209800"/>
          </a:xfrm>
          <a:prstGeom prst="rect">
            <a:avLst/>
          </a:prstGeom>
          <a:noFill/>
          <a:ln w="9525">
            <a:noFill/>
            <a:miter lim="800000"/>
            <a:headEnd/>
            <a:tailEnd/>
          </a:ln>
        </p:spPr>
      </p:pic>
      <p:pic>
        <p:nvPicPr>
          <p:cNvPr id="174084" name="Picture 4"/>
          <p:cNvPicPr>
            <a:picLocks noChangeAspect="1" noChangeArrowheads="1"/>
          </p:cNvPicPr>
          <p:nvPr/>
        </p:nvPicPr>
        <p:blipFill>
          <a:blip r:embed="rId4" cstate="print"/>
          <a:srcRect/>
          <a:stretch>
            <a:fillRect/>
          </a:stretch>
        </p:blipFill>
        <p:spPr bwMode="auto">
          <a:xfrm>
            <a:off x="2286000" y="5181600"/>
            <a:ext cx="1057275" cy="419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Grp="1" noChangeAspect="1" noChangeArrowheads="1"/>
          </p:cNvPicPr>
          <p:nvPr>
            <p:ph idx="1"/>
          </p:nvPr>
        </p:nvPicPr>
        <p:blipFill>
          <a:blip r:embed="rId2" cstate="print"/>
          <a:srcRect/>
          <a:stretch>
            <a:fillRect/>
          </a:stretch>
        </p:blipFill>
        <p:spPr bwMode="auto">
          <a:xfrm>
            <a:off x="990601" y="152400"/>
            <a:ext cx="7239000" cy="5486400"/>
          </a:xfrm>
          <a:prstGeom prst="rect">
            <a:avLst/>
          </a:prstGeom>
          <a:noFill/>
          <a:ln w="9525">
            <a:noFill/>
            <a:miter lim="800000"/>
            <a:headEnd/>
            <a:tailEnd/>
          </a:ln>
        </p:spPr>
      </p:pic>
      <p:pic>
        <p:nvPicPr>
          <p:cNvPr id="175110" name="Picture 6"/>
          <p:cNvPicPr>
            <a:picLocks noChangeAspect="1" noChangeArrowheads="1"/>
          </p:cNvPicPr>
          <p:nvPr/>
        </p:nvPicPr>
        <p:blipFill>
          <a:blip r:embed="rId3" cstate="print"/>
          <a:srcRect/>
          <a:stretch>
            <a:fillRect/>
          </a:stretch>
        </p:blipFill>
        <p:spPr bwMode="auto">
          <a:xfrm>
            <a:off x="1143000" y="2362200"/>
            <a:ext cx="457200" cy="352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0" name="Picture 2"/>
          <p:cNvPicPr>
            <a:picLocks noGrp="1" noChangeAspect="1" noChangeArrowheads="1"/>
          </p:cNvPicPr>
          <p:nvPr>
            <p:ph idx="1"/>
          </p:nvPr>
        </p:nvPicPr>
        <p:blipFill>
          <a:blip r:embed="rId2" cstate="print"/>
          <a:srcRect/>
          <a:stretch>
            <a:fillRect/>
          </a:stretch>
        </p:blipFill>
        <p:spPr bwMode="auto">
          <a:xfrm>
            <a:off x="914400" y="0"/>
            <a:ext cx="69342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4" name="Picture 2"/>
          <p:cNvPicPr>
            <a:picLocks noGrp="1" noChangeAspect="1" noChangeArrowheads="1"/>
          </p:cNvPicPr>
          <p:nvPr>
            <p:ph idx="1"/>
          </p:nvPr>
        </p:nvPicPr>
        <p:blipFill>
          <a:blip r:embed="rId2" cstate="print"/>
          <a:srcRect/>
          <a:stretch>
            <a:fillRect/>
          </a:stretch>
        </p:blipFill>
        <p:spPr bwMode="auto">
          <a:xfrm>
            <a:off x="685801" y="228600"/>
            <a:ext cx="7620000" cy="60197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Picture 2"/>
          <p:cNvPicPr>
            <a:picLocks noGrp="1" noChangeAspect="1" noChangeArrowheads="1"/>
          </p:cNvPicPr>
          <p:nvPr>
            <p:ph idx="1"/>
          </p:nvPr>
        </p:nvPicPr>
        <p:blipFill>
          <a:blip r:embed="rId2" cstate="print"/>
          <a:srcRect/>
          <a:stretch>
            <a:fillRect/>
          </a:stretch>
        </p:blipFill>
        <p:spPr bwMode="auto">
          <a:xfrm>
            <a:off x="990600" y="304800"/>
            <a:ext cx="7010400"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DIVERGENCE THEOREM</a:t>
            </a:r>
            <a:endParaRPr lang="en-IN" dirty="0"/>
          </a:p>
        </p:txBody>
      </p:sp>
      <p:sp>
        <p:nvSpPr>
          <p:cNvPr id="3" name="Content Placeholder 2"/>
          <p:cNvSpPr>
            <a:spLocks noGrp="1"/>
          </p:cNvSpPr>
          <p:nvPr>
            <p:ph idx="1"/>
          </p:nvPr>
        </p:nvSpPr>
        <p:spPr>
          <a:xfrm>
            <a:off x="457200" y="1219200"/>
            <a:ext cx="8229600" cy="5410199"/>
          </a:xfrm>
        </p:spPr>
        <p:txBody>
          <a:bodyPr/>
          <a:lstStyle/>
          <a:p>
            <a:r>
              <a:rPr lang="en-US" sz="3600" dirty="0" smtClean="0"/>
              <a:t>Thus, the Divergence Theorem states that:</a:t>
            </a:r>
          </a:p>
          <a:p>
            <a:pPr lvl="1"/>
            <a:endParaRPr lang="en-US" sz="2600" dirty="0" smtClean="0"/>
          </a:p>
          <a:p>
            <a:pPr lvl="1"/>
            <a:r>
              <a:rPr lang="en-US" sz="2600" dirty="0" smtClean="0"/>
              <a:t>Under the given conditions, the flux of </a:t>
            </a:r>
            <a:r>
              <a:rPr lang="en-US" sz="2600" b="1" dirty="0" smtClean="0"/>
              <a:t>F</a:t>
            </a:r>
            <a:r>
              <a:rPr lang="en-US" sz="2600" dirty="0" smtClean="0"/>
              <a:t> </a:t>
            </a:r>
            <a:br>
              <a:rPr lang="en-US" sz="2600" dirty="0" smtClean="0"/>
            </a:br>
            <a:r>
              <a:rPr lang="en-US" sz="2600" dirty="0" smtClean="0"/>
              <a:t>across the boundary surface of </a:t>
            </a:r>
            <a:r>
              <a:rPr lang="en-US" sz="2600" i="1" dirty="0" smtClean="0"/>
              <a:t>E</a:t>
            </a:r>
            <a:r>
              <a:rPr lang="en-US" sz="2600" dirty="0" smtClean="0"/>
              <a:t> is equal </a:t>
            </a:r>
            <a:br>
              <a:rPr lang="en-US" sz="2600" dirty="0" smtClean="0"/>
            </a:br>
            <a:r>
              <a:rPr lang="en-US" sz="2600" dirty="0" smtClean="0"/>
              <a:t>to the triple integral of the divergence of </a:t>
            </a:r>
            <a:r>
              <a:rPr lang="en-US" sz="2600" b="1" dirty="0" smtClean="0"/>
              <a:t>F</a:t>
            </a:r>
            <a:r>
              <a:rPr lang="en-US" sz="2600" dirty="0" smtClean="0"/>
              <a:t> </a:t>
            </a:r>
            <a:br>
              <a:rPr lang="en-US" sz="2600" dirty="0" smtClean="0"/>
            </a:br>
            <a:r>
              <a:rPr lang="en-US" sz="2600" dirty="0" smtClean="0"/>
              <a:t>over </a:t>
            </a:r>
            <a:r>
              <a:rPr lang="en-US" sz="2600" i="1" dirty="0" smtClean="0"/>
              <a:t>E</a:t>
            </a:r>
            <a:r>
              <a:rPr lang="en-US" sz="2600" dirty="0" smtClean="0"/>
              <a:t>.</a:t>
            </a:r>
          </a:p>
          <a:p>
            <a:pPr lvl="1"/>
            <a:endParaRPr lang="en-US" sz="2600" dirty="0" smtClean="0"/>
          </a:p>
          <a:p>
            <a:endParaRPr lang="en-IN"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1800" dirty="0" smtClean="0"/>
              <a:t>THE LINE INTEGRAL OF A VECTOR AROUND A CLOSED PATH IS EQUAL TO THE SURFACE INTEGRAL OF THE NORMAL COMPONENT OF ITS CURL OVER A CLOSED ATH.</a:t>
            </a:r>
            <a:endParaRPr lang="en-IN" sz="1800" dirty="0"/>
          </a:p>
        </p:txBody>
      </p:sp>
      <p:pic>
        <p:nvPicPr>
          <p:cNvPr id="4" name="Picture 8"/>
          <p:cNvPicPr>
            <a:picLocks noGrp="1" noChangeAspect="1" noChangeArrowheads="1"/>
          </p:cNvPicPr>
          <p:nvPr>
            <p:ph idx="1"/>
          </p:nvPr>
        </p:nvPicPr>
        <p:blipFill>
          <a:blip r:embed="rId2" cstate="print"/>
          <a:srcRect/>
          <a:stretch>
            <a:fillRect/>
          </a:stretch>
        </p:blipFill>
        <p:spPr bwMode="auto">
          <a:xfrm>
            <a:off x="1" y="1981200"/>
            <a:ext cx="8915400" cy="335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AF2D18DD-A270-4D4A-92FB-1D3CCC66DB52}" type="slidenum">
              <a:rPr lang="en-US"/>
              <a:pPr/>
              <a:t>77</a:t>
            </a:fld>
            <a:endParaRPr lang="en-US"/>
          </a:p>
        </p:txBody>
      </p:sp>
      <p:sp>
        <p:nvSpPr>
          <p:cNvPr id="112642" name="Rectangle 2"/>
          <p:cNvSpPr>
            <a:spLocks noGrp="1" noRot="1" noChangeArrowheads="1"/>
          </p:cNvSpPr>
          <p:nvPr>
            <p:ph type="title"/>
          </p:nvPr>
        </p:nvSpPr>
        <p:spPr>
          <a:xfrm>
            <a:off x="685800" y="457200"/>
            <a:ext cx="7772400" cy="1143000"/>
          </a:xfrm>
        </p:spPr>
        <p:txBody>
          <a:bodyPr/>
          <a:lstStyle/>
          <a:p>
            <a:r>
              <a:rPr lang="en-US"/>
              <a:t>Electrostatics</a:t>
            </a:r>
          </a:p>
        </p:txBody>
      </p:sp>
      <p:sp>
        <p:nvSpPr>
          <p:cNvPr id="112643" name="Rectangle 3"/>
          <p:cNvSpPr>
            <a:spLocks noGrp="1" noChangeArrowheads="1"/>
          </p:cNvSpPr>
          <p:nvPr>
            <p:ph type="body" idx="1"/>
          </p:nvPr>
        </p:nvSpPr>
        <p:spPr>
          <a:xfrm>
            <a:off x="609600" y="1828800"/>
            <a:ext cx="7772400" cy="4114800"/>
          </a:xfrm>
        </p:spPr>
        <p:txBody>
          <a:bodyPr/>
          <a:lstStyle/>
          <a:p>
            <a:r>
              <a:rPr lang="en-US" b="1" i="1">
                <a:solidFill>
                  <a:schemeClr val="hlink"/>
                </a:solidFill>
                <a:latin typeface="Times New Roman" pitchFamily="18" charset="0"/>
              </a:rPr>
              <a:t>Electrostatics</a:t>
            </a:r>
            <a:r>
              <a:rPr lang="en-US">
                <a:latin typeface="Times New Roman" pitchFamily="18" charset="0"/>
              </a:rPr>
              <a:t> </a:t>
            </a:r>
            <a:r>
              <a:rPr lang="en-US"/>
              <a:t>is the branch of electromagnetics dealing with the effects of electric charges at rest.</a:t>
            </a:r>
          </a:p>
          <a:p>
            <a:r>
              <a:rPr lang="en-US"/>
              <a:t>The fundamental law of </a:t>
            </a:r>
            <a:r>
              <a:rPr lang="en-US" i="1">
                <a:latin typeface="Times New Roman" pitchFamily="18" charset="0"/>
              </a:rPr>
              <a:t>electrostatics</a:t>
            </a:r>
            <a:r>
              <a:rPr lang="en-US"/>
              <a:t> is </a:t>
            </a:r>
            <a:r>
              <a:rPr lang="en-US" b="1" i="1">
                <a:solidFill>
                  <a:schemeClr val="hlink"/>
                </a:solidFill>
                <a:latin typeface="Times New Roman" pitchFamily="18" charset="0"/>
              </a:rPr>
              <a:t>Coulomb’s law</a:t>
            </a:r>
            <a:r>
              <a:rPr lang="en-US"/>
              <a:t>.</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58A0A78F-D357-49EF-BB37-7E58E74AB1FF}" type="slidenum">
              <a:rPr lang="en-US"/>
              <a:pPr/>
              <a:t>78</a:t>
            </a:fld>
            <a:endParaRPr lang="en-US"/>
          </a:p>
        </p:txBody>
      </p:sp>
      <p:sp>
        <p:nvSpPr>
          <p:cNvPr id="113666" name="Rectangle 2"/>
          <p:cNvSpPr>
            <a:spLocks noGrp="1" noRot="1" noChangeArrowheads="1"/>
          </p:cNvSpPr>
          <p:nvPr>
            <p:ph type="title"/>
          </p:nvPr>
        </p:nvSpPr>
        <p:spPr/>
        <p:txBody>
          <a:bodyPr/>
          <a:lstStyle/>
          <a:p>
            <a:r>
              <a:rPr lang="en-US"/>
              <a:t>Electric Charge</a:t>
            </a:r>
          </a:p>
        </p:txBody>
      </p:sp>
      <p:sp>
        <p:nvSpPr>
          <p:cNvPr id="113667" name="Rectangle 3"/>
          <p:cNvSpPr>
            <a:spLocks noGrp="1" noChangeArrowheads="1"/>
          </p:cNvSpPr>
          <p:nvPr>
            <p:ph type="body" idx="1"/>
          </p:nvPr>
        </p:nvSpPr>
        <p:spPr/>
        <p:txBody>
          <a:bodyPr/>
          <a:lstStyle/>
          <a:p>
            <a:r>
              <a:rPr lang="en-US" sz="3200"/>
              <a:t>Electrical phenomena caused by friction are part of our everyday lives, and can be understood in terms of </a:t>
            </a:r>
            <a:r>
              <a:rPr lang="en-US" sz="3200" b="1" i="1">
                <a:solidFill>
                  <a:schemeClr val="hlink"/>
                </a:solidFill>
                <a:latin typeface="Times New Roman" pitchFamily="18" charset="0"/>
              </a:rPr>
              <a:t>electrical charge</a:t>
            </a:r>
            <a:r>
              <a:rPr lang="en-US" sz="3200"/>
              <a:t>.</a:t>
            </a:r>
          </a:p>
          <a:p>
            <a:r>
              <a:rPr lang="en-US" sz="3200"/>
              <a:t>The effects of </a:t>
            </a:r>
            <a:r>
              <a:rPr lang="en-US" sz="3200" b="1" i="1">
                <a:latin typeface="Times New Roman" pitchFamily="18" charset="0"/>
              </a:rPr>
              <a:t>electrical charge</a:t>
            </a:r>
            <a:r>
              <a:rPr lang="en-US" sz="3200"/>
              <a:t> can be observed in the attraction/repulsion of various objects when “charged.” </a:t>
            </a:r>
          </a:p>
          <a:p>
            <a:r>
              <a:rPr lang="en-US" sz="3200"/>
              <a:t>Charge comes in two varieties called “positive” and “negative.”</a:t>
            </a:r>
          </a:p>
          <a:p>
            <a:endParaRPr lang="en-US" sz="320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8EDE1909-832E-41ED-8C2C-4157E34C7669}" type="slidenum">
              <a:rPr lang="en-US"/>
              <a:pPr/>
              <a:t>79</a:t>
            </a:fld>
            <a:endParaRPr lang="en-US"/>
          </a:p>
        </p:txBody>
      </p:sp>
      <p:sp>
        <p:nvSpPr>
          <p:cNvPr id="114690" name="Rectangle 2"/>
          <p:cNvSpPr>
            <a:spLocks noGrp="1" noRot="1" noChangeArrowheads="1"/>
          </p:cNvSpPr>
          <p:nvPr>
            <p:ph type="title"/>
          </p:nvPr>
        </p:nvSpPr>
        <p:spPr/>
        <p:txBody>
          <a:bodyPr/>
          <a:lstStyle/>
          <a:p>
            <a:r>
              <a:rPr lang="en-US"/>
              <a:t>Electric Charge</a:t>
            </a:r>
          </a:p>
        </p:txBody>
      </p:sp>
      <p:sp>
        <p:nvSpPr>
          <p:cNvPr id="114691" name="Rectangle 3"/>
          <p:cNvSpPr>
            <a:spLocks noGrp="1" noChangeArrowheads="1"/>
          </p:cNvSpPr>
          <p:nvPr>
            <p:ph type="body" idx="1"/>
          </p:nvPr>
        </p:nvSpPr>
        <p:spPr/>
        <p:txBody>
          <a:bodyPr/>
          <a:lstStyle/>
          <a:p>
            <a:r>
              <a:rPr lang="en-US" sz="3200"/>
              <a:t>Objects carrying a net positive charge attract those carrying a net negative charge and repel those carrying a net positive charge.</a:t>
            </a:r>
          </a:p>
          <a:p>
            <a:r>
              <a:rPr lang="en-US" sz="3200"/>
              <a:t>Objects carrying a net negative charge attract those carrying a net positive charge and repel those carrying a net negative charge.</a:t>
            </a:r>
          </a:p>
          <a:p>
            <a:r>
              <a:rPr lang="en-US" sz="3200"/>
              <a:t>On an atomic scale, electrons are negatively charged and nuclei are positively charged.</a:t>
            </a:r>
          </a:p>
          <a:p>
            <a:endParaRPr lang="en-US" sz="320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4C714127-D5CA-4267-8D8B-C2798F9EE77F}" type="slidenum">
              <a:rPr lang="en-US"/>
              <a:pPr/>
              <a:t>80</a:t>
            </a:fld>
            <a:endParaRPr lang="en-US"/>
          </a:p>
        </p:txBody>
      </p:sp>
      <p:sp>
        <p:nvSpPr>
          <p:cNvPr id="116738" name="Rectangle 2"/>
          <p:cNvSpPr>
            <a:spLocks noGrp="1" noRot="1" noChangeArrowheads="1"/>
          </p:cNvSpPr>
          <p:nvPr>
            <p:ph type="title"/>
          </p:nvPr>
        </p:nvSpPr>
        <p:spPr/>
        <p:txBody>
          <a:bodyPr/>
          <a:lstStyle/>
          <a:p>
            <a:r>
              <a:rPr lang="en-US"/>
              <a:t>Coulomb’s Law</a:t>
            </a:r>
          </a:p>
        </p:txBody>
      </p:sp>
      <p:sp>
        <p:nvSpPr>
          <p:cNvPr id="116739" name="Rectangle 3"/>
          <p:cNvSpPr>
            <a:spLocks noGrp="1" noChangeArrowheads="1"/>
          </p:cNvSpPr>
          <p:nvPr>
            <p:ph type="body" idx="1"/>
          </p:nvPr>
        </p:nvSpPr>
        <p:spPr/>
        <p:txBody>
          <a:bodyPr>
            <a:normAutofit lnSpcReduction="10000"/>
          </a:bodyPr>
          <a:lstStyle/>
          <a:p>
            <a:r>
              <a:rPr lang="en-US" sz="3200" b="1" i="1">
                <a:solidFill>
                  <a:schemeClr val="tx1"/>
                </a:solidFill>
                <a:latin typeface="Times New Roman" pitchFamily="18" charset="0"/>
              </a:rPr>
              <a:t>Coulomb’s law</a:t>
            </a:r>
            <a:r>
              <a:rPr lang="en-US" sz="3200"/>
              <a:t> is the “law of action” between charged bodies.</a:t>
            </a:r>
          </a:p>
          <a:p>
            <a:r>
              <a:rPr lang="en-US" sz="3200" b="1" i="1">
                <a:latin typeface="Times New Roman" pitchFamily="18" charset="0"/>
              </a:rPr>
              <a:t>Coulomb’s law</a:t>
            </a:r>
            <a:r>
              <a:rPr lang="en-US" sz="3200"/>
              <a:t> gives the electric force between two </a:t>
            </a:r>
            <a:r>
              <a:rPr lang="en-US" sz="3200" b="1" i="1"/>
              <a:t>point charges</a:t>
            </a:r>
            <a:r>
              <a:rPr lang="en-US" sz="3200" i="1"/>
              <a:t> </a:t>
            </a:r>
            <a:r>
              <a:rPr lang="en-US" sz="3200"/>
              <a:t>in an otherwise empty universe.</a:t>
            </a:r>
          </a:p>
          <a:p>
            <a:r>
              <a:rPr lang="en-US" sz="3200"/>
              <a:t>A </a:t>
            </a:r>
            <a:r>
              <a:rPr lang="en-US" sz="3200" b="1" i="1">
                <a:solidFill>
                  <a:schemeClr val="hlink"/>
                </a:solidFill>
                <a:latin typeface="Times New Roman" pitchFamily="18" charset="0"/>
              </a:rPr>
              <a:t>point charge</a:t>
            </a:r>
            <a:r>
              <a:rPr lang="en-US" sz="3200"/>
              <a:t> is a charge that occupies a region of space which is negligibly small compared to the distance between the point charge and any other object.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3"/>
          <p:cNvSpPr>
            <a:spLocks noGrp="1"/>
          </p:cNvSpPr>
          <p:nvPr>
            <p:ph type="ftr" sz="quarter" idx="11"/>
          </p:nvPr>
        </p:nvSpPr>
        <p:spPr/>
        <p:txBody>
          <a:bodyPr/>
          <a:lstStyle/>
          <a:p>
            <a:fld id="{B1A35520-74F0-4B08-913B-0CCBF1926C79}" type="slidenum">
              <a:rPr lang="en-US"/>
              <a:pPr/>
              <a:t>81</a:t>
            </a:fld>
            <a:endParaRPr lang="en-US"/>
          </a:p>
        </p:txBody>
      </p:sp>
      <p:sp>
        <p:nvSpPr>
          <p:cNvPr id="117762" name="Rectangle 2"/>
          <p:cNvSpPr>
            <a:spLocks noGrp="1" noRot="1" noChangeArrowheads="1"/>
          </p:cNvSpPr>
          <p:nvPr>
            <p:ph type="title"/>
          </p:nvPr>
        </p:nvSpPr>
        <p:spPr>
          <a:xfrm>
            <a:off x="609600" y="381000"/>
            <a:ext cx="7772400" cy="1143000"/>
          </a:xfrm>
        </p:spPr>
        <p:txBody>
          <a:bodyPr/>
          <a:lstStyle/>
          <a:p>
            <a:r>
              <a:rPr lang="en-US"/>
              <a:t>Coulomb’s Law</a:t>
            </a:r>
          </a:p>
        </p:txBody>
      </p:sp>
      <p:sp>
        <p:nvSpPr>
          <p:cNvPr id="117764" name="Oval 4"/>
          <p:cNvSpPr>
            <a:spLocks noChangeArrowheads="1"/>
          </p:cNvSpPr>
          <p:nvPr/>
        </p:nvSpPr>
        <p:spPr bwMode="auto">
          <a:xfrm>
            <a:off x="1311275" y="1787525"/>
            <a:ext cx="228600" cy="228600"/>
          </a:xfrm>
          <a:prstGeom prst="ellipse">
            <a:avLst/>
          </a:prstGeom>
          <a:solidFill>
            <a:schemeClr val="accent2"/>
          </a:solidFill>
          <a:ln w="9525">
            <a:solidFill>
              <a:schemeClr val="tx1"/>
            </a:solidFill>
            <a:round/>
            <a:headEnd/>
            <a:tailEnd/>
          </a:ln>
          <a:effectLst/>
        </p:spPr>
        <p:txBody>
          <a:bodyPr wrap="none" anchor="ctr"/>
          <a:lstStyle/>
          <a:p>
            <a:endParaRPr lang="en-IN"/>
          </a:p>
        </p:txBody>
      </p:sp>
      <p:sp>
        <p:nvSpPr>
          <p:cNvPr id="117765" name="Oval 5"/>
          <p:cNvSpPr>
            <a:spLocks noChangeArrowheads="1"/>
          </p:cNvSpPr>
          <p:nvPr/>
        </p:nvSpPr>
        <p:spPr bwMode="auto">
          <a:xfrm>
            <a:off x="3063875" y="2320925"/>
            <a:ext cx="228600" cy="228600"/>
          </a:xfrm>
          <a:prstGeom prst="ellipse">
            <a:avLst/>
          </a:prstGeom>
          <a:solidFill>
            <a:srgbClr val="FF9933"/>
          </a:solidFill>
          <a:ln w="9525">
            <a:solidFill>
              <a:schemeClr val="tx1"/>
            </a:solidFill>
            <a:round/>
            <a:headEnd/>
            <a:tailEnd/>
          </a:ln>
          <a:effectLst/>
        </p:spPr>
        <p:txBody>
          <a:bodyPr wrap="none" anchor="ctr"/>
          <a:lstStyle/>
          <a:p>
            <a:endParaRPr lang="en-IN"/>
          </a:p>
        </p:txBody>
      </p:sp>
      <p:sp>
        <p:nvSpPr>
          <p:cNvPr id="117766" name="Line 6"/>
          <p:cNvSpPr>
            <a:spLocks noChangeShapeType="1"/>
          </p:cNvSpPr>
          <p:nvPr/>
        </p:nvSpPr>
        <p:spPr bwMode="auto">
          <a:xfrm>
            <a:off x="1539875" y="1939925"/>
            <a:ext cx="1524000" cy="457200"/>
          </a:xfrm>
          <a:prstGeom prst="line">
            <a:avLst/>
          </a:prstGeom>
          <a:noFill/>
          <a:ln w="9525">
            <a:solidFill>
              <a:schemeClr val="tx1"/>
            </a:solidFill>
            <a:round/>
            <a:headEnd/>
            <a:tailEnd type="triangle" w="lg" len="lg"/>
          </a:ln>
          <a:effectLst/>
        </p:spPr>
        <p:txBody>
          <a:bodyPr wrap="none" anchor="ctr"/>
          <a:lstStyle/>
          <a:p>
            <a:endParaRPr lang="en-IN"/>
          </a:p>
        </p:txBody>
      </p:sp>
      <p:sp>
        <p:nvSpPr>
          <p:cNvPr id="117767" name="Text Box 7"/>
          <p:cNvSpPr txBox="1">
            <a:spLocks noChangeArrowheads="1"/>
          </p:cNvSpPr>
          <p:nvPr/>
        </p:nvSpPr>
        <p:spPr bwMode="auto">
          <a:xfrm>
            <a:off x="1219200" y="1219200"/>
            <a:ext cx="506413" cy="457200"/>
          </a:xfrm>
          <a:prstGeom prst="rect">
            <a:avLst/>
          </a:prstGeom>
          <a:noFill/>
          <a:ln w="9525">
            <a:noFill/>
            <a:miter lim="800000"/>
            <a:headEnd/>
            <a:tailEnd/>
          </a:ln>
          <a:effectLst/>
        </p:spPr>
        <p:txBody>
          <a:bodyPr wrap="none">
            <a:spAutoFit/>
          </a:bodyPr>
          <a:lstStyle/>
          <a:p>
            <a:r>
              <a:rPr lang="en-US" sz="2400" b="1" i="1">
                <a:solidFill>
                  <a:schemeClr val="accent2"/>
                </a:solidFill>
                <a:latin typeface="Times New Roman" pitchFamily="18" charset="0"/>
              </a:rPr>
              <a:t>Q</a:t>
            </a:r>
            <a:r>
              <a:rPr lang="en-US" sz="2400" b="1" i="1" baseline="-25000">
                <a:solidFill>
                  <a:schemeClr val="accent2"/>
                </a:solidFill>
                <a:latin typeface="Times New Roman" pitchFamily="18" charset="0"/>
              </a:rPr>
              <a:t>1</a:t>
            </a:r>
            <a:endParaRPr lang="en-US" sz="2400" b="1" i="1">
              <a:solidFill>
                <a:schemeClr val="accent2"/>
              </a:solidFill>
              <a:latin typeface="Times New Roman" pitchFamily="18" charset="0"/>
            </a:endParaRPr>
          </a:p>
        </p:txBody>
      </p:sp>
      <p:sp>
        <p:nvSpPr>
          <p:cNvPr id="117768" name="Text Box 8"/>
          <p:cNvSpPr txBox="1">
            <a:spLocks noChangeArrowheads="1"/>
          </p:cNvSpPr>
          <p:nvPr/>
        </p:nvSpPr>
        <p:spPr bwMode="auto">
          <a:xfrm>
            <a:off x="2987675" y="1787525"/>
            <a:ext cx="506413" cy="457200"/>
          </a:xfrm>
          <a:prstGeom prst="rect">
            <a:avLst/>
          </a:prstGeom>
          <a:noFill/>
          <a:ln w="9525">
            <a:noFill/>
            <a:miter lim="800000"/>
            <a:headEnd/>
            <a:tailEnd/>
          </a:ln>
          <a:effectLst/>
        </p:spPr>
        <p:txBody>
          <a:bodyPr wrap="none">
            <a:spAutoFit/>
          </a:bodyPr>
          <a:lstStyle/>
          <a:p>
            <a:r>
              <a:rPr lang="en-US" sz="2400" b="1" i="1">
                <a:solidFill>
                  <a:srgbClr val="FF9933"/>
                </a:solidFill>
                <a:latin typeface="Times New Roman" pitchFamily="18" charset="0"/>
              </a:rPr>
              <a:t>Q</a:t>
            </a:r>
            <a:r>
              <a:rPr lang="en-US" sz="2400" b="1" i="1" baseline="-25000">
                <a:solidFill>
                  <a:srgbClr val="FF9933"/>
                </a:solidFill>
                <a:latin typeface="Times New Roman" pitchFamily="18" charset="0"/>
              </a:rPr>
              <a:t>2</a:t>
            </a:r>
            <a:endParaRPr lang="en-US" sz="2400" b="1" i="1">
              <a:solidFill>
                <a:srgbClr val="FF9933"/>
              </a:solidFill>
              <a:latin typeface="Times New Roman" pitchFamily="18" charset="0"/>
            </a:endParaRPr>
          </a:p>
        </p:txBody>
      </p:sp>
      <p:sp>
        <p:nvSpPr>
          <p:cNvPr id="117770" name="Line 10"/>
          <p:cNvSpPr>
            <a:spLocks noChangeShapeType="1"/>
          </p:cNvSpPr>
          <p:nvPr/>
        </p:nvSpPr>
        <p:spPr bwMode="auto">
          <a:xfrm>
            <a:off x="3292475" y="2473325"/>
            <a:ext cx="685800" cy="228600"/>
          </a:xfrm>
          <a:prstGeom prst="line">
            <a:avLst/>
          </a:prstGeom>
          <a:noFill/>
          <a:ln w="9525">
            <a:solidFill>
              <a:schemeClr val="tx1"/>
            </a:solidFill>
            <a:round/>
            <a:headEnd/>
            <a:tailEnd type="triangle" w="lg" len="lg"/>
          </a:ln>
          <a:effectLst/>
        </p:spPr>
        <p:txBody>
          <a:bodyPr wrap="none" anchor="ctr"/>
          <a:lstStyle/>
          <a:p>
            <a:endParaRPr lang="en-IN"/>
          </a:p>
        </p:txBody>
      </p:sp>
      <p:sp>
        <p:nvSpPr>
          <p:cNvPr id="117772" name="Line 12"/>
          <p:cNvSpPr>
            <a:spLocks noChangeShapeType="1"/>
          </p:cNvSpPr>
          <p:nvPr/>
        </p:nvSpPr>
        <p:spPr bwMode="auto">
          <a:xfrm flipV="1">
            <a:off x="3040063" y="4130675"/>
            <a:ext cx="685800" cy="152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17773" name="Text Box 13"/>
          <p:cNvSpPr txBox="1">
            <a:spLocks noChangeArrowheads="1"/>
          </p:cNvSpPr>
          <p:nvPr/>
        </p:nvSpPr>
        <p:spPr bwMode="auto">
          <a:xfrm>
            <a:off x="838200" y="3978275"/>
            <a:ext cx="2206625" cy="822325"/>
          </a:xfrm>
          <a:prstGeom prst="rect">
            <a:avLst/>
          </a:prstGeom>
          <a:noFill/>
          <a:ln w="9525">
            <a:noFill/>
            <a:miter lim="800000"/>
            <a:headEnd/>
            <a:tailEnd/>
          </a:ln>
          <a:effectLst/>
        </p:spPr>
        <p:txBody>
          <a:bodyPr wrap="none">
            <a:spAutoFit/>
          </a:bodyPr>
          <a:lstStyle/>
          <a:p>
            <a:pPr algn="ctr"/>
            <a:r>
              <a:rPr lang="en-US" sz="2400" b="1">
                <a:latin typeface="Times New Roman" pitchFamily="18" charset="0"/>
              </a:rPr>
              <a:t>Force due to </a:t>
            </a:r>
            <a:r>
              <a:rPr lang="en-US" sz="2400" b="1" i="1">
                <a:solidFill>
                  <a:schemeClr val="accent2"/>
                </a:solidFill>
                <a:latin typeface="Times New Roman" pitchFamily="18" charset="0"/>
              </a:rPr>
              <a:t>Q</a:t>
            </a:r>
            <a:r>
              <a:rPr lang="en-US" sz="2400" b="1" i="1" baseline="-25000">
                <a:solidFill>
                  <a:schemeClr val="accent2"/>
                </a:solidFill>
                <a:latin typeface="Times New Roman" pitchFamily="18" charset="0"/>
              </a:rPr>
              <a:t>1</a:t>
            </a:r>
            <a:endParaRPr lang="en-US" sz="2400" b="1">
              <a:latin typeface="Times New Roman" pitchFamily="18" charset="0"/>
            </a:endParaRPr>
          </a:p>
          <a:p>
            <a:pPr algn="ctr"/>
            <a:r>
              <a:rPr lang="en-US" sz="2400" b="1">
                <a:latin typeface="Times New Roman" pitchFamily="18" charset="0"/>
              </a:rPr>
              <a:t>acting on </a:t>
            </a:r>
            <a:r>
              <a:rPr lang="en-US" sz="2400" b="1" i="1">
                <a:solidFill>
                  <a:srgbClr val="FF9933"/>
                </a:solidFill>
                <a:latin typeface="Times New Roman" pitchFamily="18" charset="0"/>
              </a:rPr>
              <a:t>Q</a:t>
            </a:r>
            <a:r>
              <a:rPr lang="en-US" sz="2400" b="1" i="1" baseline="-25000">
                <a:solidFill>
                  <a:srgbClr val="FF9933"/>
                </a:solidFill>
                <a:latin typeface="Times New Roman" pitchFamily="18" charset="0"/>
              </a:rPr>
              <a:t>2</a:t>
            </a:r>
            <a:endParaRPr lang="en-US" sz="2400" b="1" baseline="-25000">
              <a:solidFill>
                <a:srgbClr val="FF9933"/>
              </a:solidFill>
              <a:latin typeface="Times New Roman" pitchFamily="18" charset="0"/>
            </a:endParaRPr>
          </a:p>
        </p:txBody>
      </p:sp>
      <p:sp>
        <p:nvSpPr>
          <p:cNvPr id="117776" name="Line 16"/>
          <p:cNvSpPr>
            <a:spLocks noChangeShapeType="1"/>
          </p:cNvSpPr>
          <p:nvPr/>
        </p:nvSpPr>
        <p:spPr bwMode="auto">
          <a:xfrm flipH="1">
            <a:off x="5410200" y="2743200"/>
            <a:ext cx="762000" cy="12192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17777" name="Text Box 17"/>
          <p:cNvSpPr txBox="1">
            <a:spLocks noChangeArrowheads="1"/>
          </p:cNvSpPr>
          <p:nvPr/>
        </p:nvSpPr>
        <p:spPr bwMode="auto">
          <a:xfrm>
            <a:off x="5699125" y="1870075"/>
            <a:ext cx="2163763" cy="822325"/>
          </a:xfrm>
          <a:prstGeom prst="rect">
            <a:avLst/>
          </a:prstGeom>
          <a:noFill/>
          <a:ln w="9525">
            <a:noFill/>
            <a:miter lim="800000"/>
            <a:headEnd/>
            <a:tailEnd/>
          </a:ln>
          <a:effectLst/>
        </p:spPr>
        <p:txBody>
          <a:bodyPr wrap="none">
            <a:spAutoFit/>
          </a:bodyPr>
          <a:lstStyle/>
          <a:p>
            <a:r>
              <a:rPr lang="en-US" sz="2400" b="1">
                <a:latin typeface="Times New Roman" pitchFamily="18" charset="0"/>
              </a:rPr>
              <a:t>Unit vector in</a:t>
            </a:r>
          </a:p>
          <a:p>
            <a:r>
              <a:rPr lang="en-US" sz="2400" b="1">
                <a:latin typeface="Times New Roman" pitchFamily="18" charset="0"/>
              </a:rPr>
              <a:t>direction of </a:t>
            </a:r>
            <a:r>
              <a:rPr lang="en-US" sz="2400" b="1" i="1">
                <a:latin typeface="Times New Roman" pitchFamily="18" charset="0"/>
              </a:rPr>
              <a:t>R</a:t>
            </a:r>
            <a:r>
              <a:rPr lang="en-US" sz="2400" b="1" baseline="-25000">
                <a:latin typeface="Times New Roman" pitchFamily="18" charset="0"/>
              </a:rPr>
              <a:t>12</a:t>
            </a:r>
            <a:endParaRPr lang="en-US" sz="2400" b="1">
              <a:latin typeface="Times New Roman" pitchFamily="18"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6AEE9312-F749-4321-A4F8-42B0586306AF}" type="slidenum">
              <a:rPr lang="en-US"/>
              <a:pPr/>
              <a:t>82</a:t>
            </a:fld>
            <a:endParaRPr lang="en-US"/>
          </a:p>
        </p:txBody>
      </p:sp>
      <p:sp>
        <p:nvSpPr>
          <p:cNvPr id="118786" name="Rectangle 2"/>
          <p:cNvSpPr>
            <a:spLocks noGrp="1" noRot="1" noChangeArrowheads="1"/>
          </p:cNvSpPr>
          <p:nvPr>
            <p:ph type="title"/>
          </p:nvPr>
        </p:nvSpPr>
        <p:spPr/>
        <p:txBody>
          <a:bodyPr/>
          <a:lstStyle/>
          <a:p>
            <a:r>
              <a:rPr lang="en-US"/>
              <a:t>Coulomb’s Law</a:t>
            </a:r>
          </a:p>
        </p:txBody>
      </p:sp>
      <p:sp>
        <p:nvSpPr>
          <p:cNvPr id="118787" name="Rectangle 3"/>
          <p:cNvSpPr>
            <a:spLocks noGrp="1" noChangeArrowheads="1"/>
          </p:cNvSpPr>
          <p:nvPr>
            <p:ph type="body" idx="1"/>
          </p:nvPr>
        </p:nvSpPr>
        <p:spPr/>
        <p:txBody>
          <a:bodyPr/>
          <a:lstStyle/>
          <a:p>
            <a:r>
              <a:rPr lang="en-US"/>
              <a:t>The force on </a:t>
            </a:r>
            <a:r>
              <a:rPr lang="en-US" i="1">
                <a:latin typeface="Times New Roman" pitchFamily="18" charset="0"/>
              </a:rPr>
              <a:t>Q</a:t>
            </a:r>
            <a:r>
              <a:rPr lang="en-US" i="1" baseline="-25000">
                <a:latin typeface="Times New Roman" pitchFamily="18" charset="0"/>
              </a:rPr>
              <a:t>1</a:t>
            </a:r>
            <a:r>
              <a:rPr lang="en-US">
                <a:latin typeface="Times New Roman" pitchFamily="18" charset="0"/>
              </a:rPr>
              <a:t> </a:t>
            </a:r>
            <a:r>
              <a:rPr lang="en-US"/>
              <a:t>due to </a:t>
            </a:r>
            <a:r>
              <a:rPr lang="en-US" i="1">
                <a:latin typeface="Times New Roman" pitchFamily="18" charset="0"/>
              </a:rPr>
              <a:t>Q</a:t>
            </a:r>
            <a:r>
              <a:rPr lang="en-US" i="1" baseline="-25000">
                <a:latin typeface="Times New Roman" pitchFamily="18" charset="0"/>
              </a:rPr>
              <a:t>2</a:t>
            </a:r>
            <a:r>
              <a:rPr lang="en-US"/>
              <a:t> is equal in magnitude but opposite in direction to the force on </a:t>
            </a:r>
            <a:r>
              <a:rPr lang="en-US" i="1">
                <a:latin typeface="Times New Roman" pitchFamily="18" charset="0"/>
              </a:rPr>
              <a:t>Q</a:t>
            </a:r>
            <a:r>
              <a:rPr lang="en-US" i="1" baseline="-25000">
                <a:latin typeface="Times New Roman" pitchFamily="18" charset="0"/>
              </a:rPr>
              <a:t>2</a:t>
            </a:r>
            <a:r>
              <a:rPr lang="en-US"/>
              <a:t> due to </a:t>
            </a:r>
            <a:r>
              <a:rPr lang="en-US" i="1">
                <a:latin typeface="Times New Roman" pitchFamily="18" charset="0"/>
              </a:rPr>
              <a:t>Q</a:t>
            </a:r>
            <a:r>
              <a:rPr lang="en-US" i="1" baseline="-25000">
                <a:latin typeface="Times New Roman" pitchFamily="18" charset="0"/>
              </a:rPr>
              <a:t>1</a:t>
            </a:r>
            <a:r>
              <a:rPr lang="en-US"/>
              <a:t>.</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4"/>
          <p:cNvSpPr>
            <a:spLocks noGrp="1"/>
          </p:cNvSpPr>
          <p:nvPr>
            <p:ph type="ftr" sz="quarter" idx="11"/>
          </p:nvPr>
        </p:nvSpPr>
        <p:spPr/>
        <p:txBody>
          <a:bodyPr/>
          <a:lstStyle/>
          <a:p>
            <a:fld id="{EC4AE528-E59E-4066-A6C1-C93588CCECE0}" type="slidenum">
              <a:rPr lang="en-US"/>
              <a:pPr/>
              <a:t>83</a:t>
            </a:fld>
            <a:endParaRPr lang="en-US"/>
          </a:p>
        </p:txBody>
      </p:sp>
      <p:sp>
        <p:nvSpPr>
          <p:cNvPr id="119810" name="Rectangle 2"/>
          <p:cNvSpPr>
            <a:spLocks noGrp="1" noRot="1" noChangeArrowheads="1"/>
          </p:cNvSpPr>
          <p:nvPr>
            <p:ph type="title"/>
          </p:nvPr>
        </p:nvSpPr>
        <p:spPr/>
        <p:txBody>
          <a:bodyPr/>
          <a:lstStyle/>
          <a:p>
            <a:r>
              <a:rPr lang="en-US"/>
              <a:t>Electric Field</a:t>
            </a:r>
          </a:p>
        </p:txBody>
      </p:sp>
      <p:sp>
        <p:nvSpPr>
          <p:cNvPr id="119811" name="Rectangle 3"/>
          <p:cNvSpPr>
            <a:spLocks noGrp="1" noChangeArrowheads="1"/>
          </p:cNvSpPr>
          <p:nvPr>
            <p:ph type="body" idx="1"/>
          </p:nvPr>
        </p:nvSpPr>
        <p:spPr>
          <a:xfrm>
            <a:off x="457200" y="1600200"/>
            <a:ext cx="4648200" cy="4525963"/>
          </a:xfrm>
        </p:spPr>
        <p:txBody>
          <a:bodyPr/>
          <a:lstStyle/>
          <a:p>
            <a:pPr>
              <a:lnSpc>
                <a:spcPct val="90000"/>
              </a:lnSpc>
            </a:pPr>
            <a:r>
              <a:rPr lang="en-US" sz="3200"/>
              <a:t>Consider a point charge </a:t>
            </a:r>
            <a:r>
              <a:rPr lang="en-US" sz="3200" i="1">
                <a:solidFill>
                  <a:schemeClr val="hlink"/>
                </a:solidFill>
                <a:latin typeface="Times New Roman" pitchFamily="18" charset="0"/>
              </a:rPr>
              <a:t>Q</a:t>
            </a:r>
            <a:r>
              <a:rPr lang="en-US" sz="3200"/>
              <a:t> placed at the </a:t>
            </a:r>
            <a:r>
              <a:rPr lang="en-US" sz="3200" u="sng"/>
              <a:t>origin</a:t>
            </a:r>
            <a:r>
              <a:rPr lang="en-US" sz="3200"/>
              <a:t> of a coordinate system in an otherwise empty universe.</a:t>
            </a:r>
          </a:p>
          <a:p>
            <a:pPr>
              <a:lnSpc>
                <a:spcPct val="90000"/>
              </a:lnSpc>
            </a:pPr>
            <a:r>
              <a:rPr lang="en-US" sz="3200"/>
              <a:t>A test charge </a:t>
            </a:r>
            <a:r>
              <a:rPr lang="en-US" sz="3200" i="1">
                <a:solidFill>
                  <a:srgbClr val="FF9933"/>
                </a:solidFill>
                <a:latin typeface="Times New Roman" pitchFamily="18" charset="0"/>
              </a:rPr>
              <a:t>Q</a:t>
            </a:r>
            <a:r>
              <a:rPr lang="en-US" sz="3200" i="1" baseline="-25000">
                <a:solidFill>
                  <a:srgbClr val="FF9933"/>
                </a:solidFill>
                <a:latin typeface="Times New Roman" pitchFamily="18" charset="0"/>
              </a:rPr>
              <a:t>t</a:t>
            </a:r>
            <a:r>
              <a:rPr lang="en-US" sz="3200">
                <a:solidFill>
                  <a:srgbClr val="FF9933"/>
                </a:solidFill>
              </a:rPr>
              <a:t> </a:t>
            </a:r>
            <a:r>
              <a:rPr lang="en-US" sz="3200"/>
              <a:t>brought near </a:t>
            </a:r>
            <a:r>
              <a:rPr lang="en-US" sz="3200" i="1">
                <a:solidFill>
                  <a:schemeClr val="hlink"/>
                </a:solidFill>
                <a:latin typeface="Times New Roman" pitchFamily="18" charset="0"/>
              </a:rPr>
              <a:t>Q</a:t>
            </a:r>
            <a:r>
              <a:rPr lang="en-US" sz="3200" i="1"/>
              <a:t> </a:t>
            </a:r>
            <a:r>
              <a:rPr lang="en-US" sz="3200"/>
              <a:t>experiences a force:</a:t>
            </a:r>
          </a:p>
        </p:txBody>
      </p:sp>
      <p:grpSp>
        <p:nvGrpSpPr>
          <p:cNvPr id="2" name="Group 5"/>
          <p:cNvGrpSpPr>
            <a:grpSpLocks/>
          </p:cNvGrpSpPr>
          <p:nvPr/>
        </p:nvGrpSpPr>
        <p:grpSpPr bwMode="auto">
          <a:xfrm>
            <a:off x="6319838" y="2438400"/>
            <a:ext cx="2290762" cy="2133600"/>
            <a:chOff x="2160" y="1536"/>
            <a:chExt cx="1443" cy="1344"/>
          </a:xfrm>
        </p:grpSpPr>
        <p:sp>
          <p:nvSpPr>
            <p:cNvPr id="119814" name="Oval 6"/>
            <p:cNvSpPr>
              <a:spLocks noChangeArrowheads="1"/>
            </p:cNvSpPr>
            <p:nvPr/>
          </p:nvSpPr>
          <p:spPr bwMode="auto">
            <a:xfrm>
              <a:off x="2496" y="2448"/>
              <a:ext cx="144" cy="144"/>
            </a:xfrm>
            <a:prstGeom prst="ellipse">
              <a:avLst/>
            </a:prstGeom>
            <a:solidFill>
              <a:schemeClr val="hlink"/>
            </a:solidFill>
            <a:ln w="9525">
              <a:solidFill>
                <a:schemeClr val="tx1"/>
              </a:solidFill>
              <a:round/>
              <a:headEnd/>
              <a:tailEnd/>
            </a:ln>
            <a:effectLst/>
          </p:spPr>
          <p:txBody>
            <a:bodyPr wrap="none" anchor="ctr"/>
            <a:lstStyle/>
            <a:p>
              <a:endParaRPr lang="en-IN"/>
            </a:p>
          </p:txBody>
        </p:sp>
        <p:sp>
          <p:nvSpPr>
            <p:cNvPr id="119815" name="Oval 7"/>
            <p:cNvSpPr>
              <a:spLocks noChangeArrowheads="1"/>
            </p:cNvSpPr>
            <p:nvPr/>
          </p:nvSpPr>
          <p:spPr bwMode="auto">
            <a:xfrm>
              <a:off x="3234" y="1719"/>
              <a:ext cx="96" cy="96"/>
            </a:xfrm>
            <a:prstGeom prst="ellipse">
              <a:avLst/>
            </a:prstGeom>
            <a:solidFill>
              <a:srgbClr val="FF9933"/>
            </a:solidFill>
            <a:ln w="9525">
              <a:solidFill>
                <a:schemeClr val="tx1"/>
              </a:solidFill>
              <a:round/>
              <a:headEnd/>
              <a:tailEnd/>
            </a:ln>
            <a:effectLst/>
          </p:spPr>
          <p:txBody>
            <a:bodyPr wrap="none" anchor="ctr"/>
            <a:lstStyle/>
            <a:p>
              <a:endParaRPr lang="en-IN"/>
            </a:p>
          </p:txBody>
        </p:sp>
        <p:sp>
          <p:nvSpPr>
            <p:cNvPr id="119816" name="Text Box 8"/>
            <p:cNvSpPr txBox="1">
              <a:spLocks noChangeArrowheads="1"/>
            </p:cNvSpPr>
            <p:nvPr/>
          </p:nvSpPr>
          <p:spPr bwMode="auto">
            <a:xfrm>
              <a:off x="2544" y="2544"/>
              <a:ext cx="255" cy="288"/>
            </a:xfrm>
            <a:prstGeom prst="rect">
              <a:avLst/>
            </a:prstGeom>
            <a:noFill/>
            <a:ln w="9525">
              <a:noFill/>
              <a:miter lim="800000"/>
              <a:headEnd/>
              <a:tailEnd/>
            </a:ln>
            <a:effectLst/>
          </p:spPr>
          <p:txBody>
            <a:bodyPr wrap="none">
              <a:spAutoFit/>
            </a:bodyPr>
            <a:lstStyle/>
            <a:p>
              <a:r>
                <a:rPr lang="en-US" sz="2400" i="1">
                  <a:solidFill>
                    <a:schemeClr val="hlink"/>
                  </a:solidFill>
                  <a:latin typeface="Times New Roman" pitchFamily="18" charset="0"/>
                </a:rPr>
                <a:t>Q</a:t>
              </a:r>
            </a:p>
          </p:txBody>
        </p:sp>
        <p:sp>
          <p:nvSpPr>
            <p:cNvPr id="119817" name="Text Box 9"/>
            <p:cNvSpPr txBox="1">
              <a:spLocks noChangeArrowheads="1"/>
            </p:cNvSpPr>
            <p:nvPr/>
          </p:nvSpPr>
          <p:spPr bwMode="auto">
            <a:xfrm>
              <a:off x="3312" y="1536"/>
              <a:ext cx="291" cy="288"/>
            </a:xfrm>
            <a:prstGeom prst="rect">
              <a:avLst/>
            </a:prstGeom>
            <a:noFill/>
            <a:ln w="9525">
              <a:noFill/>
              <a:miter lim="800000"/>
              <a:headEnd/>
              <a:tailEnd/>
            </a:ln>
            <a:effectLst/>
          </p:spPr>
          <p:txBody>
            <a:bodyPr wrap="none">
              <a:spAutoFit/>
            </a:bodyPr>
            <a:lstStyle/>
            <a:p>
              <a:r>
                <a:rPr lang="en-US" sz="2400" i="1">
                  <a:solidFill>
                    <a:srgbClr val="FF9933"/>
                  </a:solidFill>
                  <a:latin typeface="Times New Roman" pitchFamily="18" charset="0"/>
                </a:rPr>
                <a:t>Q</a:t>
              </a:r>
              <a:r>
                <a:rPr lang="en-US" sz="2400" i="1" baseline="-25000">
                  <a:solidFill>
                    <a:srgbClr val="FF9933"/>
                  </a:solidFill>
                  <a:latin typeface="Times New Roman" pitchFamily="18" charset="0"/>
                </a:rPr>
                <a:t>t</a:t>
              </a:r>
            </a:p>
          </p:txBody>
        </p:sp>
        <p:sp>
          <p:nvSpPr>
            <p:cNvPr id="119818" name="Line 10"/>
            <p:cNvSpPr>
              <a:spLocks noChangeShapeType="1"/>
            </p:cNvSpPr>
            <p:nvPr/>
          </p:nvSpPr>
          <p:spPr bwMode="auto">
            <a:xfrm flipV="1">
              <a:off x="2544" y="1536"/>
              <a:ext cx="0" cy="1008"/>
            </a:xfrm>
            <a:prstGeom prst="line">
              <a:avLst/>
            </a:prstGeom>
            <a:noFill/>
            <a:ln w="9525">
              <a:solidFill>
                <a:schemeClr val="tx1"/>
              </a:solidFill>
              <a:round/>
              <a:headEnd/>
              <a:tailEnd type="triangle" w="med" len="med"/>
            </a:ln>
            <a:effectLst/>
          </p:spPr>
          <p:txBody>
            <a:bodyPr wrap="none" anchor="ctr"/>
            <a:lstStyle/>
            <a:p>
              <a:endParaRPr lang="en-IN"/>
            </a:p>
          </p:txBody>
        </p:sp>
        <p:sp>
          <p:nvSpPr>
            <p:cNvPr id="119819" name="Line 11"/>
            <p:cNvSpPr>
              <a:spLocks noChangeShapeType="1"/>
            </p:cNvSpPr>
            <p:nvPr/>
          </p:nvSpPr>
          <p:spPr bwMode="auto">
            <a:xfrm>
              <a:off x="2544" y="2544"/>
              <a:ext cx="1056"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19820" name="Line 12"/>
            <p:cNvSpPr>
              <a:spLocks noChangeShapeType="1"/>
            </p:cNvSpPr>
            <p:nvPr/>
          </p:nvSpPr>
          <p:spPr bwMode="auto">
            <a:xfrm flipH="1">
              <a:off x="2160" y="2544"/>
              <a:ext cx="384" cy="336"/>
            </a:xfrm>
            <a:prstGeom prst="line">
              <a:avLst/>
            </a:prstGeom>
            <a:noFill/>
            <a:ln w="9525">
              <a:solidFill>
                <a:schemeClr val="tx1"/>
              </a:solidFill>
              <a:round/>
              <a:headEnd/>
              <a:tailEnd type="triangle" w="med" len="med"/>
            </a:ln>
            <a:effectLst/>
          </p:spPr>
          <p:txBody>
            <a:bodyPr wrap="none" anchor="ctr"/>
            <a:lstStyle/>
            <a:p>
              <a:endParaRPr lang="en-IN"/>
            </a:p>
          </p:txBody>
        </p:sp>
        <p:sp>
          <p:nvSpPr>
            <p:cNvPr id="119821" name="Line 13"/>
            <p:cNvSpPr>
              <a:spLocks noChangeShapeType="1"/>
            </p:cNvSpPr>
            <p:nvPr/>
          </p:nvSpPr>
          <p:spPr bwMode="auto">
            <a:xfrm flipV="1">
              <a:off x="2544" y="1776"/>
              <a:ext cx="720" cy="768"/>
            </a:xfrm>
            <a:prstGeom prst="line">
              <a:avLst/>
            </a:prstGeom>
            <a:noFill/>
            <a:ln w="9525">
              <a:solidFill>
                <a:schemeClr val="tx1"/>
              </a:solidFill>
              <a:round/>
              <a:headEnd/>
              <a:tailEnd type="triangle" w="lg" len="lg"/>
            </a:ln>
            <a:effectLst/>
          </p:spPr>
          <p:txBody>
            <a:bodyPr wrap="none" anchor="ctr"/>
            <a:lstStyle/>
            <a:p>
              <a:endParaRPr lang="en-IN"/>
            </a:p>
          </p:txBody>
        </p:sp>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24316404-38AA-44F6-94D3-C01D863A7ECB}" type="slidenum">
              <a:rPr lang="en-US"/>
              <a:pPr/>
              <a:t>84</a:t>
            </a:fld>
            <a:endParaRPr lang="en-US"/>
          </a:p>
        </p:txBody>
      </p:sp>
      <p:sp>
        <p:nvSpPr>
          <p:cNvPr id="121858" name="Rectangle 2"/>
          <p:cNvSpPr>
            <a:spLocks noGrp="1" noRot="1" noChangeArrowheads="1"/>
          </p:cNvSpPr>
          <p:nvPr>
            <p:ph type="title"/>
          </p:nvPr>
        </p:nvSpPr>
        <p:spPr/>
        <p:txBody>
          <a:bodyPr/>
          <a:lstStyle/>
          <a:p>
            <a:r>
              <a:rPr lang="en-US"/>
              <a:t>Electric Field</a:t>
            </a:r>
          </a:p>
        </p:txBody>
      </p:sp>
      <p:sp>
        <p:nvSpPr>
          <p:cNvPr id="121859" name="Rectangle 3"/>
          <p:cNvSpPr>
            <a:spLocks noGrp="1" noChangeArrowheads="1"/>
          </p:cNvSpPr>
          <p:nvPr>
            <p:ph type="body" idx="1"/>
          </p:nvPr>
        </p:nvSpPr>
        <p:spPr/>
        <p:txBody>
          <a:bodyPr/>
          <a:lstStyle/>
          <a:p>
            <a:r>
              <a:rPr lang="en-US" sz="3200"/>
              <a:t>The existence of the force on </a:t>
            </a:r>
            <a:r>
              <a:rPr lang="en-US" sz="3200" i="1">
                <a:solidFill>
                  <a:srgbClr val="FF9933"/>
                </a:solidFill>
                <a:latin typeface="Times New Roman" pitchFamily="18" charset="0"/>
              </a:rPr>
              <a:t>Q</a:t>
            </a:r>
            <a:r>
              <a:rPr lang="en-US" sz="3200" i="1" baseline="-25000">
                <a:solidFill>
                  <a:srgbClr val="FF9933"/>
                </a:solidFill>
                <a:latin typeface="Times New Roman" pitchFamily="18" charset="0"/>
              </a:rPr>
              <a:t>t</a:t>
            </a:r>
            <a:r>
              <a:rPr lang="en-US" sz="3200"/>
              <a:t> can be attributed to an </a:t>
            </a:r>
            <a:r>
              <a:rPr lang="en-US" sz="3200" b="1" i="1">
                <a:solidFill>
                  <a:schemeClr val="hlink"/>
                </a:solidFill>
                <a:latin typeface="Times New Roman" pitchFamily="18" charset="0"/>
              </a:rPr>
              <a:t>electric field</a:t>
            </a:r>
            <a:r>
              <a:rPr lang="en-US" sz="3200"/>
              <a:t> produced by </a:t>
            </a:r>
            <a:r>
              <a:rPr lang="en-US" sz="3200" i="1">
                <a:solidFill>
                  <a:schemeClr val="hlink"/>
                </a:solidFill>
                <a:latin typeface="Times New Roman" pitchFamily="18" charset="0"/>
              </a:rPr>
              <a:t>Q</a:t>
            </a:r>
            <a:r>
              <a:rPr lang="en-US" sz="3200"/>
              <a:t>.</a:t>
            </a:r>
          </a:p>
          <a:p>
            <a:r>
              <a:rPr lang="en-US" sz="3200"/>
              <a:t>The </a:t>
            </a:r>
            <a:r>
              <a:rPr lang="en-US" sz="3200" b="1" i="1">
                <a:solidFill>
                  <a:schemeClr val="hlink"/>
                </a:solidFill>
                <a:latin typeface="Times New Roman" pitchFamily="18" charset="0"/>
              </a:rPr>
              <a:t>electric field</a:t>
            </a:r>
            <a:r>
              <a:rPr lang="en-US" sz="3200"/>
              <a:t> produced by </a:t>
            </a:r>
            <a:r>
              <a:rPr lang="en-US" sz="3200" i="1">
                <a:solidFill>
                  <a:schemeClr val="hlink"/>
                </a:solidFill>
                <a:latin typeface="Times New Roman" pitchFamily="18" charset="0"/>
              </a:rPr>
              <a:t>Q</a:t>
            </a:r>
            <a:r>
              <a:rPr lang="en-US" sz="3200"/>
              <a:t> at a point in space can be defined as the force per unit charge acting on a test charge </a:t>
            </a:r>
            <a:r>
              <a:rPr lang="en-US" sz="3200" i="1">
                <a:solidFill>
                  <a:srgbClr val="FF9933"/>
                </a:solidFill>
                <a:latin typeface="Times New Roman" pitchFamily="18" charset="0"/>
              </a:rPr>
              <a:t>Q</a:t>
            </a:r>
            <a:r>
              <a:rPr lang="en-US" sz="3200" i="1" baseline="-25000">
                <a:solidFill>
                  <a:srgbClr val="FF9933"/>
                </a:solidFill>
                <a:latin typeface="Times New Roman" pitchFamily="18" charset="0"/>
              </a:rPr>
              <a:t>t</a:t>
            </a:r>
            <a:r>
              <a:rPr lang="en-US" sz="3200" b="1"/>
              <a:t> </a:t>
            </a:r>
            <a:r>
              <a:rPr lang="en-US" sz="3200"/>
              <a:t>placed at that point.</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1186FFC2-AE89-4646-8570-7DD3C4F03486}" type="slidenum">
              <a:rPr lang="en-US"/>
              <a:pPr/>
              <a:t>85</a:t>
            </a:fld>
            <a:endParaRPr lang="en-US"/>
          </a:p>
        </p:txBody>
      </p:sp>
      <p:sp>
        <p:nvSpPr>
          <p:cNvPr id="122882" name="Rectangle 2"/>
          <p:cNvSpPr>
            <a:spLocks noGrp="1" noRot="1" noChangeArrowheads="1"/>
          </p:cNvSpPr>
          <p:nvPr>
            <p:ph type="title"/>
          </p:nvPr>
        </p:nvSpPr>
        <p:spPr/>
        <p:txBody>
          <a:bodyPr/>
          <a:lstStyle/>
          <a:p>
            <a:r>
              <a:rPr lang="en-US"/>
              <a:t>Electric Field</a:t>
            </a:r>
          </a:p>
        </p:txBody>
      </p:sp>
      <p:sp>
        <p:nvSpPr>
          <p:cNvPr id="122883" name="Rectangle 3"/>
          <p:cNvSpPr>
            <a:spLocks noGrp="1" noChangeArrowheads="1"/>
          </p:cNvSpPr>
          <p:nvPr>
            <p:ph type="body" idx="1"/>
          </p:nvPr>
        </p:nvSpPr>
        <p:spPr>
          <a:xfrm>
            <a:off x="457200" y="1447800"/>
            <a:ext cx="8229600" cy="4525963"/>
          </a:xfrm>
        </p:spPr>
        <p:txBody>
          <a:bodyPr/>
          <a:lstStyle/>
          <a:p>
            <a:r>
              <a:rPr lang="en-US"/>
              <a:t>The electric field describes the effect of a stationary charge on other charges and is an abstract “action-at-a-distance” concept, very similar to the concept of a gravity field.</a:t>
            </a:r>
          </a:p>
          <a:p>
            <a:r>
              <a:rPr lang="en-US"/>
              <a:t>The basic units of electric field are </a:t>
            </a:r>
            <a:r>
              <a:rPr lang="en-US" i="1">
                <a:latin typeface="Times New Roman" pitchFamily="18" charset="0"/>
              </a:rPr>
              <a:t>newtons per coulomb</a:t>
            </a:r>
            <a:r>
              <a:rPr lang="en-US"/>
              <a:t>.</a:t>
            </a:r>
          </a:p>
          <a:p>
            <a:r>
              <a:rPr lang="en-US"/>
              <a:t>In practice, we usually use </a:t>
            </a:r>
            <a:r>
              <a:rPr lang="en-US" i="1">
                <a:latin typeface="Times New Roman" pitchFamily="18" charset="0"/>
              </a:rPr>
              <a:t>volts per meter</a:t>
            </a:r>
            <a:r>
              <a:rPr lang="en-US"/>
              <a:t>.</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36659C08-0799-4904-BBF1-5E78D8DF98B1}" type="slidenum">
              <a:rPr lang="en-US"/>
              <a:pPr/>
              <a:t>86</a:t>
            </a:fld>
            <a:endParaRPr lang="en-US"/>
          </a:p>
        </p:txBody>
      </p:sp>
      <p:sp>
        <p:nvSpPr>
          <p:cNvPr id="123906" name="Rectangle 2"/>
          <p:cNvSpPr>
            <a:spLocks noGrp="1" noRot="1" noChangeArrowheads="1"/>
          </p:cNvSpPr>
          <p:nvPr>
            <p:ph type="title"/>
          </p:nvPr>
        </p:nvSpPr>
        <p:spPr/>
        <p:txBody>
          <a:bodyPr/>
          <a:lstStyle/>
          <a:p>
            <a:r>
              <a:rPr lang="en-US"/>
              <a:t>Electric Field</a:t>
            </a:r>
          </a:p>
        </p:txBody>
      </p:sp>
      <p:sp>
        <p:nvSpPr>
          <p:cNvPr id="123907" name="Rectangle 3"/>
          <p:cNvSpPr>
            <a:spLocks noGrp="1" noChangeArrowheads="1"/>
          </p:cNvSpPr>
          <p:nvPr>
            <p:ph type="body" idx="1"/>
          </p:nvPr>
        </p:nvSpPr>
        <p:spPr>
          <a:xfrm>
            <a:off x="609600" y="1752600"/>
            <a:ext cx="7772400" cy="4114800"/>
          </a:xfrm>
        </p:spPr>
        <p:txBody>
          <a:bodyPr/>
          <a:lstStyle/>
          <a:p>
            <a:r>
              <a:rPr lang="en-US" sz="3200"/>
              <a:t>For a point charge at the </a:t>
            </a:r>
            <a:r>
              <a:rPr lang="en-US" sz="3200" u="sng"/>
              <a:t>origin</a:t>
            </a:r>
            <a:r>
              <a:rPr lang="en-US" sz="3200"/>
              <a:t>, the electric field at any point is given by</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4"/>
          <p:cNvSpPr>
            <a:spLocks noGrp="1"/>
          </p:cNvSpPr>
          <p:nvPr>
            <p:ph type="ftr" sz="quarter" idx="11"/>
          </p:nvPr>
        </p:nvSpPr>
        <p:spPr/>
        <p:txBody>
          <a:bodyPr/>
          <a:lstStyle/>
          <a:p>
            <a:fld id="{73B0BB82-78EA-43A3-81DA-6A7DE85D2810}" type="slidenum">
              <a:rPr lang="en-US"/>
              <a:pPr/>
              <a:t>87</a:t>
            </a:fld>
            <a:endParaRPr lang="en-US"/>
          </a:p>
        </p:txBody>
      </p:sp>
      <p:sp>
        <p:nvSpPr>
          <p:cNvPr id="124930" name="Rectangle 2"/>
          <p:cNvSpPr>
            <a:spLocks noGrp="1" noRot="1" noChangeArrowheads="1"/>
          </p:cNvSpPr>
          <p:nvPr>
            <p:ph type="title"/>
          </p:nvPr>
        </p:nvSpPr>
        <p:spPr>
          <a:xfrm>
            <a:off x="609600" y="228600"/>
            <a:ext cx="7772400" cy="1143000"/>
          </a:xfrm>
        </p:spPr>
        <p:txBody>
          <a:bodyPr/>
          <a:lstStyle/>
          <a:p>
            <a:r>
              <a:rPr lang="en-US"/>
              <a:t>Electric Field</a:t>
            </a:r>
          </a:p>
        </p:txBody>
      </p:sp>
      <p:sp>
        <p:nvSpPr>
          <p:cNvPr id="124931" name="Rectangle 3"/>
          <p:cNvSpPr>
            <a:spLocks noGrp="1" noChangeArrowheads="1"/>
          </p:cNvSpPr>
          <p:nvPr>
            <p:ph type="body" idx="1"/>
          </p:nvPr>
        </p:nvSpPr>
        <p:spPr>
          <a:xfrm>
            <a:off x="533400" y="1295400"/>
            <a:ext cx="7772400" cy="4114800"/>
          </a:xfrm>
        </p:spPr>
        <p:txBody>
          <a:bodyPr/>
          <a:lstStyle/>
          <a:p>
            <a:r>
              <a:rPr lang="en-US" sz="3200"/>
              <a:t>For a point charge located at a point </a:t>
            </a:r>
            <a:r>
              <a:rPr lang="en-US" sz="3200" i="1"/>
              <a:t>P’ </a:t>
            </a:r>
            <a:r>
              <a:rPr lang="en-US" sz="3200"/>
              <a:t>described by a position vector</a:t>
            </a:r>
          </a:p>
          <a:p>
            <a:pPr>
              <a:buFont typeface="Wingdings" pitchFamily="2" charset="2"/>
              <a:buNone/>
            </a:pPr>
            <a:r>
              <a:rPr lang="en-US" sz="3200"/>
              <a:t>   the electric field at </a:t>
            </a:r>
            <a:r>
              <a:rPr lang="en-US" sz="3200" i="1">
                <a:latin typeface="Times New Roman" pitchFamily="18" charset="0"/>
              </a:rPr>
              <a:t>P</a:t>
            </a:r>
            <a:r>
              <a:rPr lang="en-US" sz="3200"/>
              <a:t> is given by </a:t>
            </a:r>
          </a:p>
        </p:txBody>
      </p:sp>
      <p:grpSp>
        <p:nvGrpSpPr>
          <p:cNvPr id="2" name="Group 6"/>
          <p:cNvGrpSpPr>
            <a:grpSpLocks/>
          </p:cNvGrpSpPr>
          <p:nvPr/>
        </p:nvGrpSpPr>
        <p:grpSpPr bwMode="auto">
          <a:xfrm>
            <a:off x="3886200" y="2819400"/>
            <a:ext cx="4484688" cy="2971800"/>
            <a:chOff x="1536" y="912"/>
            <a:chExt cx="2825" cy="1872"/>
          </a:xfrm>
        </p:grpSpPr>
        <p:sp>
          <p:nvSpPr>
            <p:cNvPr id="124935" name="Oval 7"/>
            <p:cNvSpPr>
              <a:spLocks noChangeArrowheads="1"/>
            </p:cNvSpPr>
            <p:nvPr/>
          </p:nvSpPr>
          <p:spPr bwMode="auto">
            <a:xfrm>
              <a:off x="3168" y="1824"/>
              <a:ext cx="144" cy="144"/>
            </a:xfrm>
            <a:prstGeom prst="ellipse">
              <a:avLst/>
            </a:prstGeom>
            <a:solidFill>
              <a:schemeClr val="hlink"/>
            </a:solidFill>
            <a:ln w="9525">
              <a:solidFill>
                <a:schemeClr val="tx1"/>
              </a:solidFill>
              <a:round/>
              <a:headEnd/>
              <a:tailEnd/>
            </a:ln>
            <a:effectLst/>
          </p:spPr>
          <p:txBody>
            <a:bodyPr wrap="none" anchor="ctr"/>
            <a:lstStyle/>
            <a:p>
              <a:endParaRPr lang="en-IN"/>
            </a:p>
          </p:txBody>
        </p:sp>
        <p:sp>
          <p:nvSpPr>
            <p:cNvPr id="124936" name="Oval 8"/>
            <p:cNvSpPr>
              <a:spLocks noChangeArrowheads="1"/>
            </p:cNvSpPr>
            <p:nvPr/>
          </p:nvSpPr>
          <p:spPr bwMode="auto">
            <a:xfrm>
              <a:off x="3888" y="1056"/>
              <a:ext cx="144" cy="144"/>
            </a:xfrm>
            <a:prstGeom prst="ellipse">
              <a:avLst/>
            </a:prstGeom>
            <a:solidFill>
              <a:srgbClr val="FF3300"/>
            </a:solidFill>
            <a:ln w="9525">
              <a:solidFill>
                <a:schemeClr val="tx1"/>
              </a:solidFill>
              <a:round/>
              <a:headEnd/>
              <a:tailEnd/>
            </a:ln>
            <a:effectLst/>
          </p:spPr>
          <p:txBody>
            <a:bodyPr wrap="none" anchor="ctr"/>
            <a:lstStyle/>
            <a:p>
              <a:endParaRPr lang="en-IN"/>
            </a:p>
          </p:txBody>
        </p:sp>
        <p:sp>
          <p:nvSpPr>
            <p:cNvPr id="124937" name="Text Box 9"/>
            <p:cNvSpPr txBox="1">
              <a:spLocks noChangeArrowheads="1"/>
            </p:cNvSpPr>
            <p:nvPr/>
          </p:nvSpPr>
          <p:spPr bwMode="auto">
            <a:xfrm>
              <a:off x="3312" y="1872"/>
              <a:ext cx="255" cy="288"/>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p>
          </p:txBody>
        </p:sp>
        <p:sp>
          <p:nvSpPr>
            <p:cNvPr id="124938" name="Text Box 10"/>
            <p:cNvSpPr txBox="1">
              <a:spLocks noChangeArrowheads="1"/>
            </p:cNvSpPr>
            <p:nvPr/>
          </p:nvSpPr>
          <p:spPr bwMode="auto">
            <a:xfrm>
              <a:off x="4128" y="912"/>
              <a:ext cx="233" cy="288"/>
            </a:xfrm>
            <a:prstGeom prst="rect">
              <a:avLst/>
            </a:prstGeom>
            <a:noFill/>
            <a:ln w="9525">
              <a:noFill/>
              <a:miter lim="800000"/>
              <a:headEnd/>
              <a:tailEnd/>
            </a:ln>
            <a:effectLst/>
          </p:spPr>
          <p:txBody>
            <a:bodyPr wrap="none">
              <a:spAutoFit/>
            </a:bodyPr>
            <a:lstStyle/>
            <a:p>
              <a:r>
                <a:rPr lang="en-US" sz="2400" b="1" i="1">
                  <a:solidFill>
                    <a:srgbClr val="FF9933"/>
                  </a:solidFill>
                  <a:latin typeface="Times New Roman" pitchFamily="18" charset="0"/>
                </a:rPr>
                <a:t>P</a:t>
              </a:r>
            </a:p>
          </p:txBody>
        </p:sp>
        <p:sp>
          <p:nvSpPr>
            <p:cNvPr id="124939" name="Line 11"/>
            <p:cNvSpPr>
              <a:spLocks noChangeShapeType="1"/>
            </p:cNvSpPr>
            <p:nvPr/>
          </p:nvSpPr>
          <p:spPr bwMode="auto">
            <a:xfrm flipV="1">
              <a:off x="1920" y="1440"/>
              <a:ext cx="0" cy="1008"/>
            </a:xfrm>
            <a:prstGeom prst="line">
              <a:avLst/>
            </a:prstGeom>
            <a:noFill/>
            <a:ln w="9525">
              <a:solidFill>
                <a:schemeClr val="tx1"/>
              </a:solidFill>
              <a:round/>
              <a:headEnd/>
              <a:tailEnd type="triangle" w="med" len="med"/>
            </a:ln>
            <a:effectLst/>
          </p:spPr>
          <p:txBody>
            <a:bodyPr wrap="none" anchor="ctr"/>
            <a:lstStyle/>
            <a:p>
              <a:endParaRPr lang="en-IN"/>
            </a:p>
          </p:txBody>
        </p:sp>
        <p:sp>
          <p:nvSpPr>
            <p:cNvPr id="124940" name="Line 12"/>
            <p:cNvSpPr>
              <a:spLocks noChangeShapeType="1"/>
            </p:cNvSpPr>
            <p:nvPr/>
          </p:nvSpPr>
          <p:spPr bwMode="auto">
            <a:xfrm>
              <a:off x="1920" y="2448"/>
              <a:ext cx="768"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24941" name="Line 13"/>
            <p:cNvSpPr>
              <a:spLocks noChangeShapeType="1"/>
            </p:cNvSpPr>
            <p:nvPr/>
          </p:nvSpPr>
          <p:spPr bwMode="auto">
            <a:xfrm flipH="1">
              <a:off x="1536" y="2448"/>
              <a:ext cx="384" cy="336"/>
            </a:xfrm>
            <a:prstGeom prst="line">
              <a:avLst/>
            </a:prstGeom>
            <a:noFill/>
            <a:ln w="9525">
              <a:solidFill>
                <a:schemeClr val="tx1"/>
              </a:solidFill>
              <a:round/>
              <a:headEnd/>
              <a:tailEnd type="triangle" w="med" len="med"/>
            </a:ln>
            <a:effectLst/>
          </p:spPr>
          <p:txBody>
            <a:bodyPr wrap="none" anchor="ctr"/>
            <a:lstStyle/>
            <a:p>
              <a:endParaRPr lang="en-IN"/>
            </a:p>
          </p:txBody>
        </p:sp>
        <p:sp>
          <p:nvSpPr>
            <p:cNvPr id="124942" name="Line 14"/>
            <p:cNvSpPr>
              <a:spLocks noChangeShapeType="1"/>
            </p:cNvSpPr>
            <p:nvPr/>
          </p:nvSpPr>
          <p:spPr bwMode="auto">
            <a:xfrm flipV="1">
              <a:off x="3264" y="1104"/>
              <a:ext cx="720" cy="768"/>
            </a:xfrm>
            <a:prstGeom prst="line">
              <a:avLst/>
            </a:prstGeom>
            <a:noFill/>
            <a:ln w="9525">
              <a:solidFill>
                <a:schemeClr val="tx1"/>
              </a:solidFill>
              <a:round/>
              <a:headEnd/>
              <a:tailEnd type="triangle" w="lg" len="lg"/>
            </a:ln>
            <a:effectLst/>
          </p:spPr>
          <p:txBody>
            <a:bodyPr wrap="none" anchor="ctr"/>
            <a:lstStyle/>
            <a:p>
              <a:endParaRPr lang="en-IN"/>
            </a:p>
          </p:txBody>
        </p:sp>
        <p:sp>
          <p:nvSpPr>
            <p:cNvPr id="124944" name="Line 16"/>
            <p:cNvSpPr>
              <a:spLocks noChangeShapeType="1"/>
            </p:cNvSpPr>
            <p:nvPr/>
          </p:nvSpPr>
          <p:spPr bwMode="auto">
            <a:xfrm flipV="1">
              <a:off x="1920" y="1872"/>
              <a:ext cx="1344" cy="576"/>
            </a:xfrm>
            <a:prstGeom prst="line">
              <a:avLst/>
            </a:prstGeom>
            <a:noFill/>
            <a:ln w="9525">
              <a:solidFill>
                <a:schemeClr val="tx1"/>
              </a:solidFill>
              <a:round/>
              <a:headEnd/>
              <a:tailEnd type="triangle" w="med" len="med"/>
            </a:ln>
            <a:effectLst/>
          </p:spPr>
          <p:txBody>
            <a:bodyPr wrap="none" anchor="ctr"/>
            <a:lstStyle/>
            <a:p>
              <a:endParaRPr lang="en-IN"/>
            </a:p>
          </p:txBody>
        </p:sp>
        <p:sp>
          <p:nvSpPr>
            <p:cNvPr id="124945" name="Line 17"/>
            <p:cNvSpPr>
              <a:spLocks noChangeShapeType="1"/>
            </p:cNvSpPr>
            <p:nvPr/>
          </p:nvSpPr>
          <p:spPr bwMode="auto">
            <a:xfrm flipV="1">
              <a:off x="1920" y="1104"/>
              <a:ext cx="2064" cy="1344"/>
            </a:xfrm>
            <a:prstGeom prst="line">
              <a:avLst/>
            </a:prstGeom>
            <a:noFill/>
            <a:ln w="9525">
              <a:solidFill>
                <a:schemeClr val="tx1"/>
              </a:solidFill>
              <a:round/>
              <a:headEnd/>
              <a:tailEnd type="triangle" w="med" len="med"/>
            </a:ln>
            <a:effectLst/>
          </p:spPr>
          <p:txBody>
            <a:bodyPr wrap="none" anchor="ctr"/>
            <a:lstStyle/>
            <a:p>
              <a:endParaRPr lang="en-IN"/>
            </a:p>
          </p:txBody>
        </p:sp>
        <p:sp>
          <p:nvSpPr>
            <p:cNvPr id="124948" name="Text Box 20"/>
            <p:cNvSpPr txBox="1">
              <a:spLocks noChangeArrowheads="1"/>
            </p:cNvSpPr>
            <p:nvPr/>
          </p:nvSpPr>
          <p:spPr bwMode="auto">
            <a:xfrm>
              <a:off x="1824" y="2448"/>
              <a:ext cx="255" cy="288"/>
            </a:xfrm>
            <a:prstGeom prst="rect">
              <a:avLst/>
            </a:prstGeom>
            <a:noFill/>
            <a:ln w="9525">
              <a:noFill/>
              <a:miter lim="800000"/>
              <a:headEnd/>
              <a:tailEnd/>
            </a:ln>
            <a:effectLst/>
          </p:spPr>
          <p:txBody>
            <a:bodyPr wrap="none">
              <a:spAutoFit/>
            </a:bodyPr>
            <a:lstStyle/>
            <a:p>
              <a:r>
                <a:rPr lang="en-US" sz="2400" b="1" i="1">
                  <a:latin typeface="Times New Roman" pitchFamily="18" charset="0"/>
                </a:rPr>
                <a:t>O</a:t>
              </a:r>
            </a:p>
          </p:txBody>
        </p:sp>
      </p:gr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3597A944-B945-492E-8723-C710202FE6A4}" type="slidenum">
              <a:rPr lang="en-US"/>
              <a:pPr/>
              <a:t>88</a:t>
            </a:fld>
            <a:endParaRPr lang="en-US"/>
          </a:p>
        </p:txBody>
      </p:sp>
      <p:sp>
        <p:nvSpPr>
          <p:cNvPr id="126978" name="Rectangle 2"/>
          <p:cNvSpPr>
            <a:spLocks noGrp="1" noRot="1" noChangeArrowheads="1"/>
          </p:cNvSpPr>
          <p:nvPr>
            <p:ph type="title"/>
          </p:nvPr>
        </p:nvSpPr>
        <p:spPr>
          <a:xfrm>
            <a:off x="685800" y="457200"/>
            <a:ext cx="7772400" cy="1143000"/>
          </a:xfrm>
        </p:spPr>
        <p:txBody>
          <a:bodyPr/>
          <a:lstStyle/>
          <a:p>
            <a:r>
              <a:rPr lang="en-US"/>
              <a:t>Electric Field</a:t>
            </a:r>
          </a:p>
        </p:txBody>
      </p:sp>
      <p:sp>
        <p:nvSpPr>
          <p:cNvPr id="126979" name="Rectangle 3"/>
          <p:cNvSpPr>
            <a:spLocks noGrp="1" noChangeArrowheads="1"/>
          </p:cNvSpPr>
          <p:nvPr>
            <p:ph type="body" idx="1"/>
          </p:nvPr>
        </p:nvSpPr>
        <p:spPr/>
        <p:txBody>
          <a:bodyPr/>
          <a:lstStyle/>
          <a:p>
            <a:r>
              <a:rPr lang="en-US"/>
              <a:t>In electromagnetics, it is very popular to describe the source in terms of </a:t>
            </a:r>
            <a:r>
              <a:rPr lang="en-US" i="1">
                <a:latin typeface="Times New Roman" pitchFamily="18" charset="0"/>
              </a:rPr>
              <a:t>primed coordinates</a:t>
            </a:r>
            <a:r>
              <a:rPr lang="en-US"/>
              <a:t>, and the observation point in terms of </a:t>
            </a:r>
            <a:r>
              <a:rPr lang="en-US" i="1">
                <a:latin typeface="Times New Roman" pitchFamily="18" charset="0"/>
              </a:rPr>
              <a:t>unprimed coordinates</a:t>
            </a:r>
            <a:r>
              <a:rPr lang="en-US"/>
              <a:t>.</a:t>
            </a:r>
          </a:p>
          <a:p>
            <a:r>
              <a:rPr lang="en-US"/>
              <a:t>As we shall see, for continuous source distributions we shall need to integrate over the source coordinates.</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BCBB5B91-3DF9-49B2-916E-0EE899CCEDDD}" type="slidenum">
              <a:rPr lang="en-US"/>
              <a:pPr/>
              <a:t>89</a:t>
            </a:fld>
            <a:endParaRPr lang="en-US"/>
          </a:p>
        </p:txBody>
      </p:sp>
      <p:sp>
        <p:nvSpPr>
          <p:cNvPr id="131074" name="Rectangle 2"/>
          <p:cNvSpPr>
            <a:spLocks noGrp="1" noRot="1" noChangeArrowheads="1"/>
          </p:cNvSpPr>
          <p:nvPr>
            <p:ph type="title"/>
          </p:nvPr>
        </p:nvSpPr>
        <p:spPr/>
        <p:txBody>
          <a:bodyPr/>
          <a:lstStyle/>
          <a:p>
            <a:r>
              <a:rPr lang="en-US"/>
              <a:t>Electric Field</a:t>
            </a:r>
          </a:p>
        </p:txBody>
      </p:sp>
      <p:sp>
        <p:nvSpPr>
          <p:cNvPr id="131075" name="Rectangle 3"/>
          <p:cNvSpPr>
            <a:spLocks noGrp="1" noChangeArrowheads="1"/>
          </p:cNvSpPr>
          <p:nvPr>
            <p:ph type="body" idx="1"/>
          </p:nvPr>
        </p:nvSpPr>
        <p:spPr>
          <a:xfrm>
            <a:off x="457200" y="1874838"/>
            <a:ext cx="8229600" cy="4525962"/>
          </a:xfrm>
        </p:spPr>
        <p:txBody>
          <a:bodyPr/>
          <a:lstStyle/>
          <a:p>
            <a:r>
              <a:rPr lang="en-US"/>
              <a:t>Using the principal of </a:t>
            </a:r>
            <a:r>
              <a:rPr lang="en-US" b="1" i="1">
                <a:solidFill>
                  <a:schemeClr val="hlink"/>
                </a:solidFill>
                <a:latin typeface="Times New Roman" pitchFamily="18" charset="0"/>
              </a:rPr>
              <a:t>superposition</a:t>
            </a:r>
            <a:r>
              <a:rPr lang="en-US"/>
              <a:t>, the electric field at a point arising from multiple point charges may be evaluated as </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2175E160-501D-49C5-97D4-ADE0728FE698}" type="slidenum">
              <a:rPr lang="en-US"/>
              <a:pPr/>
              <a:t>90</a:t>
            </a:fld>
            <a:endParaRPr lang="en-US"/>
          </a:p>
        </p:txBody>
      </p:sp>
      <p:sp>
        <p:nvSpPr>
          <p:cNvPr id="133122" name="Rectangle 2"/>
          <p:cNvSpPr>
            <a:spLocks noGrp="1" noRot="1" noChangeArrowheads="1"/>
          </p:cNvSpPr>
          <p:nvPr>
            <p:ph type="title"/>
          </p:nvPr>
        </p:nvSpPr>
        <p:spPr/>
        <p:txBody>
          <a:bodyPr/>
          <a:lstStyle/>
          <a:p>
            <a:r>
              <a:rPr lang="en-US"/>
              <a:t>Continuous Distributions of Charge</a:t>
            </a:r>
          </a:p>
        </p:txBody>
      </p:sp>
      <p:sp>
        <p:nvSpPr>
          <p:cNvPr id="133123" name="Rectangle 3"/>
          <p:cNvSpPr>
            <a:spLocks noGrp="1" noChangeArrowheads="1"/>
          </p:cNvSpPr>
          <p:nvPr>
            <p:ph type="body" idx="1"/>
          </p:nvPr>
        </p:nvSpPr>
        <p:spPr/>
        <p:txBody>
          <a:bodyPr/>
          <a:lstStyle/>
          <a:p>
            <a:r>
              <a:rPr lang="en-US"/>
              <a:t>Charge can occur as</a:t>
            </a:r>
          </a:p>
          <a:p>
            <a:pPr lvl="1"/>
            <a:r>
              <a:rPr lang="en-US" i="1">
                <a:latin typeface="Times New Roman" pitchFamily="18" charset="0"/>
              </a:rPr>
              <a:t>point charges</a:t>
            </a:r>
            <a:r>
              <a:rPr lang="en-US"/>
              <a:t> (C)</a:t>
            </a:r>
          </a:p>
          <a:p>
            <a:pPr lvl="1"/>
            <a:r>
              <a:rPr lang="en-US" i="1">
                <a:latin typeface="Times New Roman" pitchFamily="18" charset="0"/>
              </a:rPr>
              <a:t>volume charges</a:t>
            </a:r>
            <a:r>
              <a:rPr lang="en-US"/>
              <a:t> (C/m</a:t>
            </a:r>
            <a:r>
              <a:rPr lang="en-US" baseline="30000"/>
              <a:t>3</a:t>
            </a:r>
            <a:r>
              <a:rPr lang="en-US"/>
              <a:t>)</a:t>
            </a:r>
          </a:p>
          <a:p>
            <a:pPr lvl="1"/>
            <a:r>
              <a:rPr lang="en-US" i="1">
                <a:latin typeface="Times New Roman" pitchFamily="18" charset="0"/>
              </a:rPr>
              <a:t>surface charges</a:t>
            </a:r>
            <a:r>
              <a:rPr lang="en-US"/>
              <a:t> (C/m</a:t>
            </a:r>
            <a:r>
              <a:rPr lang="en-US" baseline="30000"/>
              <a:t>2</a:t>
            </a:r>
            <a:r>
              <a:rPr lang="en-US"/>
              <a:t>)</a:t>
            </a:r>
          </a:p>
          <a:p>
            <a:pPr lvl="1"/>
            <a:r>
              <a:rPr lang="en-US" i="1">
                <a:latin typeface="Times New Roman" pitchFamily="18" charset="0"/>
              </a:rPr>
              <a:t>line charges</a:t>
            </a:r>
            <a:r>
              <a:rPr lang="en-US"/>
              <a:t> (C/m)</a:t>
            </a:r>
          </a:p>
        </p:txBody>
      </p:sp>
      <p:sp>
        <p:nvSpPr>
          <p:cNvPr id="133124" name="Text Box 4"/>
          <p:cNvSpPr txBox="1">
            <a:spLocks noChangeArrowheads="1"/>
          </p:cNvSpPr>
          <p:nvPr/>
        </p:nvSpPr>
        <p:spPr bwMode="auto">
          <a:xfrm>
            <a:off x="5162550" y="2895600"/>
            <a:ext cx="2228850" cy="457200"/>
          </a:xfrm>
          <a:prstGeom prst="rect">
            <a:avLst/>
          </a:prstGeom>
          <a:noFill/>
          <a:ln w="9525">
            <a:noFill/>
            <a:miter lim="800000"/>
            <a:headEnd/>
            <a:tailEnd/>
          </a:ln>
          <a:effectLst/>
        </p:spPr>
        <p:txBody>
          <a:bodyPr wrap="none">
            <a:spAutoFit/>
          </a:bodyPr>
          <a:lstStyle/>
          <a:p>
            <a:r>
              <a:rPr lang="en-US" sz="2400" b="1">
                <a:solidFill>
                  <a:srgbClr val="FF9933"/>
                </a:solidFill>
                <a:latin typeface="Times New Roman" pitchFamily="18" charset="0"/>
                <a:sym typeface="Symbol" pitchFamily="18" charset="2"/>
              </a:rPr>
              <a:t> most general</a:t>
            </a:r>
            <a:endParaRPr lang="en-US" sz="2400" b="1">
              <a:solidFill>
                <a:srgbClr val="FF9933"/>
              </a:solidFill>
              <a:latin typeface="Times New Roman" pitchFamily="18"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endParaRPr lang="en-I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half" idx="10"/>
          </p:nvPr>
        </p:nvSpPr>
        <p:spPr/>
        <p:txBody>
          <a:bodyPr/>
          <a:lstStyle/>
          <a:p>
            <a:r>
              <a:rPr lang="en-US"/>
              <a:t>Feb. 13, 2008</a:t>
            </a:r>
          </a:p>
        </p:txBody>
      </p:sp>
      <p:sp>
        <p:nvSpPr>
          <p:cNvPr id="7" name="Footer Placeholder 4"/>
          <p:cNvSpPr>
            <a:spLocks noGrp="1"/>
          </p:cNvSpPr>
          <p:nvPr>
            <p:ph type="ftr" sz="quarter" idx="11"/>
          </p:nvPr>
        </p:nvSpPr>
        <p:spPr/>
        <p:txBody>
          <a:bodyPr/>
          <a:lstStyle/>
          <a:p>
            <a:r>
              <a:rPr lang="en-US"/>
              <a:t>Physics 208 Lecture 7</a:t>
            </a:r>
          </a:p>
        </p:txBody>
      </p:sp>
      <p:sp>
        <p:nvSpPr>
          <p:cNvPr id="8" name="Slide Number Placeholder 5"/>
          <p:cNvSpPr>
            <a:spLocks noGrp="1"/>
          </p:cNvSpPr>
          <p:nvPr>
            <p:ph type="sldNum" sz="quarter" idx="12"/>
          </p:nvPr>
        </p:nvSpPr>
        <p:spPr/>
        <p:txBody>
          <a:bodyPr/>
          <a:lstStyle/>
          <a:p>
            <a:fld id="{DE80CEF6-A760-44F3-9B45-BE6F75819527}" type="slidenum">
              <a:rPr lang="en-US"/>
              <a:pPr/>
              <a:t>92</a:t>
            </a:fld>
            <a:endParaRPr lang="en-US"/>
          </a:p>
        </p:txBody>
      </p:sp>
      <p:sp>
        <p:nvSpPr>
          <p:cNvPr id="54274" name="Rectangle 2"/>
          <p:cNvSpPr>
            <a:spLocks noGrp="1" noChangeArrowheads="1"/>
          </p:cNvSpPr>
          <p:nvPr>
            <p:ph type="title"/>
          </p:nvPr>
        </p:nvSpPr>
        <p:spPr/>
        <p:txBody>
          <a:bodyPr/>
          <a:lstStyle/>
          <a:p>
            <a:r>
              <a:rPr lang="en-US"/>
              <a:t>Charge Densities</a:t>
            </a:r>
          </a:p>
        </p:txBody>
      </p:sp>
      <p:sp>
        <p:nvSpPr>
          <p:cNvPr id="54275" name="Rectangle 3"/>
          <p:cNvSpPr>
            <a:spLocks noGrp="1" noChangeArrowheads="1"/>
          </p:cNvSpPr>
          <p:nvPr>
            <p:ph type="body" idx="1"/>
          </p:nvPr>
        </p:nvSpPr>
        <p:spPr>
          <a:xfrm>
            <a:off x="228600" y="1981200"/>
            <a:ext cx="8726488" cy="4114800"/>
          </a:xfrm>
        </p:spPr>
        <p:txBody>
          <a:bodyPr/>
          <a:lstStyle/>
          <a:p>
            <a:pPr>
              <a:lnSpc>
                <a:spcPct val="90000"/>
              </a:lnSpc>
            </a:pPr>
            <a:r>
              <a:rPr lang="en-US" sz="2400" b="1"/>
              <a:t>Volume charge density</a:t>
            </a:r>
            <a:r>
              <a:rPr lang="en-US" sz="2400"/>
              <a:t>: when a charge is distributed evenly throughout a volume</a:t>
            </a:r>
          </a:p>
          <a:p>
            <a:pPr lvl="1">
              <a:lnSpc>
                <a:spcPct val="90000"/>
              </a:lnSpc>
            </a:pPr>
            <a:r>
              <a:rPr lang="en-US" sz="2400"/>
              <a:t> </a:t>
            </a:r>
            <a:r>
              <a:rPr lang="en-US" sz="2400">
                <a:sym typeface="Symbol" pitchFamily="18" charset="2"/>
              </a:rPr>
              <a:t></a:t>
            </a:r>
            <a:r>
              <a:rPr lang="en-US" sz="2400"/>
              <a:t> = </a:t>
            </a:r>
            <a:r>
              <a:rPr lang="en-US" sz="2400" i="1"/>
              <a:t>Q</a:t>
            </a:r>
            <a:r>
              <a:rPr lang="en-US" sz="2400"/>
              <a:t> / </a:t>
            </a:r>
            <a:r>
              <a:rPr lang="en-US" sz="2400" i="1"/>
              <a:t>V         dq</a:t>
            </a:r>
            <a:r>
              <a:rPr lang="en-US" sz="2400"/>
              <a:t> = </a:t>
            </a:r>
            <a:r>
              <a:rPr lang="en-US" sz="2400">
                <a:sym typeface="Symbol" pitchFamily="18" charset="2"/>
              </a:rPr>
              <a:t> </a:t>
            </a:r>
            <a:r>
              <a:rPr lang="en-US" sz="2400" i="1"/>
              <a:t>dV</a:t>
            </a:r>
          </a:p>
          <a:p>
            <a:pPr lvl="1">
              <a:lnSpc>
                <a:spcPct val="90000"/>
              </a:lnSpc>
            </a:pPr>
            <a:endParaRPr lang="en-US" sz="2400" i="1"/>
          </a:p>
          <a:p>
            <a:pPr>
              <a:lnSpc>
                <a:spcPct val="90000"/>
              </a:lnSpc>
            </a:pPr>
            <a:r>
              <a:rPr lang="en-US" sz="2400" b="1"/>
              <a:t>Surface charge density</a:t>
            </a:r>
            <a:r>
              <a:rPr lang="en-US" sz="2400"/>
              <a:t>: when a charge is distributed evenly over a surface area</a:t>
            </a:r>
          </a:p>
          <a:p>
            <a:pPr lvl="1">
              <a:lnSpc>
                <a:spcPct val="90000"/>
              </a:lnSpc>
            </a:pPr>
            <a:r>
              <a:rPr lang="en-US" sz="2400" i="1">
                <a:cs typeface="Arial" pitchFamily="34" charset="0"/>
              </a:rPr>
              <a:t> </a:t>
            </a:r>
            <a:r>
              <a:rPr lang="en-US" sz="2400" i="1">
                <a:cs typeface="Arial" pitchFamily="34" charset="0"/>
                <a:sym typeface="Symbol" pitchFamily="18" charset="2"/>
              </a:rPr>
              <a:t></a:t>
            </a:r>
            <a:r>
              <a:rPr lang="en-US" sz="2400"/>
              <a:t> = </a:t>
            </a:r>
            <a:r>
              <a:rPr lang="en-US" sz="2400" i="1"/>
              <a:t>Q</a:t>
            </a:r>
            <a:r>
              <a:rPr lang="en-US" sz="2400"/>
              <a:t> / </a:t>
            </a:r>
            <a:r>
              <a:rPr lang="en-US" sz="2400" i="1"/>
              <a:t>A            dq</a:t>
            </a:r>
            <a:r>
              <a:rPr lang="en-US" sz="2400"/>
              <a:t> = </a:t>
            </a:r>
            <a:r>
              <a:rPr lang="en-US" sz="2400" i="1">
                <a:cs typeface="Arial" pitchFamily="34" charset="0"/>
                <a:sym typeface="Symbol" pitchFamily="18" charset="2"/>
              </a:rPr>
              <a:t></a:t>
            </a:r>
            <a:r>
              <a:rPr lang="en-US" sz="2400"/>
              <a:t> </a:t>
            </a:r>
            <a:r>
              <a:rPr lang="en-US" sz="2400" i="1"/>
              <a:t>dA</a:t>
            </a:r>
          </a:p>
          <a:p>
            <a:pPr>
              <a:lnSpc>
                <a:spcPct val="90000"/>
              </a:lnSpc>
            </a:pPr>
            <a:r>
              <a:rPr lang="en-US" sz="2400" b="1"/>
              <a:t>Linear charge density</a:t>
            </a:r>
            <a:r>
              <a:rPr lang="en-US" sz="2400"/>
              <a:t>: when a charge is distributed along a line</a:t>
            </a:r>
          </a:p>
          <a:p>
            <a:pPr lvl="1">
              <a:lnSpc>
                <a:spcPct val="90000"/>
              </a:lnSpc>
            </a:pPr>
            <a:r>
              <a:rPr lang="en-US" sz="2400" i="1">
                <a:cs typeface="Arial" pitchFamily="34" charset="0"/>
              </a:rPr>
              <a:t> </a:t>
            </a:r>
            <a:r>
              <a:rPr lang="en-US" sz="2400" i="1">
                <a:cs typeface="Arial" pitchFamily="34" charset="0"/>
                <a:sym typeface="Symbol" pitchFamily="18" charset="2"/>
              </a:rPr>
              <a:t></a:t>
            </a:r>
            <a:r>
              <a:rPr lang="en-US" sz="2400"/>
              <a:t> = </a:t>
            </a:r>
            <a:r>
              <a:rPr lang="en-US" sz="2400" i="1"/>
              <a:t>Q</a:t>
            </a:r>
            <a:r>
              <a:rPr lang="en-US" sz="2400"/>
              <a:t> /              </a:t>
            </a:r>
            <a:r>
              <a:rPr lang="en-US" sz="2400" i="1"/>
              <a:t>dq</a:t>
            </a:r>
            <a:r>
              <a:rPr lang="en-US" sz="2400"/>
              <a:t> = </a:t>
            </a:r>
            <a:r>
              <a:rPr lang="en-US" sz="2400">
                <a:sym typeface="Symbol" pitchFamily="18" charset="2"/>
              </a:rPr>
              <a:t> </a:t>
            </a:r>
            <a:r>
              <a:rPr lang="en-US" sz="2400" i="1"/>
              <a:t>d </a:t>
            </a:r>
          </a:p>
        </p:txBody>
      </p:sp>
      <p:pic>
        <p:nvPicPr>
          <p:cNvPr id="54276" name="Picture 4"/>
          <p:cNvPicPr>
            <a:picLocks noChangeAspect="1" noChangeArrowheads="1"/>
          </p:cNvPicPr>
          <p:nvPr/>
        </p:nvPicPr>
        <p:blipFill>
          <a:blip r:embed="rId3" cstate="print"/>
          <a:srcRect/>
          <a:stretch>
            <a:fillRect/>
          </a:stretch>
        </p:blipFill>
        <p:spPr bwMode="auto">
          <a:xfrm>
            <a:off x="2057400" y="5181600"/>
            <a:ext cx="193675" cy="304800"/>
          </a:xfrm>
          <a:prstGeom prst="rect">
            <a:avLst/>
          </a:prstGeom>
          <a:noFill/>
        </p:spPr>
      </p:pic>
      <p:pic>
        <p:nvPicPr>
          <p:cNvPr id="54277" name="Picture 5"/>
          <p:cNvPicPr>
            <a:picLocks noChangeAspect="1" noChangeArrowheads="1"/>
          </p:cNvPicPr>
          <p:nvPr/>
        </p:nvPicPr>
        <p:blipFill>
          <a:blip r:embed="rId3" cstate="print"/>
          <a:srcRect/>
          <a:stretch>
            <a:fillRect/>
          </a:stretch>
        </p:blipFill>
        <p:spPr bwMode="auto">
          <a:xfrm>
            <a:off x="3962400" y="5105400"/>
            <a:ext cx="193675" cy="304800"/>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fld id="{1D84C5AA-01DD-4DD1-9F9E-5D7B2E187287}" type="slidenum">
              <a:rPr lang="en-US"/>
              <a:pPr/>
              <a:t>93</a:t>
            </a:fld>
            <a:endParaRPr lang="en-US"/>
          </a:p>
        </p:txBody>
      </p:sp>
      <p:sp>
        <p:nvSpPr>
          <p:cNvPr id="134146" name="Rectangle 2"/>
          <p:cNvSpPr>
            <a:spLocks noGrp="1" noRot="1" noChangeArrowheads="1"/>
          </p:cNvSpPr>
          <p:nvPr>
            <p:ph type="title"/>
          </p:nvPr>
        </p:nvSpPr>
        <p:spPr>
          <a:xfrm>
            <a:off x="685800" y="228600"/>
            <a:ext cx="7772400" cy="1143000"/>
          </a:xfrm>
        </p:spPr>
        <p:txBody>
          <a:bodyPr>
            <a:normAutofit fontScale="90000"/>
          </a:bodyPr>
          <a:lstStyle/>
          <a:p>
            <a:r>
              <a:rPr lang="en-US"/>
              <a:t>Continuous Distributions of Charge</a:t>
            </a:r>
          </a:p>
        </p:txBody>
      </p:sp>
      <p:sp>
        <p:nvSpPr>
          <p:cNvPr id="134147" name="Rectangle 3"/>
          <p:cNvSpPr>
            <a:spLocks noGrp="1" noChangeArrowheads="1"/>
          </p:cNvSpPr>
          <p:nvPr>
            <p:ph type="body" idx="1"/>
          </p:nvPr>
        </p:nvSpPr>
        <p:spPr>
          <a:xfrm>
            <a:off x="609600" y="1600200"/>
            <a:ext cx="7772400" cy="4114800"/>
          </a:xfrm>
        </p:spPr>
        <p:txBody>
          <a:bodyPr/>
          <a:lstStyle/>
          <a:p>
            <a:r>
              <a:rPr lang="en-US">
                <a:solidFill>
                  <a:schemeClr val="tx1"/>
                </a:solidFill>
              </a:rPr>
              <a:t>Volume charge density</a:t>
            </a:r>
          </a:p>
        </p:txBody>
      </p:sp>
      <p:sp>
        <p:nvSpPr>
          <p:cNvPr id="134149" name="Oval 5" descr="5%"/>
          <p:cNvSpPr>
            <a:spLocks noChangeArrowheads="1"/>
          </p:cNvSpPr>
          <p:nvPr/>
        </p:nvSpPr>
        <p:spPr bwMode="auto">
          <a:xfrm>
            <a:off x="2667000" y="2438400"/>
            <a:ext cx="4191000" cy="1828800"/>
          </a:xfrm>
          <a:prstGeom prst="ellipse">
            <a:avLst/>
          </a:prstGeom>
          <a:pattFill prst="pct5">
            <a:fgClr>
              <a:schemeClr val="accent2"/>
            </a:fgClr>
            <a:bgClr>
              <a:schemeClr val="bg1"/>
            </a:bgClr>
          </a:pattFill>
          <a:ln w="9525">
            <a:solidFill>
              <a:schemeClr val="tx1"/>
            </a:solidFill>
            <a:round/>
            <a:headEnd/>
            <a:tailEnd/>
          </a:ln>
          <a:effectLst/>
        </p:spPr>
        <p:txBody>
          <a:bodyPr wrap="none" anchor="ctr"/>
          <a:lstStyle/>
          <a:p>
            <a:endParaRPr lang="en-IN"/>
          </a:p>
        </p:txBody>
      </p:sp>
      <p:sp>
        <p:nvSpPr>
          <p:cNvPr id="134150" name="Oval 6" descr="20%"/>
          <p:cNvSpPr>
            <a:spLocks noChangeArrowheads="1"/>
          </p:cNvSpPr>
          <p:nvPr/>
        </p:nvSpPr>
        <p:spPr bwMode="auto">
          <a:xfrm>
            <a:off x="4114800" y="3200400"/>
            <a:ext cx="533400" cy="609600"/>
          </a:xfrm>
          <a:prstGeom prst="ellipse">
            <a:avLst/>
          </a:prstGeom>
          <a:pattFill prst="pct20">
            <a:fgClr>
              <a:schemeClr val="accent1"/>
            </a:fgClr>
            <a:bgClr>
              <a:schemeClr val="bg1"/>
            </a:bgClr>
          </a:pattFill>
          <a:ln w="19050">
            <a:solidFill>
              <a:schemeClr val="tx1"/>
            </a:solidFill>
            <a:round/>
            <a:headEnd/>
            <a:tailEnd/>
          </a:ln>
          <a:effectLst/>
        </p:spPr>
        <p:txBody>
          <a:bodyPr wrap="none" anchor="ctr"/>
          <a:lstStyle/>
          <a:p>
            <a:endParaRPr lang="en-IN"/>
          </a:p>
        </p:txBody>
      </p:sp>
      <p:sp>
        <p:nvSpPr>
          <p:cNvPr id="134151" name="Text Box 7"/>
          <p:cNvSpPr txBox="1">
            <a:spLocks noChangeArrowheads="1"/>
          </p:cNvSpPr>
          <p:nvPr/>
        </p:nvSpPr>
        <p:spPr bwMode="auto">
          <a:xfrm>
            <a:off x="4419600" y="2743200"/>
            <a:ext cx="755650"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r>
              <a:rPr lang="en-US" sz="2400" b="1" i="1" baseline="-25000">
                <a:solidFill>
                  <a:schemeClr val="hlink"/>
                </a:solidFill>
                <a:latin typeface="Times New Roman" pitchFamily="18" charset="0"/>
              </a:rPr>
              <a:t>encl</a:t>
            </a:r>
            <a:endParaRPr lang="en-US" sz="2400" b="1" i="1">
              <a:solidFill>
                <a:schemeClr val="hlink"/>
              </a:solidFill>
              <a:latin typeface="Times New Roman" pitchFamily="18" charset="0"/>
            </a:endParaRPr>
          </a:p>
        </p:txBody>
      </p:sp>
      <p:sp>
        <p:nvSpPr>
          <p:cNvPr id="134152" name="Line 8"/>
          <p:cNvSpPr>
            <a:spLocks noChangeShapeType="1"/>
          </p:cNvSpPr>
          <p:nvPr/>
        </p:nvSpPr>
        <p:spPr bwMode="auto">
          <a:xfrm flipV="1">
            <a:off x="2286000" y="2819400"/>
            <a:ext cx="0" cy="16002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4153" name="Line 9"/>
          <p:cNvSpPr>
            <a:spLocks noChangeShapeType="1"/>
          </p:cNvSpPr>
          <p:nvPr/>
        </p:nvSpPr>
        <p:spPr bwMode="auto">
          <a:xfrm>
            <a:off x="2286000" y="4419600"/>
            <a:ext cx="1219200"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4154" name="Line 10"/>
          <p:cNvSpPr>
            <a:spLocks noChangeShapeType="1"/>
          </p:cNvSpPr>
          <p:nvPr/>
        </p:nvSpPr>
        <p:spPr bwMode="auto">
          <a:xfrm flipH="1">
            <a:off x="1676400" y="4419600"/>
            <a:ext cx="609600" cy="533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4156" name="Line 12"/>
          <p:cNvSpPr>
            <a:spLocks noChangeShapeType="1"/>
          </p:cNvSpPr>
          <p:nvPr/>
        </p:nvSpPr>
        <p:spPr bwMode="auto">
          <a:xfrm flipV="1">
            <a:off x="2286000" y="3505200"/>
            <a:ext cx="2133600" cy="914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4157" name="Text Box 13"/>
          <p:cNvSpPr txBox="1">
            <a:spLocks noChangeArrowheads="1"/>
          </p:cNvSpPr>
          <p:nvPr/>
        </p:nvSpPr>
        <p:spPr bwMode="auto">
          <a:xfrm>
            <a:off x="4098925" y="3768725"/>
            <a:ext cx="676275" cy="457200"/>
          </a:xfrm>
          <a:prstGeom prst="rect">
            <a:avLst/>
          </a:prstGeom>
          <a:noFill/>
          <a:ln w="9525">
            <a:noFill/>
            <a:miter lim="800000"/>
            <a:headEnd/>
            <a:tailEnd/>
          </a:ln>
          <a:effectLst/>
        </p:spPr>
        <p:txBody>
          <a:bodyPr wrap="none">
            <a:spAutoFit/>
          </a:bodyPr>
          <a:lstStyle/>
          <a:p>
            <a:r>
              <a:rPr lang="en-US" sz="2400" b="1" i="1">
                <a:solidFill>
                  <a:schemeClr val="hlink"/>
                </a:solidFill>
                <a:latin typeface="Symbol" pitchFamily="18" charset="2"/>
              </a:rPr>
              <a:t>D</a:t>
            </a:r>
            <a:r>
              <a:rPr lang="en-US" sz="2400" b="1" i="1">
                <a:solidFill>
                  <a:schemeClr val="hlink"/>
                </a:solidFill>
                <a:latin typeface="Times New Roman" pitchFamily="18" charset="0"/>
              </a:rPr>
              <a:t>V’</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4"/>
          <p:cNvSpPr>
            <a:spLocks noGrp="1"/>
          </p:cNvSpPr>
          <p:nvPr>
            <p:ph type="ftr" sz="quarter" idx="11"/>
          </p:nvPr>
        </p:nvSpPr>
        <p:spPr/>
        <p:txBody>
          <a:bodyPr/>
          <a:lstStyle/>
          <a:p>
            <a:fld id="{3C0CABA7-2288-4430-AE8F-5F0F3788D858}" type="slidenum">
              <a:rPr lang="en-US"/>
              <a:pPr/>
              <a:t>94</a:t>
            </a:fld>
            <a:endParaRPr lang="en-US"/>
          </a:p>
        </p:txBody>
      </p:sp>
      <p:sp>
        <p:nvSpPr>
          <p:cNvPr id="135170" name="Rectangle 2"/>
          <p:cNvSpPr>
            <a:spLocks noGrp="1" noRot="1" noChangeArrowheads="1"/>
          </p:cNvSpPr>
          <p:nvPr>
            <p:ph type="title"/>
          </p:nvPr>
        </p:nvSpPr>
        <p:spPr>
          <a:xfrm>
            <a:off x="685800" y="152400"/>
            <a:ext cx="7772400" cy="1143000"/>
          </a:xfrm>
        </p:spPr>
        <p:txBody>
          <a:bodyPr>
            <a:normAutofit fontScale="90000"/>
          </a:bodyPr>
          <a:lstStyle/>
          <a:p>
            <a:r>
              <a:rPr lang="en-US"/>
              <a:t>Continuous Distributions of Charge</a:t>
            </a:r>
          </a:p>
        </p:txBody>
      </p:sp>
      <p:sp>
        <p:nvSpPr>
          <p:cNvPr id="135171" name="Rectangle 3"/>
          <p:cNvSpPr>
            <a:spLocks noGrp="1" noChangeArrowheads="1"/>
          </p:cNvSpPr>
          <p:nvPr>
            <p:ph type="body" idx="1"/>
          </p:nvPr>
        </p:nvSpPr>
        <p:spPr>
          <a:xfrm>
            <a:off x="609600" y="1447800"/>
            <a:ext cx="7772400" cy="4114800"/>
          </a:xfrm>
        </p:spPr>
        <p:txBody>
          <a:bodyPr/>
          <a:lstStyle/>
          <a:p>
            <a:r>
              <a:rPr lang="en-US"/>
              <a:t>Electric field due to volume charge density</a:t>
            </a:r>
          </a:p>
        </p:txBody>
      </p:sp>
      <p:grpSp>
        <p:nvGrpSpPr>
          <p:cNvPr id="2" name="Group 19"/>
          <p:cNvGrpSpPr>
            <a:grpSpLocks/>
          </p:cNvGrpSpPr>
          <p:nvPr/>
        </p:nvGrpSpPr>
        <p:grpSpPr bwMode="auto">
          <a:xfrm>
            <a:off x="1371600" y="2514600"/>
            <a:ext cx="5002213" cy="2286000"/>
            <a:chOff x="864" y="1344"/>
            <a:chExt cx="3151" cy="1440"/>
          </a:xfrm>
        </p:grpSpPr>
        <p:sp>
          <p:nvSpPr>
            <p:cNvPr id="135172" name="Oval 4" descr="5%"/>
            <p:cNvSpPr>
              <a:spLocks noChangeArrowheads="1"/>
            </p:cNvSpPr>
            <p:nvPr/>
          </p:nvSpPr>
          <p:spPr bwMode="auto">
            <a:xfrm>
              <a:off x="1314" y="1344"/>
              <a:ext cx="1902" cy="1047"/>
            </a:xfrm>
            <a:prstGeom prst="ellipse">
              <a:avLst/>
            </a:prstGeom>
            <a:pattFill prst="pct5">
              <a:fgClr>
                <a:schemeClr val="accent2"/>
              </a:fgClr>
              <a:bgClr>
                <a:schemeClr val="bg1"/>
              </a:bgClr>
            </a:pattFill>
            <a:ln w="9525">
              <a:solidFill>
                <a:schemeClr val="tx1"/>
              </a:solidFill>
              <a:round/>
              <a:headEnd/>
              <a:tailEnd/>
            </a:ln>
            <a:effectLst/>
          </p:spPr>
          <p:txBody>
            <a:bodyPr wrap="none" anchor="ctr"/>
            <a:lstStyle/>
            <a:p>
              <a:pPr algn="ctr"/>
              <a:endParaRPr lang="en-US" sz="2400" b="1" i="1">
                <a:latin typeface="Times New Roman" pitchFamily="18" charset="0"/>
              </a:endParaRPr>
            </a:p>
          </p:txBody>
        </p:sp>
        <p:sp>
          <p:nvSpPr>
            <p:cNvPr id="135173" name="Oval 5" descr="20%"/>
            <p:cNvSpPr>
              <a:spLocks noChangeArrowheads="1"/>
            </p:cNvSpPr>
            <p:nvPr/>
          </p:nvSpPr>
          <p:spPr bwMode="auto">
            <a:xfrm>
              <a:off x="1971" y="1780"/>
              <a:ext cx="242" cy="349"/>
            </a:xfrm>
            <a:prstGeom prst="ellipse">
              <a:avLst/>
            </a:prstGeom>
            <a:pattFill prst="pct20">
              <a:fgClr>
                <a:schemeClr val="accent1"/>
              </a:fgClr>
              <a:bgClr>
                <a:schemeClr val="bg1"/>
              </a:bgClr>
            </a:pattFill>
            <a:ln w="19050">
              <a:solidFill>
                <a:schemeClr val="tx1"/>
              </a:solidFill>
              <a:round/>
              <a:headEnd/>
              <a:tailEnd/>
            </a:ln>
            <a:effectLst/>
          </p:spPr>
          <p:txBody>
            <a:bodyPr wrap="none" anchor="ctr"/>
            <a:lstStyle/>
            <a:p>
              <a:endParaRPr lang="en-IN"/>
            </a:p>
          </p:txBody>
        </p:sp>
        <p:sp>
          <p:nvSpPr>
            <p:cNvPr id="135174" name="Text Box 6"/>
            <p:cNvSpPr txBox="1">
              <a:spLocks noChangeArrowheads="1"/>
            </p:cNvSpPr>
            <p:nvPr/>
          </p:nvSpPr>
          <p:spPr bwMode="auto">
            <a:xfrm>
              <a:off x="2208" y="1776"/>
              <a:ext cx="476" cy="288"/>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r>
                <a:rPr lang="en-US" sz="2400" b="1" i="1" baseline="-25000">
                  <a:solidFill>
                    <a:schemeClr val="hlink"/>
                  </a:solidFill>
                  <a:latin typeface="Times New Roman" pitchFamily="18" charset="0"/>
                </a:rPr>
                <a:t>encl</a:t>
              </a:r>
              <a:endParaRPr lang="en-US" sz="2400" b="1" i="1">
                <a:solidFill>
                  <a:schemeClr val="hlink"/>
                </a:solidFill>
                <a:latin typeface="Times New Roman" pitchFamily="18" charset="0"/>
              </a:endParaRPr>
            </a:p>
          </p:txBody>
        </p:sp>
        <p:sp>
          <p:nvSpPr>
            <p:cNvPr id="135175" name="Line 7"/>
            <p:cNvSpPr>
              <a:spLocks noChangeShapeType="1"/>
            </p:cNvSpPr>
            <p:nvPr/>
          </p:nvSpPr>
          <p:spPr bwMode="auto">
            <a:xfrm flipV="1">
              <a:off x="1141" y="1562"/>
              <a:ext cx="0" cy="917"/>
            </a:xfrm>
            <a:prstGeom prst="line">
              <a:avLst/>
            </a:prstGeom>
            <a:noFill/>
            <a:ln w="9525">
              <a:solidFill>
                <a:schemeClr val="tx1"/>
              </a:solidFill>
              <a:round/>
              <a:headEnd/>
              <a:tailEnd type="triangle" w="med" len="med"/>
            </a:ln>
            <a:effectLst/>
          </p:spPr>
          <p:txBody>
            <a:bodyPr wrap="none" anchor="ctr"/>
            <a:lstStyle/>
            <a:p>
              <a:endParaRPr lang="en-IN"/>
            </a:p>
          </p:txBody>
        </p:sp>
        <p:sp>
          <p:nvSpPr>
            <p:cNvPr id="135176" name="Line 8"/>
            <p:cNvSpPr>
              <a:spLocks noChangeShapeType="1"/>
            </p:cNvSpPr>
            <p:nvPr/>
          </p:nvSpPr>
          <p:spPr bwMode="auto">
            <a:xfrm>
              <a:off x="1141" y="2479"/>
              <a:ext cx="553"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5177" name="Line 9"/>
            <p:cNvSpPr>
              <a:spLocks noChangeShapeType="1"/>
            </p:cNvSpPr>
            <p:nvPr/>
          </p:nvSpPr>
          <p:spPr bwMode="auto">
            <a:xfrm flipH="1">
              <a:off x="864" y="2479"/>
              <a:ext cx="277" cy="305"/>
            </a:xfrm>
            <a:prstGeom prst="line">
              <a:avLst/>
            </a:prstGeom>
            <a:noFill/>
            <a:ln w="9525">
              <a:solidFill>
                <a:schemeClr val="tx1"/>
              </a:solidFill>
              <a:round/>
              <a:headEnd/>
              <a:tailEnd type="triangle" w="med" len="med"/>
            </a:ln>
            <a:effectLst/>
          </p:spPr>
          <p:txBody>
            <a:bodyPr wrap="none" anchor="ctr"/>
            <a:lstStyle/>
            <a:p>
              <a:endParaRPr lang="en-IN"/>
            </a:p>
          </p:txBody>
        </p:sp>
        <p:sp>
          <p:nvSpPr>
            <p:cNvPr id="135179" name="Line 11"/>
            <p:cNvSpPr>
              <a:spLocks noChangeShapeType="1"/>
            </p:cNvSpPr>
            <p:nvPr/>
          </p:nvSpPr>
          <p:spPr bwMode="auto">
            <a:xfrm flipV="1">
              <a:off x="1141" y="1955"/>
              <a:ext cx="968" cy="524"/>
            </a:xfrm>
            <a:prstGeom prst="line">
              <a:avLst/>
            </a:prstGeom>
            <a:noFill/>
            <a:ln w="9525">
              <a:solidFill>
                <a:schemeClr val="tx1"/>
              </a:solidFill>
              <a:round/>
              <a:headEnd/>
              <a:tailEnd type="triangle" w="med" len="med"/>
            </a:ln>
            <a:effectLst/>
          </p:spPr>
          <p:txBody>
            <a:bodyPr wrap="none" anchor="ctr"/>
            <a:lstStyle/>
            <a:p>
              <a:endParaRPr lang="en-IN"/>
            </a:p>
          </p:txBody>
        </p:sp>
        <p:sp>
          <p:nvSpPr>
            <p:cNvPr id="135180" name="Text Box 12"/>
            <p:cNvSpPr txBox="1">
              <a:spLocks noChangeArrowheads="1"/>
            </p:cNvSpPr>
            <p:nvPr/>
          </p:nvSpPr>
          <p:spPr bwMode="auto">
            <a:xfrm>
              <a:off x="1920" y="1540"/>
              <a:ext cx="404" cy="288"/>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dV’</a:t>
              </a:r>
            </a:p>
          </p:txBody>
        </p:sp>
        <p:sp>
          <p:nvSpPr>
            <p:cNvPr id="135181" name="Text Box 13"/>
            <p:cNvSpPr txBox="1">
              <a:spLocks noChangeArrowheads="1"/>
            </p:cNvSpPr>
            <p:nvPr/>
          </p:nvSpPr>
          <p:spPr bwMode="auto">
            <a:xfrm>
              <a:off x="2832" y="1776"/>
              <a:ext cx="308" cy="288"/>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V’</a:t>
              </a:r>
            </a:p>
          </p:txBody>
        </p:sp>
        <p:sp>
          <p:nvSpPr>
            <p:cNvPr id="135182" name="Line 14"/>
            <p:cNvSpPr>
              <a:spLocks noChangeShapeType="1"/>
            </p:cNvSpPr>
            <p:nvPr/>
          </p:nvSpPr>
          <p:spPr bwMode="auto">
            <a:xfrm flipV="1">
              <a:off x="1152" y="1872"/>
              <a:ext cx="2640" cy="624"/>
            </a:xfrm>
            <a:prstGeom prst="line">
              <a:avLst/>
            </a:prstGeom>
            <a:noFill/>
            <a:ln w="9525">
              <a:solidFill>
                <a:schemeClr val="tx1"/>
              </a:solidFill>
              <a:round/>
              <a:headEnd/>
              <a:tailEnd type="triangle" w="med" len="med"/>
            </a:ln>
            <a:effectLst/>
          </p:spPr>
          <p:txBody>
            <a:bodyPr wrap="none" anchor="ctr"/>
            <a:lstStyle/>
            <a:p>
              <a:endParaRPr lang="en-IN"/>
            </a:p>
          </p:txBody>
        </p:sp>
        <p:sp>
          <p:nvSpPr>
            <p:cNvPr id="135183" name="Oval 15"/>
            <p:cNvSpPr>
              <a:spLocks noChangeArrowheads="1"/>
            </p:cNvSpPr>
            <p:nvPr/>
          </p:nvSpPr>
          <p:spPr bwMode="auto">
            <a:xfrm>
              <a:off x="3792" y="1824"/>
              <a:ext cx="96" cy="96"/>
            </a:xfrm>
            <a:prstGeom prst="ellipse">
              <a:avLst/>
            </a:prstGeom>
            <a:solidFill>
              <a:schemeClr val="accent1"/>
            </a:solidFill>
            <a:ln w="9525">
              <a:solidFill>
                <a:schemeClr val="tx1"/>
              </a:solidFill>
              <a:round/>
              <a:headEnd/>
              <a:tailEnd/>
            </a:ln>
            <a:effectLst/>
          </p:spPr>
          <p:txBody>
            <a:bodyPr wrap="none" anchor="ctr"/>
            <a:lstStyle/>
            <a:p>
              <a:endParaRPr lang="en-IN"/>
            </a:p>
          </p:txBody>
        </p:sp>
        <p:sp>
          <p:nvSpPr>
            <p:cNvPr id="135184" name="Text Box 16"/>
            <p:cNvSpPr txBox="1">
              <a:spLocks noChangeArrowheads="1"/>
            </p:cNvSpPr>
            <p:nvPr/>
          </p:nvSpPr>
          <p:spPr bwMode="auto">
            <a:xfrm>
              <a:off x="3782" y="1562"/>
              <a:ext cx="233" cy="288"/>
            </a:xfrm>
            <a:prstGeom prst="rect">
              <a:avLst/>
            </a:prstGeom>
            <a:noFill/>
            <a:ln w="9525">
              <a:noFill/>
              <a:miter lim="800000"/>
              <a:headEnd/>
              <a:tailEnd/>
            </a:ln>
            <a:effectLst/>
          </p:spPr>
          <p:txBody>
            <a:bodyPr wrap="none">
              <a:spAutoFit/>
            </a:bodyPr>
            <a:lstStyle/>
            <a:p>
              <a:r>
                <a:rPr lang="en-US" sz="2400" b="1" i="1">
                  <a:latin typeface="Times New Roman" pitchFamily="18" charset="0"/>
                </a:rPr>
                <a:t>P</a:t>
              </a:r>
            </a:p>
          </p:txBody>
        </p:sp>
      </p:gr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fld id="{D3D0E5C0-4282-4761-83F5-787035B42CF9}" type="slidenum">
              <a:rPr lang="en-US"/>
              <a:pPr/>
              <a:t>95</a:t>
            </a:fld>
            <a:endParaRPr lang="en-US"/>
          </a:p>
        </p:txBody>
      </p:sp>
      <p:sp>
        <p:nvSpPr>
          <p:cNvPr id="136194" name="Rectangle 2"/>
          <p:cNvSpPr>
            <a:spLocks noGrp="1" noRot="1" noChangeArrowheads="1"/>
          </p:cNvSpPr>
          <p:nvPr>
            <p:ph type="title"/>
          </p:nvPr>
        </p:nvSpPr>
        <p:spPr/>
        <p:txBody>
          <a:bodyPr>
            <a:normAutofit fontScale="90000"/>
          </a:bodyPr>
          <a:lstStyle/>
          <a:p>
            <a:r>
              <a:rPr lang="en-US"/>
              <a:t>Electric Field Due to Volume Charge Density</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fld id="{BE748447-AA7A-4044-92FB-2E28CD51829D}" type="slidenum">
              <a:rPr lang="en-US"/>
              <a:pPr/>
              <a:t>96</a:t>
            </a:fld>
            <a:endParaRPr lang="en-US"/>
          </a:p>
        </p:txBody>
      </p:sp>
      <p:sp>
        <p:nvSpPr>
          <p:cNvPr id="137218" name="Rectangle 2"/>
          <p:cNvSpPr>
            <a:spLocks noGrp="1" noRot="1" noChangeArrowheads="1"/>
          </p:cNvSpPr>
          <p:nvPr>
            <p:ph type="title"/>
          </p:nvPr>
        </p:nvSpPr>
        <p:spPr>
          <a:xfrm>
            <a:off x="685800" y="228600"/>
            <a:ext cx="7772400" cy="1143000"/>
          </a:xfrm>
        </p:spPr>
        <p:txBody>
          <a:bodyPr>
            <a:normAutofit fontScale="90000"/>
          </a:bodyPr>
          <a:lstStyle/>
          <a:p>
            <a:r>
              <a:rPr lang="en-US"/>
              <a:t>Continuous Distributions of Charge</a:t>
            </a:r>
          </a:p>
        </p:txBody>
      </p:sp>
      <p:sp>
        <p:nvSpPr>
          <p:cNvPr id="137219" name="Rectangle 3"/>
          <p:cNvSpPr>
            <a:spLocks noGrp="1" noChangeArrowheads="1"/>
          </p:cNvSpPr>
          <p:nvPr>
            <p:ph type="body" idx="1"/>
          </p:nvPr>
        </p:nvSpPr>
        <p:spPr>
          <a:xfrm>
            <a:off x="609600" y="1600200"/>
            <a:ext cx="7772400" cy="4114800"/>
          </a:xfrm>
        </p:spPr>
        <p:txBody>
          <a:bodyPr/>
          <a:lstStyle/>
          <a:p>
            <a:r>
              <a:rPr lang="en-US"/>
              <a:t>Surface charge density</a:t>
            </a:r>
          </a:p>
        </p:txBody>
      </p:sp>
      <p:sp>
        <p:nvSpPr>
          <p:cNvPr id="137221" name="Oval 5" descr="5%"/>
          <p:cNvSpPr>
            <a:spLocks noChangeArrowheads="1"/>
          </p:cNvSpPr>
          <p:nvPr/>
        </p:nvSpPr>
        <p:spPr bwMode="auto">
          <a:xfrm>
            <a:off x="2667000" y="2438400"/>
            <a:ext cx="4191000" cy="1828800"/>
          </a:xfrm>
          <a:prstGeom prst="ellipse">
            <a:avLst/>
          </a:prstGeom>
          <a:pattFill prst="pct5">
            <a:fgClr>
              <a:schemeClr val="accent2"/>
            </a:fgClr>
            <a:bgClr>
              <a:schemeClr val="bg1"/>
            </a:bgClr>
          </a:pattFill>
          <a:ln w="9525">
            <a:solidFill>
              <a:schemeClr val="tx1"/>
            </a:solidFill>
            <a:round/>
            <a:headEnd/>
            <a:tailEnd/>
          </a:ln>
          <a:effectLst/>
        </p:spPr>
        <p:txBody>
          <a:bodyPr wrap="none" anchor="ctr"/>
          <a:lstStyle/>
          <a:p>
            <a:endParaRPr lang="en-IN"/>
          </a:p>
        </p:txBody>
      </p:sp>
      <p:sp>
        <p:nvSpPr>
          <p:cNvPr id="137222" name="Oval 6" descr="20%"/>
          <p:cNvSpPr>
            <a:spLocks noChangeArrowheads="1"/>
          </p:cNvSpPr>
          <p:nvPr/>
        </p:nvSpPr>
        <p:spPr bwMode="auto">
          <a:xfrm>
            <a:off x="4114800" y="3200400"/>
            <a:ext cx="533400" cy="609600"/>
          </a:xfrm>
          <a:prstGeom prst="ellipse">
            <a:avLst/>
          </a:prstGeom>
          <a:pattFill prst="pct20">
            <a:fgClr>
              <a:schemeClr val="accent1"/>
            </a:fgClr>
            <a:bgClr>
              <a:schemeClr val="bg1"/>
            </a:bgClr>
          </a:pattFill>
          <a:ln w="19050">
            <a:solidFill>
              <a:schemeClr val="tx1"/>
            </a:solidFill>
            <a:round/>
            <a:headEnd/>
            <a:tailEnd/>
          </a:ln>
          <a:effectLst/>
        </p:spPr>
        <p:txBody>
          <a:bodyPr wrap="none" anchor="ctr"/>
          <a:lstStyle/>
          <a:p>
            <a:endParaRPr lang="en-IN"/>
          </a:p>
        </p:txBody>
      </p:sp>
      <p:sp>
        <p:nvSpPr>
          <p:cNvPr id="137223" name="Text Box 7"/>
          <p:cNvSpPr txBox="1">
            <a:spLocks noChangeArrowheads="1"/>
          </p:cNvSpPr>
          <p:nvPr/>
        </p:nvSpPr>
        <p:spPr bwMode="auto">
          <a:xfrm>
            <a:off x="4419600" y="2743200"/>
            <a:ext cx="755650"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r>
              <a:rPr lang="en-US" sz="2400" b="1" i="1" baseline="-25000">
                <a:solidFill>
                  <a:schemeClr val="hlink"/>
                </a:solidFill>
                <a:latin typeface="Times New Roman" pitchFamily="18" charset="0"/>
              </a:rPr>
              <a:t>encl</a:t>
            </a:r>
            <a:endParaRPr lang="en-US" sz="2400" b="1" i="1">
              <a:solidFill>
                <a:schemeClr val="hlink"/>
              </a:solidFill>
              <a:latin typeface="Times New Roman" pitchFamily="18" charset="0"/>
            </a:endParaRPr>
          </a:p>
        </p:txBody>
      </p:sp>
      <p:sp>
        <p:nvSpPr>
          <p:cNvPr id="137224" name="Line 8"/>
          <p:cNvSpPr>
            <a:spLocks noChangeShapeType="1"/>
          </p:cNvSpPr>
          <p:nvPr/>
        </p:nvSpPr>
        <p:spPr bwMode="auto">
          <a:xfrm flipV="1">
            <a:off x="2286000" y="2819400"/>
            <a:ext cx="0" cy="16002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7225" name="Line 9"/>
          <p:cNvSpPr>
            <a:spLocks noChangeShapeType="1"/>
          </p:cNvSpPr>
          <p:nvPr/>
        </p:nvSpPr>
        <p:spPr bwMode="auto">
          <a:xfrm>
            <a:off x="2286000" y="4419600"/>
            <a:ext cx="1219200"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7226" name="Line 10"/>
          <p:cNvSpPr>
            <a:spLocks noChangeShapeType="1"/>
          </p:cNvSpPr>
          <p:nvPr/>
        </p:nvSpPr>
        <p:spPr bwMode="auto">
          <a:xfrm flipH="1">
            <a:off x="1676400" y="4419600"/>
            <a:ext cx="609600" cy="533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7228" name="Line 12"/>
          <p:cNvSpPr>
            <a:spLocks noChangeShapeType="1"/>
          </p:cNvSpPr>
          <p:nvPr/>
        </p:nvSpPr>
        <p:spPr bwMode="auto">
          <a:xfrm flipV="1">
            <a:off x="2286000" y="3505200"/>
            <a:ext cx="2133600" cy="914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7229" name="Text Box 13"/>
          <p:cNvSpPr txBox="1">
            <a:spLocks noChangeArrowheads="1"/>
          </p:cNvSpPr>
          <p:nvPr/>
        </p:nvSpPr>
        <p:spPr bwMode="auto">
          <a:xfrm>
            <a:off x="4098925" y="3768725"/>
            <a:ext cx="642938" cy="457200"/>
          </a:xfrm>
          <a:prstGeom prst="rect">
            <a:avLst/>
          </a:prstGeom>
          <a:noFill/>
          <a:ln w="9525">
            <a:noFill/>
            <a:miter lim="800000"/>
            <a:headEnd/>
            <a:tailEnd/>
          </a:ln>
          <a:effectLst/>
        </p:spPr>
        <p:txBody>
          <a:bodyPr wrap="none">
            <a:spAutoFit/>
          </a:bodyPr>
          <a:lstStyle/>
          <a:p>
            <a:r>
              <a:rPr lang="en-US" sz="2400" b="1" i="1">
                <a:solidFill>
                  <a:schemeClr val="hlink"/>
                </a:solidFill>
                <a:latin typeface="Symbol" pitchFamily="18" charset="2"/>
              </a:rPr>
              <a:t>D</a:t>
            </a:r>
            <a:r>
              <a:rPr lang="en-US" sz="2400" b="1" i="1">
                <a:solidFill>
                  <a:schemeClr val="hlink"/>
                </a:solidFill>
                <a:latin typeface="Times New Roman" pitchFamily="18" charset="0"/>
              </a:rPr>
              <a:t>S’</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4"/>
          <p:cNvSpPr>
            <a:spLocks noGrp="1"/>
          </p:cNvSpPr>
          <p:nvPr>
            <p:ph type="ftr" sz="quarter" idx="11"/>
          </p:nvPr>
        </p:nvSpPr>
        <p:spPr/>
        <p:txBody>
          <a:bodyPr/>
          <a:lstStyle/>
          <a:p>
            <a:fld id="{C9C8C48A-B95A-4667-A2EB-E7A7B4AA9F95}" type="slidenum">
              <a:rPr lang="en-US"/>
              <a:pPr/>
              <a:t>97</a:t>
            </a:fld>
            <a:endParaRPr lang="en-US"/>
          </a:p>
        </p:txBody>
      </p:sp>
      <p:sp>
        <p:nvSpPr>
          <p:cNvPr id="138242" name="Rectangle 2"/>
          <p:cNvSpPr>
            <a:spLocks noGrp="1" noRot="1" noChangeArrowheads="1"/>
          </p:cNvSpPr>
          <p:nvPr>
            <p:ph type="title"/>
          </p:nvPr>
        </p:nvSpPr>
        <p:spPr/>
        <p:txBody>
          <a:bodyPr/>
          <a:lstStyle/>
          <a:p>
            <a:r>
              <a:rPr lang="en-US"/>
              <a:t>Continuous Distributions of Charge</a:t>
            </a:r>
          </a:p>
        </p:txBody>
      </p:sp>
      <p:sp>
        <p:nvSpPr>
          <p:cNvPr id="138243" name="Rectangle 3"/>
          <p:cNvSpPr>
            <a:spLocks noGrp="1" noChangeArrowheads="1"/>
          </p:cNvSpPr>
          <p:nvPr>
            <p:ph type="body" idx="1"/>
          </p:nvPr>
        </p:nvSpPr>
        <p:spPr>
          <a:xfrm>
            <a:off x="609600" y="1600200"/>
            <a:ext cx="7772400" cy="4114800"/>
          </a:xfrm>
        </p:spPr>
        <p:txBody>
          <a:bodyPr/>
          <a:lstStyle/>
          <a:p>
            <a:r>
              <a:rPr lang="en-US"/>
              <a:t>Electric field due to surface charge density</a:t>
            </a:r>
          </a:p>
        </p:txBody>
      </p:sp>
      <p:sp>
        <p:nvSpPr>
          <p:cNvPr id="138244" name="Oval 4" descr="5%"/>
          <p:cNvSpPr>
            <a:spLocks noChangeArrowheads="1"/>
          </p:cNvSpPr>
          <p:nvPr/>
        </p:nvSpPr>
        <p:spPr bwMode="auto">
          <a:xfrm>
            <a:off x="2085975" y="2590800"/>
            <a:ext cx="3019425" cy="1662113"/>
          </a:xfrm>
          <a:prstGeom prst="ellipse">
            <a:avLst/>
          </a:prstGeom>
          <a:pattFill prst="pct5">
            <a:fgClr>
              <a:schemeClr val="accent2"/>
            </a:fgClr>
            <a:bgClr>
              <a:schemeClr val="bg1"/>
            </a:bgClr>
          </a:pattFill>
          <a:ln w="9525">
            <a:solidFill>
              <a:schemeClr val="tx1"/>
            </a:solidFill>
            <a:round/>
            <a:headEnd/>
            <a:tailEnd/>
          </a:ln>
          <a:effectLst/>
        </p:spPr>
        <p:txBody>
          <a:bodyPr wrap="none" anchor="ctr"/>
          <a:lstStyle/>
          <a:p>
            <a:pPr algn="ctr"/>
            <a:endParaRPr lang="en-US" sz="2400" i="1">
              <a:latin typeface="Times New Roman" pitchFamily="18" charset="0"/>
            </a:endParaRPr>
          </a:p>
        </p:txBody>
      </p:sp>
      <p:sp>
        <p:nvSpPr>
          <p:cNvPr id="138245" name="Oval 5" descr="20%"/>
          <p:cNvSpPr>
            <a:spLocks noChangeArrowheads="1"/>
          </p:cNvSpPr>
          <p:nvPr/>
        </p:nvSpPr>
        <p:spPr bwMode="auto">
          <a:xfrm>
            <a:off x="3128963" y="3282950"/>
            <a:ext cx="384175" cy="554038"/>
          </a:xfrm>
          <a:prstGeom prst="ellipse">
            <a:avLst/>
          </a:prstGeom>
          <a:pattFill prst="pct20">
            <a:fgClr>
              <a:schemeClr val="accent1"/>
            </a:fgClr>
            <a:bgClr>
              <a:schemeClr val="bg1"/>
            </a:bgClr>
          </a:pattFill>
          <a:ln w="19050">
            <a:solidFill>
              <a:schemeClr val="tx1"/>
            </a:solidFill>
            <a:round/>
            <a:headEnd/>
            <a:tailEnd/>
          </a:ln>
          <a:effectLst/>
        </p:spPr>
        <p:txBody>
          <a:bodyPr wrap="none" anchor="ctr"/>
          <a:lstStyle/>
          <a:p>
            <a:endParaRPr lang="en-IN"/>
          </a:p>
        </p:txBody>
      </p:sp>
      <p:sp>
        <p:nvSpPr>
          <p:cNvPr id="138246" name="Text Box 6"/>
          <p:cNvSpPr txBox="1">
            <a:spLocks noChangeArrowheads="1"/>
          </p:cNvSpPr>
          <p:nvPr/>
        </p:nvSpPr>
        <p:spPr bwMode="auto">
          <a:xfrm>
            <a:off x="3505200" y="3276600"/>
            <a:ext cx="755650"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r>
              <a:rPr lang="en-US" sz="2400" b="1" i="1" baseline="-25000">
                <a:solidFill>
                  <a:schemeClr val="hlink"/>
                </a:solidFill>
                <a:latin typeface="Times New Roman" pitchFamily="18" charset="0"/>
              </a:rPr>
              <a:t>encl</a:t>
            </a:r>
            <a:endParaRPr lang="en-US" sz="2400" b="1" i="1">
              <a:solidFill>
                <a:schemeClr val="hlink"/>
              </a:solidFill>
              <a:latin typeface="Times New Roman" pitchFamily="18" charset="0"/>
            </a:endParaRPr>
          </a:p>
        </p:txBody>
      </p:sp>
      <p:sp>
        <p:nvSpPr>
          <p:cNvPr id="138247" name="Line 7"/>
          <p:cNvSpPr>
            <a:spLocks noChangeShapeType="1"/>
          </p:cNvSpPr>
          <p:nvPr/>
        </p:nvSpPr>
        <p:spPr bwMode="auto">
          <a:xfrm flipV="1">
            <a:off x="1811338" y="2936875"/>
            <a:ext cx="0" cy="1455738"/>
          </a:xfrm>
          <a:prstGeom prst="line">
            <a:avLst/>
          </a:prstGeom>
          <a:noFill/>
          <a:ln w="9525">
            <a:solidFill>
              <a:schemeClr val="tx1"/>
            </a:solidFill>
            <a:round/>
            <a:headEnd/>
            <a:tailEnd type="triangle" w="med" len="med"/>
          </a:ln>
          <a:effectLst/>
        </p:spPr>
        <p:txBody>
          <a:bodyPr wrap="none" anchor="ctr"/>
          <a:lstStyle/>
          <a:p>
            <a:endParaRPr lang="en-IN"/>
          </a:p>
        </p:txBody>
      </p:sp>
      <p:sp>
        <p:nvSpPr>
          <p:cNvPr id="138248" name="Line 8"/>
          <p:cNvSpPr>
            <a:spLocks noChangeShapeType="1"/>
          </p:cNvSpPr>
          <p:nvPr/>
        </p:nvSpPr>
        <p:spPr bwMode="auto">
          <a:xfrm>
            <a:off x="1811338" y="4392613"/>
            <a:ext cx="877887"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8249" name="Line 9"/>
          <p:cNvSpPr>
            <a:spLocks noChangeShapeType="1"/>
          </p:cNvSpPr>
          <p:nvPr/>
        </p:nvSpPr>
        <p:spPr bwMode="auto">
          <a:xfrm flipH="1">
            <a:off x="1371600" y="4392613"/>
            <a:ext cx="439738" cy="484187"/>
          </a:xfrm>
          <a:prstGeom prst="line">
            <a:avLst/>
          </a:prstGeom>
          <a:noFill/>
          <a:ln w="9525">
            <a:solidFill>
              <a:schemeClr val="tx1"/>
            </a:solidFill>
            <a:round/>
            <a:headEnd/>
            <a:tailEnd type="triangle" w="med" len="med"/>
          </a:ln>
          <a:effectLst/>
        </p:spPr>
        <p:txBody>
          <a:bodyPr wrap="none" anchor="ctr"/>
          <a:lstStyle/>
          <a:p>
            <a:endParaRPr lang="en-IN"/>
          </a:p>
        </p:txBody>
      </p:sp>
      <p:sp>
        <p:nvSpPr>
          <p:cNvPr id="138251" name="Line 11"/>
          <p:cNvSpPr>
            <a:spLocks noChangeShapeType="1"/>
          </p:cNvSpPr>
          <p:nvPr/>
        </p:nvSpPr>
        <p:spPr bwMode="auto">
          <a:xfrm flipV="1">
            <a:off x="1811338" y="3560763"/>
            <a:ext cx="1536700" cy="83185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8252" name="Text Box 12"/>
          <p:cNvSpPr txBox="1">
            <a:spLocks noChangeArrowheads="1"/>
          </p:cNvSpPr>
          <p:nvPr/>
        </p:nvSpPr>
        <p:spPr bwMode="auto">
          <a:xfrm>
            <a:off x="3048000" y="2901950"/>
            <a:ext cx="608013"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dS’</a:t>
            </a:r>
          </a:p>
        </p:txBody>
      </p:sp>
      <p:sp>
        <p:nvSpPr>
          <p:cNvPr id="138253" name="Text Box 13"/>
          <p:cNvSpPr txBox="1">
            <a:spLocks noChangeArrowheads="1"/>
          </p:cNvSpPr>
          <p:nvPr/>
        </p:nvSpPr>
        <p:spPr bwMode="auto">
          <a:xfrm>
            <a:off x="4495800" y="3276600"/>
            <a:ext cx="455613"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S’</a:t>
            </a:r>
          </a:p>
        </p:txBody>
      </p:sp>
      <p:sp>
        <p:nvSpPr>
          <p:cNvPr id="138254" name="Line 14"/>
          <p:cNvSpPr>
            <a:spLocks noChangeShapeType="1"/>
          </p:cNvSpPr>
          <p:nvPr/>
        </p:nvSpPr>
        <p:spPr bwMode="auto">
          <a:xfrm flipV="1">
            <a:off x="1828800" y="3429000"/>
            <a:ext cx="4191000" cy="9906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38255" name="Oval 15"/>
          <p:cNvSpPr>
            <a:spLocks noChangeArrowheads="1"/>
          </p:cNvSpPr>
          <p:nvPr/>
        </p:nvSpPr>
        <p:spPr bwMode="auto">
          <a:xfrm>
            <a:off x="6019800" y="3352800"/>
            <a:ext cx="152400" cy="152400"/>
          </a:xfrm>
          <a:prstGeom prst="ellipse">
            <a:avLst/>
          </a:prstGeom>
          <a:solidFill>
            <a:schemeClr val="accent1"/>
          </a:solidFill>
          <a:ln w="9525">
            <a:solidFill>
              <a:schemeClr val="tx1"/>
            </a:solidFill>
            <a:round/>
            <a:headEnd/>
            <a:tailEnd/>
          </a:ln>
          <a:effectLst/>
        </p:spPr>
        <p:txBody>
          <a:bodyPr wrap="none" anchor="ctr"/>
          <a:lstStyle/>
          <a:p>
            <a:endParaRPr lang="en-IN"/>
          </a:p>
        </p:txBody>
      </p:sp>
      <p:sp>
        <p:nvSpPr>
          <p:cNvPr id="138256" name="Text Box 16"/>
          <p:cNvSpPr txBox="1">
            <a:spLocks noChangeArrowheads="1"/>
          </p:cNvSpPr>
          <p:nvPr/>
        </p:nvSpPr>
        <p:spPr bwMode="auto">
          <a:xfrm>
            <a:off x="6003925" y="2936875"/>
            <a:ext cx="369888" cy="457200"/>
          </a:xfrm>
          <a:prstGeom prst="rect">
            <a:avLst/>
          </a:prstGeom>
          <a:noFill/>
          <a:ln w="9525">
            <a:noFill/>
            <a:miter lim="800000"/>
            <a:headEnd/>
            <a:tailEnd/>
          </a:ln>
          <a:effectLst/>
        </p:spPr>
        <p:txBody>
          <a:bodyPr wrap="none">
            <a:spAutoFit/>
          </a:bodyPr>
          <a:lstStyle/>
          <a:p>
            <a:r>
              <a:rPr lang="en-US" sz="2400" b="1" i="1">
                <a:latin typeface="Times New Roman" pitchFamily="18" charset="0"/>
              </a:rPr>
              <a:t>P</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fld id="{E9107CC1-D085-40CE-881F-8D78CE75750C}" type="slidenum">
              <a:rPr lang="en-US"/>
              <a:pPr/>
              <a:t>98</a:t>
            </a:fld>
            <a:endParaRPr lang="en-US"/>
          </a:p>
        </p:txBody>
      </p:sp>
      <p:sp>
        <p:nvSpPr>
          <p:cNvPr id="139266" name="Rectangle 2"/>
          <p:cNvSpPr>
            <a:spLocks noGrp="1" noRot="1" noChangeArrowheads="1"/>
          </p:cNvSpPr>
          <p:nvPr>
            <p:ph type="title"/>
          </p:nvPr>
        </p:nvSpPr>
        <p:spPr/>
        <p:txBody>
          <a:bodyPr>
            <a:normAutofit fontScale="90000"/>
          </a:bodyPr>
          <a:lstStyle/>
          <a:p>
            <a:r>
              <a:rPr lang="en-US"/>
              <a:t>Electric Field Due to Surface Charge Density</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fld id="{F691BD11-0E0E-4B5B-9746-3F5192E2784B}" type="slidenum">
              <a:rPr lang="en-US"/>
              <a:pPr/>
              <a:t>99</a:t>
            </a:fld>
            <a:endParaRPr lang="en-US"/>
          </a:p>
        </p:txBody>
      </p:sp>
      <p:sp>
        <p:nvSpPr>
          <p:cNvPr id="140290" name="Rectangle 2"/>
          <p:cNvSpPr>
            <a:spLocks noGrp="1" noRot="1" noChangeArrowheads="1"/>
          </p:cNvSpPr>
          <p:nvPr>
            <p:ph type="title"/>
          </p:nvPr>
        </p:nvSpPr>
        <p:spPr>
          <a:xfrm>
            <a:off x="685800" y="381000"/>
            <a:ext cx="7772400" cy="1143000"/>
          </a:xfrm>
        </p:spPr>
        <p:txBody>
          <a:bodyPr>
            <a:normAutofit fontScale="90000"/>
          </a:bodyPr>
          <a:lstStyle/>
          <a:p>
            <a:r>
              <a:rPr lang="en-US"/>
              <a:t>Continuous Distributions of Charge</a:t>
            </a:r>
          </a:p>
        </p:txBody>
      </p:sp>
      <p:sp>
        <p:nvSpPr>
          <p:cNvPr id="140291" name="Rectangle 3"/>
          <p:cNvSpPr>
            <a:spLocks noGrp="1" noChangeArrowheads="1"/>
          </p:cNvSpPr>
          <p:nvPr>
            <p:ph type="body" idx="1"/>
          </p:nvPr>
        </p:nvSpPr>
        <p:spPr>
          <a:xfrm>
            <a:off x="609600" y="1600200"/>
            <a:ext cx="7772400" cy="4114800"/>
          </a:xfrm>
        </p:spPr>
        <p:txBody>
          <a:bodyPr/>
          <a:lstStyle/>
          <a:p>
            <a:r>
              <a:rPr lang="en-US">
                <a:solidFill>
                  <a:schemeClr val="tx1"/>
                </a:solidFill>
              </a:rPr>
              <a:t>Line charge density</a:t>
            </a:r>
          </a:p>
        </p:txBody>
      </p:sp>
      <p:sp>
        <p:nvSpPr>
          <p:cNvPr id="140293" name="Oval 5" descr="5%"/>
          <p:cNvSpPr>
            <a:spLocks noChangeArrowheads="1"/>
          </p:cNvSpPr>
          <p:nvPr/>
        </p:nvSpPr>
        <p:spPr bwMode="auto">
          <a:xfrm>
            <a:off x="2817813" y="2535238"/>
            <a:ext cx="3887787" cy="1757362"/>
          </a:xfrm>
          <a:prstGeom prst="ellipse">
            <a:avLst/>
          </a:prstGeom>
          <a:noFill/>
          <a:ln w="28575">
            <a:solidFill>
              <a:schemeClr val="hlink"/>
            </a:solidFill>
            <a:round/>
            <a:headEnd/>
            <a:tailEnd/>
          </a:ln>
          <a:effectLst/>
        </p:spPr>
        <p:txBody>
          <a:bodyPr wrap="none" anchor="ctr"/>
          <a:lstStyle/>
          <a:p>
            <a:endParaRPr lang="en-IN"/>
          </a:p>
        </p:txBody>
      </p:sp>
      <p:sp>
        <p:nvSpPr>
          <p:cNvPr id="140294" name="Text Box 6"/>
          <p:cNvSpPr txBox="1">
            <a:spLocks noChangeArrowheads="1"/>
          </p:cNvSpPr>
          <p:nvPr/>
        </p:nvSpPr>
        <p:spPr bwMode="auto">
          <a:xfrm>
            <a:off x="4011613" y="3690938"/>
            <a:ext cx="755650" cy="457200"/>
          </a:xfrm>
          <a:prstGeom prst="rect">
            <a:avLst/>
          </a:prstGeom>
          <a:noFill/>
          <a:ln w="9525">
            <a:noFill/>
            <a:miter lim="800000"/>
            <a:headEnd/>
            <a:tailEnd/>
          </a:ln>
          <a:effectLst/>
        </p:spPr>
        <p:txBody>
          <a:bodyPr wrap="none">
            <a:spAutoFit/>
          </a:bodyPr>
          <a:lstStyle/>
          <a:p>
            <a:r>
              <a:rPr lang="en-US" sz="2400" b="1" i="1">
                <a:solidFill>
                  <a:schemeClr val="folHlink"/>
                </a:solidFill>
                <a:latin typeface="Times New Roman" pitchFamily="18" charset="0"/>
              </a:rPr>
              <a:t>Q</a:t>
            </a:r>
            <a:r>
              <a:rPr lang="en-US" sz="2400" b="1" i="1" baseline="-25000">
                <a:solidFill>
                  <a:schemeClr val="folHlink"/>
                </a:solidFill>
                <a:latin typeface="Times New Roman" pitchFamily="18" charset="0"/>
              </a:rPr>
              <a:t>encl</a:t>
            </a:r>
            <a:endParaRPr lang="en-US" sz="2400" b="1" i="1">
              <a:solidFill>
                <a:schemeClr val="folHlink"/>
              </a:solidFill>
              <a:latin typeface="Times New Roman" pitchFamily="18" charset="0"/>
            </a:endParaRPr>
          </a:p>
        </p:txBody>
      </p:sp>
      <p:sp>
        <p:nvSpPr>
          <p:cNvPr id="140295" name="Line 7"/>
          <p:cNvSpPr>
            <a:spLocks noChangeShapeType="1"/>
          </p:cNvSpPr>
          <p:nvPr/>
        </p:nvSpPr>
        <p:spPr bwMode="auto">
          <a:xfrm flipV="1">
            <a:off x="2070100" y="2514600"/>
            <a:ext cx="0" cy="2057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0296" name="Line 8"/>
          <p:cNvSpPr>
            <a:spLocks noChangeShapeType="1"/>
          </p:cNvSpPr>
          <p:nvPr/>
        </p:nvSpPr>
        <p:spPr bwMode="auto">
          <a:xfrm>
            <a:off x="2070100" y="4572000"/>
            <a:ext cx="1550988"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0297" name="Line 9"/>
          <p:cNvSpPr>
            <a:spLocks noChangeShapeType="1"/>
          </p:cNvSpPr>
          <p:nvPr/>
        </p:nvSpPr>
        <p:spPr bwMode="auto">
          <a:xfrm flipH="1">
            <a:off x="1295400" y="4572000"/>
            <a:ext cx="774700" cy="6858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0299" name="Line 11"/>
          <p:cNvSpPr>
            <a:spLocks noChangeShapeType="1"/>
          </p:cNvSpPr>
          <p:nvPr/>
        </p:nvSpPr>
        <p:spPr bwMode="auto">
          <a:xfrm flipV="1">
            <a:off x="2070100" y="4179888"/>
            <a:ext cx="1649413" cy="392112"/>
          </a:xfrm>
          <a:prstGeom prst="line">
            <a:avLst/>
          </a:prstGeom>
          <a:noFill/>
          <a:ln w="9525">
            <a:solidFill>
              <a:schemeClr val="tx1"/>
            </a:solidFill>
            <a:round/>
            <a:headEnd/>
            <a:tailEnd type="triangle" w="med" len="med"/>
          </a:ln>
          <a:effectLst/>
        </p:spPr>
        <p:txBody>
          <a:bodyPr wrap="none" anchor="ctr"/>
          <a:lstStyle/>
          <a:p>
            <a:endParaRPr lang="en-IN"/>
          </a:p>
        </p:txBody>
      </p:sp>
      <p:sp>
        <p:nvSpPr>
          <p:cNvPr id="140300" name="Text Box 12"/>
          <p:cNvSpPr txBox="1">
            <a:spLocks noChangeArrowheads="1"/>
          </p:cNvSpPr>
          <p:nvPr/>
        </p:nvSpPr>
        <p:spPr bwMode="auto">
          <a:xfrm>
            <a:off x="3330575" y="3592513"/>
            <a:ext cx="658813" cy="457200"/>
          </a:xfrm>
          <a:prstGeom prst="rect">
            <a:avLst/>
          </a:prstGeom>
          <a:noFill/>
          <a:ln w="9525">
            <a:noFill/>
            <a:miter lim="800000"/>
            <a:headEnd/>
            <a:tailEnd/>
          </a:ln>
          <a:effectLst/>
        </p:spPr>
        <p:txBody>
          <a:bodyPr wrap="none">
            <a:spAutoFit/>
          </a:bodyPr>
          <a:lstStyle/>
          <a:p>
            <a:r>
              <a:rPr lang="en-US" sz="2400" b="1" i="1">
                <a:solidFill>
                  <a:schemeClr val="folHlink"/>
                </a:solidFill>
                <a:latin typeface="Symbol" pitchFamily="18" charset="2"/>
              </a:rPr>
              <a:t>D</a:t>
            </a:r>
            <a:r>
              <a:rPr lang="en-US" sz="2400" b="1" i="1">
                <a:solidFill>
                  <a:schemeClr val="folHlink"/>
                </a:solidFill>
                <a:latin typeface="Times New Roman" pitchFamily="18" charset="0"/>
              </a:rPr>
              <a:t>L’</a:t>
            </a:r>
          </a:p>
        </p:txBody>
      </p:sp>
      <p:sp>
        <p:nvSpPr>
          <p:cNvPr id="140301" name="Freeform 13"/>
          <p:cNvSpPr>
            <a:spLocks/>
          </p:cNvSpPr>
          <p:nvPr/>
        </p:nvSpPr>
        <p:spPr bwMode="auto">
          <a:xfrm>
            <a:off x="3524250" y="4083050"/>
            <a:ext cx="390525" cy="112713"/>
          </a:xfrm>
          <a:custGeom>
            <a:avLst/>
            <a:gdLst/>
            <a:ahLst/>
            <a:cxnLst>
              <a:cxn ang="0">
                <a:pos x="0" y="0"/>
              </a:cxn>
              <a:cxn ang="0">
                <a:pos x="96" y="48"/>
              </a:cxn>
              <a:cxn ang="0">
                <a:pos x="192" y="48"/>
              </a:cxn>
            </a:cxnLst>
            <a:rect l="0" t="0" r="r" b="b"/>
            <a:pathLst>
              <a:path w="192" h="56">
                <a:moveTo>
                  <a:pt x="0" y="0"/>
                </a:moveTo>
                <a:cubicBezTo>
                  <a:pt x="32" y="20"/>
                  <a:pt x="64" y="40"/>
                  <a:pt x="96" y="48"/>
                </a:cubicBezTo>
                <a:cubicBezTo>
                  <a:pt x="128" y="56"/>
                  <a:pt x="160" y="52"/>
                  <a:pt x="192" y="48"/>
                </a:cubicBezTo>
              </a:path>
            </a:pathLst>
          </a:custGeom>
          <a:noFill/>
          <a:ln w="57150" cmpd="sng">
            <a:solidFill>
              <a:srgbClr val="FF0066"/>
            </a:solidFill>
            <a:round/>
            <a:headEnd/>
            <a:tailEnd/>
          </a:ln>
          <a:effectLst/>
        </p:spPr>
        <p:txBody>
          <a:bodyPr wrap="none" anchor="ctr"/>
          <a:lstStyle/>
          <a:p>
            <a:endParaRPr lang="en-IN"/>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4"/>
          <p:cNvSpPr>
            <a:spLocks noGrp="1"/>
          </p:cNvSpPr>
          <p:nvPr>
            <p:ph type="ftr" sz="quarter" idx="11"/>
          </p:nvPr>
        </p:nvSpPr>
        <p:spPr/>
        <p:txBody>
          <a:bodyPr/>
          <a:lstStyle/>
          <a:p>
            <a:fld id="{3EA9A123-0498-4648-A095-EBA6FE765076}" type="slidenum">
              <a:rPr lang="en-US"/>
              <a:pPr/>
              <a:t>100</a:t>
            </a:fld>
            <a:endParaRPr lang="en-US"/>
          </a:p>
        </p:txBody>
      </p:sp>
      <p:sp>
        <p:nvSpPr>
          <p:cNvPr id="141314" name="Oval 2"/>
          <p:cNvSpPr>
            <a:spLocks noChangeArrowheads="1"/>
          </p:cNvSpPr>
          <p:nvPr/>
        </p:nvSpPr>
        <p:spPr bwMode="auto">
          <a:xfrm>
            <a:off x="6553200" y="4191000"/>
            <a:ext cx="152400" cy="152400"/>
          </a:xfrm>
          <a:prstGeom prst="ellipse">
            <a:avLst/>
          </a:prstGeom>
          <a:solidFill>
            <a:schemeClr val="hlink"/>
          </a:solidFill>
          <a:ln w="9525">
            <a:solidFill>
              <a:schemeClr val="tx1"/>
            </a:solidFill>
            <a:round/>
            <a:headEnd/>
            <a:tailEnd/>
          </a:ln>
          <a:effectLst/>
        </p:spPr>
        <p:txBody>
          <a:bodyPr wrap="none" anchor="ctr"/>
          <a:lstStyle/>
          <a:p>
            <a:endParaRPr lang="en-IN"/>
          </a:p>
        </p:txBody>
      </p:sp>
      <p:sp>
        <p:nvSpPr>
          <p:cNvPr id="141315" name="Rectangle 3"/>
          <p:cNvSpPr>
            <a:spLocks noGrp="1" noRot="1" noChangeArrowheads="1"/>
          </p:cNvSpPr>
          <p:nvPr>
            <p:ph type="title"/>
          </p:nvPr>
        </p:nvSpPr>
        <p:spPr>
          <a:xfrm>
            <a:off x="685800" y="381000"/>
            <a:ext cx="7772400" cy="1143000"/>
          </a:xfrm>
        </p:spPr>
        <p:txBody>
          <a:bodyPr>
            <a:normAutofit fontScale="90000"/>
          </a:bodyPr>
          <a:lstStyle/>
          <a:p>
            <a:r>
              <a:rPr lang="en-US"/>
              <a:t>Continuous Distributions of Charge</a:t>
            </a:r>
          </a:p>
        </p:txBody>
      </p:sp>
      <p:sp>
        <p:nvSpPr>
          <p:cNvPr id="141316" name="Rectangle 4"/>
          <p:cNvSpPr>
            <a:spLocks noGrp="1" noChangeArrowheads="1"/>
          </p:cNvSpPr>
          <p:nvPr>
            <p:ph type="body" idx="1"/>
          </p:nvPr>
        </p:nvSpPr>
        <p:spPr>
          <a:xfrm>
            <a:off x="609600" y="1600200"/>
            <a:ext cx="7772400" cy="4114800"/>
          </a:xfrm>
        </p:spPr>
        <p:txBody>
          <a:bodyPr/>
          <a:lstStyle/>
          <a:p>
            <a:r>
              <a:rPr lang="en-US">
                <a:solidFill>
                  <a:schemeClr val="tx1"/>
                </a:solidFill>
              </a:rPr>
              <a:t>Electric field due to line charge density</a:t>
            </a:r>
          </a:p>
          <a:p>
            <a:endParaRPr lang="en-US">
              <a:solidFill>
                <a:schemeClr val="tx1"/>
              </a:solidFill>
            </a:endParaRPr>
          </a:p>
        </p:txBody>
      </p:sp>
      <p:sp>
        <p:nvSpPr>
          <p:cNvPr id="141317" name="Oval 5" descr="5%"/>
          <p:cNvSpPr>
            <a:spLocks noChangeArrowheads="1"/>
          </p:cNvSpPr>
          <p:nvPr/>
        </p:nvSpPr>
        <p:spPr bwMode="auto">
          <a:xfrm>
            <a:off x="2817813" y="2535238"/>
            <a:ext cx="3887787" cy="1757362"/>
          </a:xfrm>
          <a:prstGeom prst="ellipse">
            <a:avLst/>
          </a:prstGeom>
          <a:noFill/>
          <a:ln w="9525">
            <a:solidFill>
              <a:srgbClr val="CC66FF"/>
            </a:solidFill>
            <a:round/>
            <a:headEnd/>
            <a:tailEnd/>
          </a:ln>
          <a:effectLst/>
        </p:spPr>
        <p:txBody>
          <a:bodyPr wrap="none" anchor="ctr"/>
          <a:lstStyle/>
          <a:p>
            <a:endParaRPr lang="en-IN"/>
          </a:p>
        </p:txBody>
      </p:sp>
      <p:sp>
        <p:nvSpPr>
          <p:cNvPr id="141318" name="Text Box 6"/>
          <p:cNvSpPr txBox="1">
            <a:spLocks noChangeArrowheads="1"/>
          </p:cNvSpPr>
          <p:nvPr/>
        </p:nvSpPr>
        <p:spPr bwMode="auto">
          <a:xfrm>
            <a:off x="4011613" y="3690938"/>
            <a:ext cx="755650" cy="457200"/>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r>
              <a:rPr lang="en-US" sz="2400" b="1" i="1" baseline="-25000">
                <a:solidFill>
                  <a:schemeClr val="hlink"/>
                </a:solidFill>
                <a:latin typeface="Times New Roman" pitchFamily="18" charset="0"/>
              </a:rPr>
              <a:t>encl</a:t>
            </a:r>
            <a:endParaRPr lang="en-US" sz="2400" b="1" i="1">
              <a:solidFill>
                <a:schemeClr val="hlink"/>
              </a:solidFill>
              <a:latin typeface="Times New Roman" pitchFamily="18" charset="0"/>
            </a:endParaRPr>
          </a:p>
        </p:txBody>
      </p:sp>
      <p:sp>
        <p:nvSpPr>
          <p:cNvPr id="141319" name="Line 7"/>
          <p:cNvSpPr>
            <a:spLocks noChangeShapeType="1"/>
          </p:cNvSpPr>
          <p:nvPr/>
        </p:nvSpPr>
        <p:spPr bwMode="auto">
          <a:xfrm flipV="1">
            <a:off x="2070100" y="2514600"/>
            <a:ext cx="0" cy="2057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1320" name="Line 8"/>
          <p:cNvSpPr>
            <a:spLocks noChangeShapeType="1"/>
          </p:cNvSpPr>
          <p:nvPr/>
        </p:nvSpPr>
        <p:spPr bwMode="auto">
          <a:xfrm>
            <a:off x="2070100" y="4572000"/>
            <a:ext cx="1550988" cy="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1321" name="Line 9"/>
          <p:cNvSpPr>
            <a:spLocks noChangeShapeType="1"/>
          </p:cNvSpPr>
          <p:nvPr/>
        </p:nvSpPr>
        <p:spPr bwMode="auto">
          <a:xfrm flipH="1">
            <a:off x="1295400" y="4572000"/>
            <a:ext cx="774700" cy="6858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1323" name="Line 11"/>
          <p:cNvSpPr>
            <a:spLocks noChangeShapeType="1"/>
          </p:cNvSpPr>
          <p:nvPr/>
        </p:nvSpPr>
        <p:spPr bwMode="auto">
          <a:xfrm flipV="1">
            <a:off x="2070100" y="4179888"/>
            <a:ext cx="1649413" cy="392112"/>
          </a:xfrm>
          <a:prstGeom prst="line">
            <a:avLst/>
          </a:prstGeom>
          <a:noFill/>
          <a:ln w="9525">
            <a:solidFill>
              <a:schemeClr val="tx1"/>
            </a:solidFill>
            <a:round/>
            <a:headEnd/>
            <a:tailEnd type="triangle" w="med" len="med"/>
          </a:ln>
          <a:effectLst/>
        </p:spPr>
        <p:txBody>
          <a:bodyPr wrap="none" anchor="ctr"/>
          <a:lstStyle/>
          <a:p>
            <a:endParaRPr lang="en-IN"/>
          </a:p>
        </p:txBody>
      </p:sp>
      <p:sp>
        <p:nvSpPr>
          <p:cNvPr id="141324" name="Text Box 12"/>
          <p:cNvSpPr txBox="1">
            <a:spLocks noChangeArrowheads="1"/>
          </p:cNvSpPr>
          <p:nvPr/>
        </p:nvSpPr>
        <p:spPr bwMode="auto">
          <a:xfrm>
            <a:off x="3330575" y="3592513"/>
            <a:ext cx="658813" cy="457200"/>
          </a:xfrm>
          <a:prstGeom prst="rect">
            <a:avLst/>
          </a:prstGeom>
          <a:noFill/>
          <a:ln w="9525">
            <a:noFill/>
            <a:miter lim="800000"/>
            <a:headEnd/>
            <a:tailEnd/>
          </a:ln>
          <a:effectLst/>
        </p:spPr>
        <p:txBody>
          <a:bodyPr wrap="none">
            <a:spAutoFit/>
          </a:bodyPr>
          <a:lstStyle/>
          <a:p>
            <a:r>
              <a:rPr lang="en-US" sz="2400" b="1" i="1">
                <a:solidFill>
                  <a:schemeClr val="hlink"/>
                </a:solidFill>
                <a:latin typeface="Symbol" pitchFamily="18" charset="2"/>
              </a:rPr>
              <a:t>D</a:t>
            </a:r>
            <a:r>
              <a:rPr lang="en-US" sz="2400" b="1" i="1">
                <a:solidFill>
                  <a:schemeClr val="hlink"/>
                </a:solidFill>
                <a:latin typeface="Times New Roman" pitchFamily="18" charset="0"/>
              </a:rPr>
              <a:t>L’</a:t>
            </a:r>
          </a:p>
        </p:txBody>
      </p:sp>
      <p:sp>
        <p:nvSpPr>
          <p:cNvPr id="141325" name="Freeform 13"/>
          <p:cNvSpPr>
            <a:spLocks/>
          </p:cNvSpPr>
          <p:nvPr/>
        </p:nvSpPr>
        <p:spPr bwMode="auto">
          <a:xfrm>
            <a:off x="3524250" y="4083050"/>
            <a:ext cx="390525" cy="112713"/>
          </a:xfrm>
          <a:custGeom>
            <a:avLst/>
            <a:gdLst/>
            <a:ahLst/>
            <a:cxnLst>
              <a:cxn ang="0">
                <a:pos x="0" y="0"/>
              </a:cxn>
              <a:cxn ang="0">
                <a:pos x="96" y="48"/>
              </a:cxn>
              <a:cxn ang="0">
                <a:pos x="192" y="48"/>
              </a:cxn>
            </a:cxnLst>
            <a:rect l="0" t="0" r="r" b="b"/>
            <a:pathLst>
              <a:path w="192" h="56">
                <a:moveTo>
                  <a:pt x="0" y="0"/>
                </a:moveTo>
                <a:cubicBezTo>
                  <a:pt x="32" y="20"/>
                  <a:pt x="64" y="40"/>
                  <a:pt x="96" y="48"/>
                </a:cubicBezTo>
                <a:cubicBezTo>
                  <a:pt x="128" y="56"/>
                  <a:pt x="160" y="52"/>
                  <a:pt x="192" y="48"/>
                </a:cubicBezTo>
              </a:path>
            </a:pathLst>
          </a:custGeom>
          <a:noFill/>
          <a:ln w="57150" cmpd="sng">
            <a:solidFill>
              <a:schemeClr val="hlink"/>
            </a:solidFill>
            <a:round/>
            <a:headEnd/>
            <a:tailEnd/>
          </a:ln>
          <a:effectLst/>
        </p:spPr>
        <p:txBody>
          <a:bodyPr wrap="none" anchor="ctr"/>
          <a:lstStyle/>
          <a:p>
            <a:endParaRPr lang="en-IN"/>
          </a:p>
        </p:txBody>
      </p:sp>
      <p:sp>
        <p:nvSpPr>
          <p:cNvPr id="141326" name="Line 14"/>
          <p:cNvSpPr>
            <a:spLocks noChangeShapeType="1"/>
          </p:cNvSpPr>
          <p:nvPr/>
        </p:nvSpPr>
        <p:spPr bwMode="auto">
          <a:xfrm flipV="1">
            <a:off x="2057400" y="4267200"/>
            <a:ext cx="4572000" cy="3048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1329" name="Text Box 17"/>
          <p:cNvSpPr txBox="1">
            <a:spLocks noChangeArrowheads="1"/>
          </p:cNvSpPr>
          <p:nvPr/>
        </p:nvSpPr>
        <p:spPr bwMode="auto">
          <a:xfrm>
            <a:off x="6765925" y="3927475"/>
            <a:ext cx="369888" cy="457200"/>
          </a:xfrm>
          <a:prstGeom prst="rect">
            <a:avLst/>
          </a:prstGeom>
          <a:noFill/>
          <a:ln w="9525">
            <a:noFill/>
            <a:miter lim="800000"/>
            <a:headEnd/>
            <a:tailEnd/>
          </a:ln>
          <a:effectLst/>
        </p:spPr>
        <p:txBody>
          <a:bodyPr wrap="none">
            <a:spAutoFit/>
          </a:bodyPr>
          <a:lstStyle/>
          <a:p>
            <a:r>
              <a:rPr lang="en-US" sz="2400" i="1">
                <a:latin typeface="Times New Roman" pitchFamily="18" charset="0"/>
              </a:rPr>
              <a:t>P</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fld id="{3C8CDB93-3810-4B24-BA28-FF067409B1E1}" type="slidenum">
              <a:rPr lang="en-US"/>
              <a:pPr/>
              <a:t>101</a:t>
            </a:fld>
            <a:endParaRPr lang="en-US"/>
          </a:p>
        </p:txBody>
      </p:sp>
      <p:sp>
        <p:nvSpPr>
          <p:cNvPr id="142338" name="Rectangle 2"/>
          <p:cNvSpPr>
            <a:spLocks noGrp="1" noRot="1" noChangeArrowheads="1"/>
          </p:cNvSpPr>
          <p:nvPr>
            <p:ph type="title"/>
          </p:nvPr>
        </p:nvSpPr>
        <p:spPr/>
        <p:txBody>
          <a:bodyPr>
            <a:normAutofit fontScale="90000"/>
          </a:bodyPr>
          <a:lstStyle/>
          <a:p>
            <a:r>
              <a:rPr lang="en-US"/>
              <a:t>Electric Field Due to Line Charge Density</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fld id="{0E7BC2AB-D06A-4E33-872A-02ED9789CFC7}" type="slidenum">
              <a:rPr lang="en-US"/>
              <a:pPr/>
              <a:t>102</a:t>
            </a:fld>
            <a:endParaRPr lang="en-US"/>
          </a:p>
        </p:txBody>
      </p:sp>
      <p:sp>
        <p:nvSpPr>
          <p:cNvPr id="144386" name="Rectangle 2"/>
          <p:cNvSpPr>
            <a:spLocks noGrp="1" noRot="1" noChangeArrowheads="1"/>
          </p:cNvSpPr>
          <p:nvPr>
            <p:ph type="title"/>
          </p:nvPr>
        </p:nvSpPr>
        <p:spPr>
          <a:xfrm>
            <a:off x="685800" y="381000"/>
            <a:ext cx="7772400" cy="1143000"/>
          </a:xfrm>
        </p:spPr>
        <p:txBody>
          <a:bodyPr/>
          <a:lstStyle/>
          <a:p>
            <a:r>
              <a:rPr lang="en-US"/>
              <a:t>Electrostatic Potential</a:t>
            </a:r>
          </a:p>
        </p:txBody>
      </p:sp>
      <p:sp>
        <p:nvSpPr>
          <p:cNvPr id="144387" name="Rectangle 3"/>
          <p:cNvSpPr>
            <a:spLocks noGrp="1" noChangeArrowheads="1"/>
          </p:cNvSpPr>
          <p:nvPr>
            <p:ph type="body" idx="1"/>
          </p:nvPr>
        </p:nvSpPr>
        <p:spPr>
          <a:xfrm>
            <a:off x="685800" y="1752600"/>
            <a:ext cx="7772400" cy="4114800"/>
          </a:xfrm>
        </p:spPr>
        <p:txBody>
          <a:bodyPr/>
          <a:lstStyle/>
          <a:p>
            <a:pPr>
              <a:lnSpc>
                <a:spcPct val="90000"/>
              </a:lnSpc>
            </a:pPr>
            <a:r>
              <a:rPr lang="en-US"/>
              <a:t>An electric field is a </a:t>
            </a:r>
            <a:r>
              <a:rPr lang="en-US" i="1">
                <a:latin typeface="Times New Roman" pitchFamily="18" charset="0"/>
              </a:rPr>
              <a:t>force field</a:t>
            </a:r>
            <a:r>
              <a:rPr lang="en-US">
                <a:latin typeface="Times New Roman" pitchFamily="18" charset="0"/>
              </a:rPr>
              <a:t>.</a:t>
            </a:r>
          </a:p>
          <a:p>
            <a:pPr>
              <a:lnSpc>
                <a:spcPct val="90000"/>
              </a:lnSpc>
            </a:pPr>
            <a:r>
              <a:rPr lang="en-US"/>
              <a:t>If a body being acted on by a force is moved from one point to another, then </a:t>
            </a:r>
            <a:r>
              <a:rPr lang="en-US" b="1" i="1">
                <a:solidFill>
                  <a:schemeClr val="hlink"/>
                </a:solidFill>
                <a:latin typeface="Times New Roman" pitchFamily="18" charset="0"/>
              </a:rPr>
              <a:t>work</a:t>
            </a:r>
            <a:r>
              <a:rPr lang="en-US">
                <a:solidFill>
                  <a:srgbClr val="FF7C80"/>
                </a:solidFill>
              </a:rPr>
              <a:t> </a:t>
            </a:r>
            <a:r>
              <a:rPr lang="en-US"/>
              <a:t>is done.</a:t>
            </a:r>
          </a:p>
          <a:p>
            <a:pPr>
              <a:lnSpc>
                <a:spcPct val="90000"/>
              </a:lnSpc>
            </a:pPr>
            <a:r>
              <a:rPr lang="en-US"/>
              <a:t>The concept of </a:t>
            </a:r>
            <a:r>
              <a:rPr lang="en-US" b="1" i="1">
                <a:solidFill>
                  <a:schemeClr val="hlink"/>
                </a:solidFill>
                <a:latin typeface="Times New Roman" pitchFamily="18" charset="0"/>
              </a:rPr>
              <a:t>scalar electric potential</a:t>
            </a:r>
            <a:r>
              <a:rPr lang="en-US"/>
              <a:t> provides a measure of the work done in moving charged bodies in an electrostatic field.</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4"/>
          <p:cNvSpPr>
            <a:spLocks noGrp="1"/>
          </p:cNvSpPr>
          <p:nvPr>
            <p:ph type="ftr" sz="quarter" idx="11"/>
          </p:nvPr>
        </p:nvSpPr>
        <p:spPr/>
        <p:txBody>
          <a:bodyPr/>
          <a:lstStyle/>
          <a:p>
            <a:fld id="{3ECCCD3F-46BE-4BF2-A417-111D60E36186}" type="slidenum">
              <a:rPr lang="en-US"/>
              <a:pPr/>
              <a:t>103</a:t>
            </a:fld>
            <a:endParaRPr lang="en-US"/>
          </a:p>
        </p:txBody>
      </p:sp>
      <p:sp>
        <p:nvSpPr>
          <p:cNvPr id="145410" name="Rectangle 2"/>
          <p:cNvSpPr>
            <a:spLocks noGrp="1" noRot="1" noChangeArrowheads="1"/>
          </p:cNvSpPr>
          <p:nvPr>
            <p:ph type="title"/>
          </p:nvPr>
        </p:nvSpPr>
        <p:spPr>
          <a:xfrm>
            <a:off x="533400" y="304800"/>
            <a:ext cx="7772400" cy="1143000"/>
          </a:xfrm>
        </p:spPr>
        <p:txBody>
          <a:bodyPr/>
          <a:lstStyle/>
          <a:p>
            <a:r>
              <a:rPr lang="en-US"/>
              <a:t>Electrostatic Potential</a:t>
            </a:r>
          </a:p>
        </p:txBody>
      </p:sp>
      <p:sp>
        <p:nvSpPr>
          <p:cNvPr id="145411" name="Rectangle 3"/>
          <p:cNvSpPr>
            <a:spLocks noGrp="1" noChangeArrowheads="1"/>
          </p:cNvSpPr>
          <p:nvPr>
            <p:ph type="body" idx="1"/>
          </p:nvPr>
        </p:nvSpPr>
        <p:spPr>
          <a:xfrm>
            <a:off x="609600" y="1447800"/>
            <a:ext cx="7772400" cy="990600"/>
          </a:xfrm>
        </p:spPr>
        <p:txBody>
          <a:bodyPr>
            <a:normAutofit fontScale="85000" lnSpcReduction="10000"/>
          </a:bodyPr>
          <a:lstStyle/>
          <a:p>
            <a:r>
              <a:rPr lang="en-US" sz="3200"/>
              <a:t>The work done in moving a test charge from one point to another in a region of electric field:</a:t>
            </a:r>
          </a:p>
        </p:txBody>
      </p:sp>
      <p:grpSp>
        <p:nvGrpSpPr>
          <p:cNvPr id="2" name="Group 5"/>
          <p:cNvGrpSpPr>
            <a:grpSpLocks/>
          </p:cNvGrpSpPr>
          <p:nvPr/>
        </p:nvGrpSpPr>
        <p:grpSpPr bwMode="auto">
          <a:xfrm>
            <a:off x="2286000" y="2667000"/>
            <a:ext cx="3765550" cy="1450975"/>
            <a:chOff x="1440" y="1680"/>
            <a:chExt cx="2372" cy="914"/>
          </a:xfrm>
        </p:grpSpPr>
        <p:sp>
          <p:nvSpPr>
            <p:cNvPr id="145414" name="Freeform 6"/>
            <p:cNvSpPr>
              <a:spLocks/>
            </p:cNvSpPr>
            <p:nvPr/>
          </p:nvSpPr>
          <p:spPr bwMode="auto">
            <a:xfrm>
              <a:off x="1690" y="1968"/>
              <a:ext cx="1776" cy="352"/>
            </a:xfrm>
            <a:custGeom>
              <a:avLst/>
              <a:gdLst/>
              <a:ahLst/>
              <a:cxnLst>
                <a:cxn ang="0">
                  <a:pos x="0" y="264"/>
                </a:cxn>
                <a:cxn ang="0">
                  <a:pos x="384" y="24"/>
                </a:cxn>
                <a:cxn ang="0">
                  <a:pos x="672" y="312"/>
                </a:cxn>
                <a:cxn ang="0">
                  <a:pos x="1440" y="264"/>
                </a:cxn>
                <a:cxn ang="0">
                  <a:pos x="1632" y="24"/>
                </a:cxn>
                <a:cxn ang="0">
                  <a:pos x="1776" y="120"/>
                </a:cxn>
              </a:cxnLst>
              <a:rect l="0" t="0" r="r" b="b"/>
              <a:pathLst>
                <a:path w="1776" h="352">
                  <a:moveTo>
                    <a:pt x="0" y="264"/>
                  </a:moveTo>
                  <a:cubicBezTo>
                    <a:pt x="136" y="140"/>
                    <a:pt x="272" y="16"/>
                    <a:pt x="384" y="24"/>
                  </a:cubicBezTo>
                  <a:cubicBezTo>
                    <a:pt x="496" y="32"/>
                    <a:pt x="496" y="272"/>
                    <a:pt x="672" y="312"/>
                  </a:cubicBezTo>
                  <a:cubicBezTo>
                    <a:pt x="848" y="352"/>
                    <a:pt x="1280" y="312"/>
                    <a:pt x="1440" y="264"/>
                  </a:cubicBezTo>
                  <a:cubicBezTo>
                    <a:pt x="1600" y="216"/>
                    <a:pt x="1576" y="48"/>
                    <a:pt x="1632" y="24"/>
                  </a:cubicBezTo>
                  <a:cubicBezTo>
                    <a:pt x="1688" y="0"/>
                    <a:pt x="1732" y="60"/>
                    <a:pt x="1776" y="120"/>
                  </a:cubicBezTo>
                </a:path>
              </a:pathLst>
            </a:custGeom>
            <a:noFill/>
            <a:ln w="28575" cmpd="sng">
              <a:solidFill>
                <a:schemeClr val="tx1"/>
              </a:solidFill>
              <a:round/>
              <a:headEnd/>
              <a:tailEnd type="arrow" w="lg" len="med"/>
            </a:ln>
            <a:effectLst/>
          </p:spPr>
          <p:txBody>
            <a:bodyPr wrap="none" anchor="ctr"/>
            <a:lstStyle/>
            <a:p>
              <a:endParaRPr lang="en-IN"/>
            </a:p>
          </p:txBody>
        </p:sp>
        <p:sp>
          <p:nvSpPr>
            <p:cNvPr id="145415" name="Oval 7"/>
            <p:cNvSpPr>
              <a:spLocks noChangeArrowheads="1"/>
            </p:cNvSpPr>
            <p:nvPr/>
          </p:nvSpPr>
          <p:spPr bwMode="auto">
            <a:xfrm>
              <a:off x="1642" y="2184"/>
              <a:ext cx="96" cy="96"/>
            </a:xfrm>
            <a:prstGeom prst="ellipse">
              <a:avLst/>
            </a:prstGeom>
            <a:solidFill>
              <a:schemeClr val="tx1"/>
            </a:solidFill>
            <a:ln w="9525">
              <a:solidFill>
                <a:schemeClr val="tx1"/>
              </a:solidFill>
              <a:round/>
              <a:headEnd/>
              <a:tailEnd/>
            </a:ln>
            <a:effectLst/>
          </p:spPr>
          <p:txBody>
            <a:bodyPr wrap="none" anchor="ctr"/>
            <a:lstStyle/>
            <a:p>
              <a:endParaRPr lang="en-IN"/>
            </a:p>
          </p:txBody>
        </p:sp>
        <p:sp>
          <p:nvSpPr>
            <p:cNvPr id="145416" name="Oval 8"/>
            <p:cNvSpPr>
              <a:spLocks noChangeAspect="1" noChangeArrowheads="1"/>
            </p:cNvSpPr>
            <p:nvPr/>
          </p:nvSpPr>
          <p:spPr bwMode="auto">
            <a:xfrm>
              <a:off x="3418" y="2088"/>
              <a:ext cx="96" cy="96"/>
            </a:xfrm>
            <a:prstGeom prst="ellipse">
              <a:avLst/>
            </a:prstGeom>
            <a:solidFill>
              <a:schemeClr val="tx1"/>
            </a:solidFill>
            <a:ln w="9525">
              <a:solidFill>
                <a:schemeClr val="tx1"/>
              </a:solidFill>
              <a:round/>
              <a:headEnd/>
              <a:tailEnd/>
            </a:ln>
            <a:effectLst/>
          </p:spPr>
          <p:txBody>
            <a:bodyPr wrap="none" anchor="ctr"/>
            <a:lstStyle/>
            <a:p>
              <a:endParaRPr lang="en-IN"/>
            </a:p>
          </p:txBody>
        </p:sp>
        <p:sp>
          <p:nvSpPr>
            <p:cNvPr id="145417" name="Text Box 9"/>
            <p:cNvSpPr txBox="1">
              <a:spLocks noChangeArrowheads="1"/>
            </p:cNvSpPr>
            <p:nvPr/>
          </p:nvSpPr>
          <p:spPr bwMode="auto">
            <a:xfrm>
              <a:off x="1440" y="2162"/>
              <a:ext cx="212" cy="288"/>
            </a:xfrm>
            <a:prstGeom prst="rect">
              <a:avLst/>
            </a:prstGeom>
            <a:noFill/>
            <a:ln w="9525">
              <a:noFill/>
              <a:miter lim="800000"/>
              <a:headEnd/>
              <a:tailEnd/>
            </a:ln>
            <a:effectLst/>
          </p:spPr>
          <p:txBody>
            <a:bodyPr wrap="none">
              <a:spAutoFit/>
            </a:bodyPr>
            <a:lstStyle/>
            <a:p>
              <a:r>
                <a:rPr lang="en-US" sz="2400" b="1" i="1">
                  <a:latin typeface="Times New Roman" pitchFamily="18" charset="0"/>
                </a:rPr>
                <a:t>a</a:t>
              </a:r>
            </a:p>
          </p:txBody>
        </p:sp>
        <p:sp>
          <p:nvSpPr>
            <p:cNvPr id="145418" name="Text Box 10"/>
            <p:cNvSpPr txBox="1">
              <a:spLocks noChangeArrowheads="1"/>
            </p:cNvSpPr>
            <p:nvPr/>
          </p:nvSpPr>
          <p:spPr bwMode="auto">
            <a:xfrm>
              <a:off x="3600" y="1970"/>
              <a:ext cx="212" cy="288"/>
            </a:xfrm>
            <a:prstGeom prst="rect">
              <a:avLst/>
            </a:prstGeom>
            <a:noFill/>
            <a:ln w="9525">
              <a:noFill/>
              <a:miter lim="800000"/>
              <a:headEnd/>
              <a:tailEnd/>
            </a:ln>
            <a:effectLst/>
          </p:spPr>
          <p:txBody>
            <a:bodyPr wrap="none">
              <a:spAutoFit/>
            </a:bodyPr>
            <a:lstStyle/>
            <a:p>
              <a:r>
                <a:rPr lang="en-US" sz="2400" b="1" i="1">
                  <a:latin typeface="Times New Roman" pitchFamily="18" charset="0"/>
                </a:rPr>
                <a:t>b</a:t>
              </a:r>
            </a:p>
          </p:txBody>
        </p:sp>
        <p:sp>
          <p:nvSpPr>
            <p:cNvPr id="145419" name="Oval 11"/>
            <p:cNvSpPr>
              <a:spLocks noChangeArrowheads="1"/>
            </p:cNvSpPr>
            <p:nvPr/>
          </p:nvSpPr>
          <p:spPr bwMode="auto">
            <a:xfrm>
              <a:off x="2650" y="2232"/>
              <a:ext cx="96" cy="96"/>
            </a:xfrm>
            <a:prstGeom prst="ellipse">
              <a:avLst/>
            </a:prstGeom>
            <a:solidFill>
              <a:srgbClr val="FF9933"/>
            </a:solidFill>
            <a:ln w="9525">
              <a:solidFill>
                <a:schemeClr val="tx1"/>
              </a:solidFill>
              <a:round/>
              <a:headEnd/>
              <a:tailEnd/>
            </a:ln>
            <a:effectLst/>
          </p:spPr>
          <p:txBody>
            <a:bodyPr wrap="none" anchor="ctr"/>
            <a:lstStyle/>
            <a:p>
              <a:endParaRPr lang="en-IN"/>
            </a:p>
          </p:txBody>
        </p:sp>
        <p:sp>
          <p:nvSpPr>
            <p:cNvPr id="145420" name="Text Box 12"/>
            <p:cNvSpPr txBox="1">
              <a:spLocks noChangeArrowheads="1"/>
            </p:cNvSpPr>
            <p:nvPr/>
          </p:nvSpPr>
          <p:spPr bwMode="auto">
            <a:xfrm>
              <a:off x="2544" y="2306"/>
              <a:ext cx="212" cy="288"/>
            </a:xfrm>
            <a:prstGeom prst="rect">
              <a:avLst/>
            </a:prstGeom>
            <a:noFill/>
            <a:ln w="9525">
              <a:noFill/>
              <a:miter lim="800000"/>
              <a:headEnd/>
              <a:tailEnd/>
            </a:ln>
            <a:effectLst/>
          </p:spPr>
          <p:txBody>
            <a:bodyPr wrap="none">
              <a:spAutoFit/>
            </a:bodyPr>
            <a:lstStyle/>
            <a:p>
              <a:r>
                <a:rPr lang="en-US" sz="2400" b="1" i="1">
                  <a:solidFill>
                    <a:schemeClr val="hlink"/>
                  </a:solidFill>
                  <a:latin typeface="Times New Roman" pitchFamily="18" charset="0"/>
                </a:rPr>
                <a:t>q</a:t>
              </a:r>
            </a:p>
          </p:txBody>
        </p:sp>
        <p:sp>
          <p:nvSpPr>
            <p:cNvPr id="145421" name="Line 13"/>
            <p:cNvSpPr>
              <a:spLocks noChangeShapeType="1"/>
            </p:cNvSpPr>
            <p:nvPr/>
          </p:nvSpPr>
          <p:spPr bwMode="auto">
            <a:xfrm flipV="1">
              <a:off x="2688" y="1968"/>
              <a:ext cx="240" cy="288"/>
            </a:xfrm>
            <a:prstGeom prst="line">
              <a:avLst/>
            </a:prstGeom>
            <a:noFill/>
            <a:ln w="25400">
              <a:solidFill>
                <a:schemeClr val="hlink"/>
              </a:solidFill>
              <a:round/>
              <a:headEnd/>
              <a:tailEnd type="triangle" w="lg" len="lg"/>
            </a:ln>
            <a:effectLst/>
          </p:spPr>
          <p:txBody>
            <a:bodyPr wrap="none" anchor="ctr"/>
            <a:lstStyle/>
            <a:p>
              <a:endParaRPr lang="en-IN"/>
            </a:p>
          </p:txBody>
        </p:sp>
        <p:sp>
          <p:nvSpPr>
            <p:cNvPr id="145422" name="Line 14"/>
            <p:cNvSpPr>
              <a:spLocks noChangeShapeType="1"/>
            </p:cNvSpPr>
            <p:nvPr/>
          </p:nvSpPr>
          <p:spPr bwMode="auto">
            <a:xfrm>
              <a:off x="2714" y="2271"/>
              <a:ext cx="240" cy="0"/>
            </a:xfrm>
            <a:prstGeom prst="line">
              <a:avLst/>
            </a:prstGeom>
            <a:noFill/>
            <a:ln w="9525">
              <a:solidFill>
                <a:schemeClr val="hlink"/>
              </a:solidFill>
              <a:round/>
              <a:headEnd/>
              <a:tailEnd type="triangle" w="lg" len="lg"/>
            </a:ln>
            <a:effectLst/>
          </p:spPr>
          <p:txBody>
            <a:bodyPr wrap="none" anchor="ctr"/>
            <a:lstStyle/>
            <a:p>
              <a:endParaRPr lang="en-IN"/>
            </a:p>
          </p:txBody>
        </p:sp>
      </p:gr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a:spLocks noGrp="1"/>
          </p:cNvSpPr>
          <p:nvPr>
            <p:ph type="ftr" sz="quarter" idx="11"/>
          </p:nvPr>
        </p:nvSpPr>
        <p:spPr/>
        <p:txBody>
          <a:bodyPr/>
          <a:lstStyle/>
          <a:p>
            <a:fld id="{BCC8949A-0706-416D-9AF5-14CDA5EA4ED3}" type="slidenum">
              <a:rPr lang="en-US"/>
              <a:pPr/>
              <a:t>104</a:t>
            </a:fld>
            <a:endParaRPr lang="en-US"/>
          </a:p>
        </p:txBody>
      </p:sp>
      <p:sp>
        <p:nvSpPr>
          <p:cNvPr id="146434" name="Rectangle 2"/>
          <p:cNvSpPr>
            <a:spLocks noGrp="1" noRot="1" noChangeArrowheads="1"/>
          </p:cNvSpPr>
          <p:nvPr>
            <p:ph type="title"/>
          </p:nvPr>
        </p:nvSpPr>
        <p:spPr>
          <a:xfrm>
            <a:off x="609600" y="304800"/>
            <a:ext cx="7772400" cy="1143000"/>
          </a:xfrm>
        </p:spPr>
        <p:txBody>
          <a:bodyPr/>
          <a:lstStyle/>
          <a:p>
            <a:r>
              <a:rPr lang="en-US"/>
              <a:t>Electrostatic Potential</a:t>
            </a:r>
          </a:p>
        </p:txBody>
      </p:sp>
      <p:sp>
        <p:nvSpPr>
          <p:cNvPr id="146435" name="Rectangle 3"/>
          <p:cNvSpPr>
            <a:spLocks noGrp="1" noChangeArrowheads="1"/>
          </p:cNvSpPr>
          <p:nvPr>
            <p:ph type="body" idx="1"/>
          </p:nvPr>
        </p:nvSpPr>
        <p:spPr>
          <a:xfrm>
            <a:off x="609600" y="1524000"/>
            <a:ext cx="7772400" cy="2286000"/>
          </a:xfrm>
        </p:spPr>
        <p:txBody>
          <a:bodyPr/>
          <a:lstStyle/>
          <a:p>
            <a:r>
              <a:rPr lang="en-US" sz="2800"/>
              <a:t>In evaluating line integrals, it is customary to take the </a:t>
            </a:r>
            <a:r>
              <a:rPr lang="en-US" sz="2800" i="1">
                <a:solidFill>
                  <a:schemeClr val="hlink"/>
                </a:solidFill>
                <a:latin typeface="Times New Roman" pitchFamily="18" charset="0"/>
              </a:rPr>
              <a:t>d</a:t>
            </a:r>
            <a:r>
              <a:rPr lang="en-US" sz="2800" b="1" i="1">
                <a:solidFill>
                  <a:schemeClr val="hlink"/>
                </a:solidFill>
                <a:latin typeface="Times New Roman" pitchFamily="18" charset="0"/>
              </a:rPr>
              <a:t>l</a:t>
            </a:r>
            <a:r>
              <a:rPr lang="en-US" sz="2800">
                <a:latin typeface="Times New Roman" pitchFamily="18" charset="0"/>
              </a:rPr>
              <a:t> </a:t>
            </a:r>
            <a:r>
              <a:rPr lang="en-US" sz="2800"/>
              <a:t>in the direction of increasing coordinate value so that the manner in which the path of integration is traversed is unambiguously determined by the limits of integration.</a:t>
            </a:r>
          </a:p>
        </p:txBody>
      </p:sp>
      <p:grpSp>
        <p:nvGrpSpPr>
          <p:cNvPr id="2" name="Group 5"/>
          <p:cNvGrpSpPr>
            <a:grpSpLocks/>
          </p:cNvGrpSpPr>
          <p:nvPr/>
        </p:nvGrpSpPr>
        <p:grpSpPr bwMode="auto">
          <a:xfrm>
            <a:off x="1447800" y="3886200"/>
            <a:ext cx="4968875" cy="1289050"/>
            <a:chOff x="960" y="2378"/>
            <a:chExt cx="3130" cy="812"/>
          </a:xfrm>
        </p:grpSpPr>
        <p:grpSp>
          <p:nvGrpSpPr>
            <p:cNvPr id="3" name="Group 6"/>
            <p:cNvGrpSpPr>
              <a:grpSpLocks/>
            </p:cNvGrpSpPr>
            <p:nvPr/>
          </p:nvGrpSpPr>
          <p:grpSpPr bwMode="auto">
            <a:xfrm>
              <a:off x="960" y="2640"/>
              <a:ext cx="3130" cy="550"/>
              <a:chOff x="1200" y="3194"/>
              <a:chExt cx="3130" cy="550"/>
            </a:xfrm>
          </p:grpSpPr>
          <p:sp>
            <p:nvSpPr>
              <p:cNvPr id="146439" name="Line 7"/>
              <p:cNvSpPr>
                <a:spLocks noChangeShapeType="1"/>
              </p:cNvSpPr>
              <p:nvPr/>
            </p:nvSpPr>
            <p:spPr bwMode="auto">
              <a:xfrm>
                <a:off x="1200" y="3360"/>
                <a:ext cx="2832" cy="0"/>
              </a:xfrm>
              <a:prstGeom prst="line">
                <a:avLst/>
              </a:prstGeom>
              <a:noFill/>
              <a:ln w="9525">
                <a:solidFill>
                  <a:schemeClr val="tx1"/>
                </a:solidFill>
                <a:round/>
                <a:headEnd/>
                <a:tailEnd type="triangle" w="lg" len="lg"/>
              </a:ln>
              <a:effectLst/>
            </p:spPr>
            <p:txBody>
              <a:bodyPr wrap="none" anchor="ctr"/>
              <a:lstStyle/>
              <a:p>
                <a:endParaRPr lang="en-IN"/>
              </a:p>
            </p:txBody>
          </p:sp>
          <p:sp>
            <p:nvSpPr>
              <p:cNvPr id="146440" name="Text Box 8"/>
              <p:cNvSpPr txBox="1">
                <a:spLocks noChangeArrowheads="1"/>
              </p:cNvSpPr>
              <p:nvPr/>
            </p:nvSpPr>
            <p:spPr bwMode="auto">
              <a:xfrm>
                <a:off x="4118" y="3194"/>
                <a:ext cx="212" cy="288"/>
              </a:xfrm>
              <a:prstGeom prst="rect">
                <a:avLst/>
              </a:prstGeom>
              <a:noFill/>
              <a:ln w="9525">
                <a:noFill/>
                <a:miter lim="800000"/>
                <a:headEnd/>
                <a:tailEnd/>
              </a:ln>
              <a:effectLst/>
            </p:spPr>
            <p:txBody>
              <a:bodyPr wrap="none">
                <a:spAutoFit/>
              </a:bodyPr>
              <a:lstStyle/>
              <a:p>
                <a:r>
                  <a:rPr lang="en-US" sz="2400" b="1" i="1">
                    <a:latin typeface="Times New Roman" pitchFamily="18" charset="0"/>
                  </a:rPr>
                  <a:t>x</a:t>
                </a:r>
              </a:p>
            </p:txBody>
          </p:sp>
          <p:sp>
            <p:nvSpPr>
              <p:cNvPr id="146441" name="Line 9"/>
              <p:cNvSpPr>
                <a:spLocks noChangeShapeType="1"/>
              </p:cNvSpPr>
              <p:nvPr/>
            </p:nvSpPr>
            <p:spPr bwMode="auto">
              <a:xfrm>
                <a:off x="1824" y="3264"/>
                <a:ext cx="0" cy="192"/>
              </a:xfrm>
              <a:prstGeom prst="line">
                <a:avLst/>
              </a:prstGeom>
              <a:noFill/>
              <a:ln w="9525">
                <a:solidFill>
                  <a:schemeClr val="tx1"/>
                </a:solidFill>
                <a:round/>
                <a:headEnd/>
                <a:tailEnd/>
              </a:ln>
              <a:effectLst/>
            </p:spPr>
            <p:txBody>
              <a:bodyPr wrap="none" anchor="ctr"/>
              <a:lstStyle/>
              <a:p>
                <a:endParaRPr lang="en-IN"/>
              </a:p>
            </p:txBody>
          </p:sp>
          <p:sp>
            <p:nvSpPr>
              <p:cNvPr id="146442" name="Text Box 10"/>
              <p:cNvSpPr txBox="1">
                <a:spLocks noChangeArrowheads="1"/>
              </p:cNvSpPr>
              <p:nvPr/>
            </p:nvSpPr>
            <p:spPr bwMode="auto">
              <a:xfrm>
                <a:off x="1728" y="3456"/>
                <a:ext cx="212" cy="288"/>
              </a:xfrm>
              <a:prstGeom prst="rect">
                <a:avLst/>
              </a:prstGeom>
              <a:noFill/>
              <a:ln w="9525">
                <a:noFill/>
                <a:miter lim="800000"/>
                <a:headEnd/>
                <a:tailEnd/>
              </a:ln>
              <a:effectLst/>
            </p:spPr>
            <p:txBody>
              <a:bodyPr wrap="none">
                <a:spAutoFit/>
              </a:bodyPr>
              <a:lstStyle/>
              <a:p>
                <a:r>
                  <a:rPr lang="en-US" sz="2400" b="1">
                    <a:latin typeface="Times New Roman" pitchFamily="18" charset="0"/>
                  </a:rPr>
                  <a:t>3</a:t>
                </a:r>
                <a:endParaRPr lang="en-US" sz="2400" b="1" i="1">
                  <a:latin typeface="Times New Roman" pitchFamily="18" charset="0"/>
                </a:endParaRPr>
              </a:p>
            </p:txBody>
          </p:sp>
          <p:sp>
            <p:nvSpPr>
              <p:cNvPr id="146443" name="Line 11"/>
              <p:cNvSpPr>
                <a:spLocks noChangeShapeType="1"/>
              </p:cNvSpPr>
              <p:nvPr/>
            </p:nvSpPr>
            <p:spPr bwMode="auto">
              <a:xfrm>
                <a:off x="2784" y="3264"/>
                <a:ext cx="0" cy="192"/>
              </a:xfrm>
              <a:prstGeom prst="line">
                <a:avLst/>
              </a:prstGeom>
              <a:noFill/>
              <a:ln w="9525">
                <a:solidFill>
                  <a:schemeClr val="tx1"/>
                </a:solidFill>
                <a:round/>
                <a:headEnd/>
                <a:tailEnd/>
              </a:ln>
              <a:effectLst/>
            </p:spPr>
            <p:txBody>
              <a:bodyPr wrap="none" anchor="ctr"/>
              <a:lstStyle/>
              <a:p>
                <a:endParaRPr lang="en-IN"/>
              </a:p>
            </p:txBody>
          </p:sp>
          <p:sp>
            <p:nvSpPr>
              <p:cNvPr id="146444" name="Text Box 12"/>
              <p:cNvSpPr txBox="1">
                <a:spLocks noChangeArrowheads="1"/>
              </p:cNvSpPr>
              <p:nvPr/>
            </p:nvSpPr>
            <p:spPr bwMode="auto">
              <a:xfrm>
                <a:off x="2688" y="3456"/>
                <a:ext cx="212" cy="288"/>
              </a:xfrm>
              <a:prstGeom prst="rect">
                <a:avLst/>
              </a:prstGeom>
              <a:noFill/>
              <a:ln w="9525">
                <a:noFill/>
                <a:miter lim="800000"/>
                <a:headEnd/>
                <a:tailEnd/>
              </a:ln>
              <a:effectLst/>
            </p:spPr>
            <p:txBody>
              <a:bodyPr wrap="none">
                <a:spAutoFit/>
              </a:bodyPr>
              <a:lstStyle/>
              <a:p>
                <a:r>
                  <a:rPr lang="en-US" sz="2400" b="1">
                    <a:latin typeface="Times New Roman" pitchFamily="18" charset="0"/>
                  </a:rPr>
                  <a:t>5</a:t>
                </a:r>
                <a:endParaRPr lang="en-US" sz="2400" b="1" i="1">
                  <a:latin typeface="Times New Roman" pitchFamily="18" charset="0"/>
                </a:endParaRPr>
              </a:p>
            </p:txBody>
          </p:sp>
          <p:sp>
            <p:nvSpPr>
              <p:cNvPr id="146445" name="Line 13"/>
              <p:cNvSpPr>
                <a:spLocks noChangeShapeType="1"/>
              </p:cNvSpPr>
              <p:nvPr/>
            </p:nvSpPr>
            <p:spPr bwMode="auto">
              <a:xfrm flipH="1">
                <a:off x="1824" y="3360"/>
                <a:ext cx="960" cy="0"/>
              </a:xfrm>
              <a:prstGeom prst="line">
                <a:avLst/>
              </a:prstGeom>
              <a:noFill/>
              <a:ln w="34925">
                <a:solidFill>
                  <a:srgbClr val="FF9933"/>
                </a:solidFill>
                <a:round/>
                <a:headEnd/>
                <a:tailEnd type="triangle" w="lg" len="lg"/>
              </a:ln>
              <a:effectLst/>
            </p:spPr>
            <p:txBody>
              <a:bodyPr wrap="none" anchor="ctr"/>
              <a:lstStyle/>
              <a:p>
                <a:endParaRPr lang="en-IN"/>
              </a:p>
            </p:txBody>
          </p:sp>
        </p:grpSp>
        <p:sp>
          <p:nvSpPr>
            <p:cNvPr id="146446" name="Text Box 14"/>
            <p:cNvSpPr txBox="1">
              <a:spLocks noChangeArrowheads="1"/>
            </p:cNvSpPr>
            <p:nvPr/>
          </p:nvSpPr>
          <p:spPr bwMode="auto">
            <a:xfrm>
              <a:off x="1478" y="2378"/>
              <a:ext cx="212" cy="288"/>
            </a:xfrm>
            <a:prstGeom prst="rect">
              <a:avLst/>
            </a:prstGeom>
            <a:noFill/>
            <a:ln w="9525">
              <a:noFill/>
              <a:miter lim="800000"/>
              <a:headEnd/>
              <a:tailEnd/>
            </a:ln>
            <a:effectLst/>
          </p:spPr>
          <p:txBody>
            <a:bodyPr wrap="none">
              <a:spAutoFit/>
            </a:bodyPr>
            <a:lstStyle/>
            <a:p>
              <a:r>
                <a:rPr lang="en-US" sz="2400" b="1" i="1">
                  <a:latin typeface="Times New Roman" pitchFamily="18" charset="0"/>
                </a:rPr>
                <a:t>b</a:t>
              </a:r>
            </a:p>
          </p:txBody>
        </p:sp>
        <p:sp>
          <p:nvSpPr>
            <p:cNvPr id="146447" name="Text Box 15"/>
            <p:cNvSpPr txBox="1">
              <a:spLocks noChangeArrowheads="1"/>
            </p:cNvSpPr>
            <p:nvPr/>
          </p:nvSpPr>
          <p:spPr bwMode="auto">
            <a:xfrm>
              <a:off x="2438" y="2378"/>
              <a:ext cx="212" cy="288"/>
            </a:xfrm>
            <a:prstGeom prst="rect">
              <a:avLst/>
            </a:prstGeom>
            <a:noFill/>
            <a:ln w="9525">
              <a:noFill/>
              <a:miter lim="800000"/>
              <a:headEnd/>
              <a:tailEnd/>
            </a:ln>
            <a:effectLst/>
          </p:spPr>
          <p:txBody>
            <a:bodyPr wrap="none">
              <a:spAutoFit/>
            </a:bodyPr>
            <a:lstStyle/>
            <a:p>
              <a:r>
                <a:rPr lang="en-US" sz="2400" b="1" i="1">
                  <a:latin typeface="Times New Roman" pitchFamily="18" charset="0"/>
                </a:rPr>
                <a:t>a</a:t>
              </a:r>
            </a:p>
          </p:txBody>
        </p:sp>
      </p:gr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fld id="{7C5BED90-A49A-49C9-AC36-1C88EEC2F736}" type="slidenum">
              <a:rPr lang="en-US"/>
              <a:pPr/>
              <a:t>105</a:t>
            </a:fld>
            <a:endParaRPr lang="en-US"/>
          </a:p>
        </p:txBody>
      </p:sp>
      <p:sp>
        <p:nvSpPr>
          <p:cNvPr id="147458" name="Rectangle 2"/>
          <p:cNvSpPr>
            <a:spLocks noGrp="1" noRot="1" noChangeArrowheads="1"/>
          </p:cNvSpPr>
          <p:nvPr>
            <p:ph type="title"/>
          </p:nvPr>
        </p:nvSpPr>
        <p:spPr>
          <a:xfrm>
            <a:off x="685800" y="381000"/>
            <a:ext cx="7772400" cy="1143000"/>
          </a:xfrm>
        </p:spPr>
        <p:txBody>
          <a:bodyPr/>
          <a:lstStyle/>
          <a:p>
            <a:r>
              <a:rPr lang="en-US"/>
              <a:t>Electrostatic Potential</a:t>
            </a:r>
          </a:p>
        </p:txBody>
      </p:sp>
      <p:sp>
        <p:nvSpPr>
          <p:cNvPr id="147459" name="Rectangle 3"/>
          <p:cNvSpPr>
            <a:spLocks noGrp="1" noChangeArrowheads="1"/>
          </p:cNvSpPr>
          <p:nvPr>
            <p:ph type="body" idx="1"/>
          </p:nvPr>
        </p:nvSpPr>
        <p:spPr>
          <a:xfrm>
            <a:off x="685800" y="1752600"/>
            <a:ext cx="7772400" cy="4114800"/>
          </a:xfrm>
        </p:spPr>
        <p:txBody>
          <a:bodyPr/>
          <a:lstStyle/>
          <a:p>
            <a:r>
              <a:rPr lang="en-US"/>
              <a:t>The electrostatic field is </a:t>
            </a:r>
            <a:r>
              <a:rPr lang="en-US" b="1" i="1" u="sng">
                <a:solidFill>
                  <a:schemeClr val="hlink"/>
                </a:solidFill>
                <a:latin typeface="Times New Roman" pitchFamily="18" charset="0"/>
              </a:rPr>
              <a:t>conservative</a:t>
            </a:r>
            <a:r>
              <a:rPr lang="en-US"/>
              <a:t>:</a:t>
            </a:r>
          </a:p>
          <a:p>
            <a:pPr lvl="1"/>
            <a:r>
              <a:rPr lang="en-US"/>
              <a:t>The value of the line integral depends only on the end points and is independent of the path taken.</a:t>
            </a:r>
          </a:p>
          <a:p>
            <a:pPr lvl="1"/>
            <a:r>
              <a:rPr lang="en-US"/>
              <a:t>The value of the line integral around any closed path is zero.</a:t>
            </a:r>
          </a:p>
        </p:txBody>
      </p:sp>
      <p:grpSp>
        <p:nvGrpSpPr>
          <p:cNvPr id="2" name="Group 5"/>
          <p:cNvGrpSpPr>
            <a:grpSpLocks/>
          </p:cNvGrpSpPr>
          <p:nvPr/>
        </p:nvGrpSpPr>
        <p:grpSpPr bwMode="auto">
          <a:xfrm>
            <a:off x="3048000" y="5181600"/>
            <a:ext cx="1074738" cy="1031875"/>
            <a:chOff x="3216" y="3024"/>
            <a:chExt cx="677" cy="650"/>
          </a:xfrm>
        </p:grpSpPr>
        <p:sp>
          <p:nvSpPr>
            <p:cNvPr id="147462" name="Freeform 6"/>
            <p:cNvSpPr>
              <a:spLocks/>
            </p:cNvSpPr>
            <p:nvPr/>
          </p:nvSpPr>
          <p:spPr bwMode="auto">
            <a:xfrm>
              <a:off x="3216" y="3024"/>
              <a:ext cx="624" cy="480"/>
            </a:xfrm>
            <a:custGeom>
              <a:avLst/>
              <a:gdLst/>
              <a:ahLst/>
              <a:cxnLst>
                <a:cxn ang="0">
                  <a:pos x="48" y="480"/>
                </a:cxn>
                <a:cxn ang="0">
                  <a:pos x="624" y="336"/>
                </a:cxn>
                <a:cxn ang="0">
                  <a:pos x="0" y="0"/>
                </a:cxn>
                <a:cxn ang="0">
                  <a:pos x="48" y="480"/>
                </a:cxn>
              </a:cxnLst>
              <a:rect l="0" t="0" r="r" b="b"/>
              <a:pathLst>
                <a:path w="624" h="480">
                  <a:moveTo>
                    <a:pt x="48" y="480"/>
                  </a:moveTo>
                  <a:lnTo>
                    <a:pt x="624" y="336"/>
                  </a:lnTo>
                  <a:lnTo>
                    <a:pt x="0" y="0"/>
                  </a:lnTo>
                  <a:lnTo>
                    <a:pt x="48" y="480"/>
                  </a:lnTo>
                  <a:close/>
                </a:path>
              </a:pathLst>
            </a:custGeom>
            <a:noFill/>
            <a:ln w="22225">
              <a:solidFill>
                <a:schemeClr val="hlink"/>
              </a:solidFill>
              <a:round/>
              <a:headEnd/>
              <a:tailEnd/>
            </a:ln>
            <a:effectLst/>
          </p:spPr>
          <p:txBody>
            <a:bodyPr wrap="none" anchor="ctr"/>
            <a:lstStyle/>
            <a:p>
              <a:endParaRPr lang="en-IN"/>
            </a:p>
          </p:txBody>
        </p:sp>
        <p:sp>
          <p:nvSpPr>
            <p:cNvPr id="147463" name="Line 7"/>
            <p:cNvSpPr>
              <a:spLocks noChangeShapeType="1"/>
            </p:cNvSpPr>
            <p:nvPr/>
          </p:nvSpPr>
          <p:spPr bwMode="auto">
            <a:xfrm flipV="1">
              <a:off x="3408" y="3408"/>
              <a:ext cx="240" cy="48"/>
            </a:xfrm>
            <a:prstGeom prst="line">
              <a:avLst/>
            </a:prstGeom>
            <a:noFill/>
            <a:ln w="9525">
              <a:solidFill>
                <a:schemeClr val="hlink"/>
              </a:solidFill>
              <a:round/>
              <a:headEnd/>
              <a:tailEnd type="triangle" w="lg" len="lg"/>
            </a:ln>
            <a:effectLst/>
          </p:spPr>
          <p:txBody>
            <a:bodyPr wrap="none" anchor="ctr"/>
            <a:lstStyle/>
            <a:p>
              <a:endParaRPr lang="en-IN"/>
            </a:p>
          </p:txBody>
        </p:sp>
        <p:sp>
          <p:nvSpPr>
            <p:cNvPr id="147464" name="Text Box 8"/>
            <p:cNvSpPr txBox="1">
              <a:spLocks noChangeArrowheads="1"/>
            </p:cNvSpPr>
            <p:nvPr/>
          </p:nvSpPr>
          <p:spPr bwMode="auto">
            <a:xfrm>
              <a:off x="3638" y="3386"/>
              <a:ext cx="255" cy="288"/>
            </a:xfrm>
            <a:prstGeom prst="rect">
              <a:avLst/>
            </a:prstGeom>
            <a:noFill/>
            <a:ln w="9525">
              <a:noFill/>
              <a:miter lim="800000"/>
              <a:headEnd/>
              <a:tailEnd/>
            </a:ln>
            <a:effectLst/>
          </p:spPr>
          <p:txBody>
            <a:bodyPr wrap="none">
              <a:spAutoFit/>
            </a:bodyPr>
            <a:lstStyle/>
            <a:p>
              <a:r>
                <a:rPr lang="en-US" sz="2400" b="1">
                  <a:solidFill>
                    <a:schemeClr val="hlink"/>
                  </a:solidFill>
                  <a:latin typeface="Times New Roman" pitchFamily="18" charset="0"/>
                </a:rPr>
                <a:t>C</a:t>
              </a:r>
            </a:p>
          </p:txBody>
        </p:sp>
      </p:grpSp>
      <p:sp>
        <p:nvSpPr>
          <p:cNvPr id="147465" name="Rectangle 9"/>
          <p:cNvSpPr>
            <a:spLocks noChangeArrowheads="1"/>
          </p:cNvSpPr>
          <p:nvPr/>
        </p:nvSpPr>
        <p:spPr bwMode="auto">
          <a:xfrm>
            <a:off x="6061075" y="4606925"/>
            <a:ext cx="641350" cy="457200"/>
          </a:xfrm>
          <a:prstGeom prst="rect">
            <a:avLst/>
          </a:prstGeom>
          <a:noFill/>
          <a:ln w="9525">
            <a:noFill/>
            <a:miter lim="800000"/>
            <a:headEnd/>
            <a:tailEnd/>
          </a:ln>
          <a:effectLst/>
        </p:spPr>
        <p:txBody>
          <a:bodyPr wrap="none">
            <a:spAutoFit/>
          </a:bodyPr>
          <a:lstStyle/>
          <a:p>
            <a:pPr lvl="1"/>
            <a:endParaRPr lang="en-US" sz="2400">
              <a:latin typeface="Times New Roman" pitchFamily="18"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fld id="{A8C9D234-973F-4275-9F01-0F2BFF8DF783}" type="slidenum">
              <a:rPr lang="en-US"/>
              <a:pPr/>
              <a:t>106</a:t>
            </a:fld>
            <a:endParaRPr lang="en-US"/>
          </a:p>
        </p:txBody>
      </p:sp>
      <p:sp>
        <p:nvSpPr>
          <p:cNvPr id="148482" name="Rectangle 2"/>
          <p:cNvSpPr>
            <a:spLocks noGrp="1" noRot="1" noChangeArrowheads="1"/>
          </p:cNvSpPr>
          <p:nvPr>
            <p:ph type="title"/>
          </p:nvPr>
        </p:nvSpPr>
        <p:spPr>
          <a:xfrm>
            <a:off x="685800" y="228600"/>
            <a:ext cx="7772400" cy="1143000"/>
          </a:xfrm>
        </p:spPr>
        <p:txBody>
          <a:bodyPr/>
          <a:lstStyle/>
          <a:p>
            <a:r>
              <a:rPr lang="en-US"/>
              <a:t>Electrostatic Potential</a:t>
            </a:r>
          </a:p>
        </p:txBody>
      </p:sp>
      <p:sp>
        <p:nvSpPr>
          <p:cNvPr id="148483" name="Rectangle 3"/>
          <p:cNvSpPr>
            <a:spLocks noGrp="1" noChangeArrowheads="1"/>
          </p:cNvSpPr>
          <p:nvPr>
            <p:ph type="body" idx="1"/>
          </p:nvPr>
        </p:nvSpPr>
        <p:spPr>
          <a:xfrm>
            <a:off x="685800" y="1600200"/>
            <a:ext cx="7772400" cy="4114800"/>
          </a:xfrm>
        </p:spPr>
        <p:txBody>
          <a:bodyPr/>
          <a:lstStyle/>
          <a:p>
            <a:r>
              <a:rPr lang="en-US" sz="3200"/>
              <a:t>The work done per unit charge in moving a test charge from point </a:t>
            </a:r>
            <a:r>
              <a:rPr lang="en-US" sz="3200" i="1">
                <a:solidFill>
                  <a:schemeClr val="hlink"/>
                </a:solidFill>
              </a:rPr>
              <a:t>a</a:t>
            </a:r>
            <a:r>
              <a:rPr lang="en-US" sz="3200"/>
              <a:t> to point </a:t>
            </a:r>
            <a:r>
              <a:rPr lang="en-US" sz="3200" i="1">
                <a:solidFill>
                  <a:schemeClr val="hlink"/>
                </a:solidFill>
              </a:rPr>
              <a:t>b</a:t>
            </a:r>
            <a:r>
              <a:rPr lang="en-US" sz="3200"/>
              <a:t> is the </a:t>
            </a:r>
            <a:r>
              <a:rPr lang="en-US" sz="3200" b="1" i="1">
                <a:solidFill>
                  <a:schemeClr val="hlink"/>
                </a:solidFill>
                <a:latin typeface="Times New Roman" pitchFamily="18" charset="0"/>
              </a:rPr>
              <a:t>electrostatic potential difference</a:t>
            </a:r>
            <a:r>
              <a:rPr lang="en-US" sz="3200"/>
              <a:t> between the two points:</a:t>
            </a:r>
          </a:p>
        </p:txBody>
      </p:sp>
      <p:sp>
        <p:nvSpPr>
          <p:cNvPr id="148485" name="Line 5"/>
          <p:cNvSpPr>
            <a:spLocks noChangeShapeType="1"/>
          </p:cNvSpPr>
          <p:nvPr/>
        </p:nvSpPr>
        <p:spPr bwMode="auto">
          <a:xfrm flipH="1" flipV="1">
            <a:off x="2590800" y="4648200"/>
            <a:ext cx="228600" cy="838200"/>
          </a:xfrm>
          <a:prstGeom prst="line">
            <a:avLst/>
          </a:prstGeom>
          <a:noFill/>
          <a:ln w="9525">
            <a:solidFill>
              <a:schemeClr val="tx1"/>
            </a:solidFill>
            <a:round/>
            <a:headEnd/>
            <a:tailEnd type="triangle" w="med" len="med"/>
          </a:ln>
          <a:effectLst/>
        </p:spPr>
        <p:txBody>
          <a:bodyPr/>
          <a:lstStyle/>
          <a:p>
            <a:endParaRPr lang="en-IN"/>
          </a:p>
        </p:txBody>
      </p:sp>
      <p:sp>
        <p:nvSpPr>
          <p:cNvPr id="148486" name="Text Box 6"/>
          <p:cNvSpPr txBox="1">
            <a:spLocks noChangeArrowheads="1"/>
          </p:cNvSpPr>
          <p:nvPr/>
        </p:nvSpPr>
        <p:spPr bwMode="auto">
          <a:xfrm>
            <a:off x="2862263" y="5426075"/>
            <a:ext cx="4137025" cy="822325"/>
          </a:xfrm>
          <a:prstGeom prst="rect">
            <a:avLst/>
          </a:prstGeom>
          <a:noFill/>
          <a:ln w="9525">
            <a:noFill/>
            <a:miter lim="800000"/>
            <a:headEnd/>
            <a:tailEnd/>
          </a:ln>
          <a:effectLst/>
        </p:spPr>
        <p:txBody>
          <a:bodyPr wrap="none">
            <a:spAutoFit/>
          </a:bodyPr>
          <a:lstStyle/>
          <a:p>
            <a:pPr algn="ctr"/>
            <a:r>
              <a:rPr lang="en-US" sz="2400" i="1">
                <a:solidFill>
                  <a:schemeClr val="hlink"/>
                </a:solidFill>
                <a:latin typeface="Times New Roman" pitchFamily="18" charset="0"/>
              </a:rPr>
              <a:t>electrostatic potential difference</a:t>
            </a:r>
          </a:p>
          <a:p>
            <a:pPr algn="ctr"/>
            <a:r>
              <a:rPr lang="en-US" sz="2400">
                <a:solidFill>
                  <a:schemeClr val="hlink"/>
                </a:solidFill>
                <a:latin typeface="Times New Roman" pitchFamily="18" charset="0"/>
              </a:rPr>
              <a:t>Units are volts.</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3A093906-2DD5-4993-84A1-F351313BDEE0}" type="slidenum">
              <a:rPr lang="en-US"/>
              <a:pPr/>
              <a:t>107</a:t>
            </a:fld>
            <a:endParaRPr lang="en-US"/>
          </a:p>
        </p:txBody>
      </p:sp>
      <p:sp>
        <p:nvSpPr>
          <p:cNvPr id="149506" name="Rectangle 2"/>
          <p:cNvSpPr>
            <a:spLocks noGrp="1" noRot="1" noChangeArrowheads="1"/>
          </p:cNvSpPr>
          <p:nvPr>
            <p:ph type="title"/>
          </p:nvPr>
        </p:nvSpPr>
        <p:spPr>
          <a:xfrm>
            <a:off x="685800" y="304800"/>
            <a:ext cx="7772400" cy="1143000"/>
          </a:xfrm>
        </p:spPr>
        <p:txBody>
          <a:bodyPr/>
          <a:lstStyle/>
          <a:p>
            <a:r>
              <a:rPr lang="en-US"/>
              <a:t>Electrostatic Potential</a:t>
            </a:r>
          </a:p>
        </p:txBody>
      </p:sp>
      <p:sp>
        <p:nvSpPr>
          <p:cNvPr id="149507" name="Rectangle 3"/>
          <p:cNvSpPr>
            <a:spLocks noGrp="1" noChangeArrowheads="1"/>
          </p:cNvSpPr>
          <p:nvPr>
            <p:ph type="body" idx="1"/>
          </p:nvPr>
        </p:nvSpPr>
        <p:spPr>
          <a:xfrm>
            <a:off x="533400" y="1371600"/>
            <a:ext cx="7772400" cy="1066800"/>
          </a:xfrm>
        </p:spPr>
        <p:txBody>
          <a:bodyPr/>
          <a:lstStyle/>
          <a:p>
            <a:r>
              <a:rPr lang="en-US"/>
              <a:t>Since the electrostatic field is conservative we can write</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fld id="{4CC79588-5E93-4582-814A-C9E52395DF2C}" type="slidenum">
              <a:rPr lang="en-US"/>
              <a:pPr/>
              <a:t>108</a:t>
            </a:fld>
            <a:endParaRPr lang="en-US"/>
          </a:p>
        </p:txBody>
      </p:sp>
      <p:sp>
        <p:nvSpPr>
          <p:cNvPr id="150530" name="Rectangle 2"/>
          <p:cNvSpPr>
            <a:spLocks noGrp="1" noRot="1" noChangeArrowheads="1"/>
          </p:cNvSpPr>
          <p:nvPr>
            <p:ph type="title"/>
          </p:nvPr>
        </p:nvSpPr>
        <p:spPr/>
        <p:txBody>
          <a:bodyPr/>
          <a:lstStyle/>
          <a:p>
            <a:r>
              <a:rPr lang="en-US"/>
              <a:t>Electrostatic Potential</a:t>
            </a:r>
          </a:p>
        </p:txBody>
      </p:sp>
      <p:sp>
        <p:nvSpPr>
          <p:cNvPr id="150531" name="Rectangle 3"/>
          <p:cNvSpPr>
            <a:spLocks noGrp="1" noChangeArrowheads="1"/>
          </p:cNvSpPr>
          <p:nvPr>
            <p:ph type="body" idx="1"/>
          </p:nvPr>
        </p:nvSpPr>
        <p:spPr/>
        <p:txBody>
          <a:bodyPr/>
          <a:lstStyle/>
          <a:p>
            <a:r>
              <a:rPr lang="en-US"/>
              <a:t>Thus the </a:t>
            </a:r>
            <a:r>
              <a:rPr lang="en-US" b="1" i="1">
                <a:solidFill>
                  <a:schemeClr val="hlink"/>
                </a:solidFill>
                <a:latin typeface="Times New Roman" pitchFamily="18" charset="0"/>
              </a:rPr>
              <a:t>electrostatic potential</a:t>
            </a:r>
            <a:r>
              <a:rPr lang="en-US"/>
              <a:t> </a:t>
            </a:r>
            <a:r>
              <a:rPr lang="en-US" i="1">
                <a:solidFill>
                  <a:schemeClr val="tx1"/>
                </a:solidFill>
              </a:rPr>
              <a:t>V</a:t>
            </a:r>
            <a:r>
              <a:rPr lang="en-US"/>
              <a:t> is a scalar field that is defined at every point in space.</a:t>
            </a:r>
          </a:p>
          <a:p>
            <a:r>
              <a:rPr lang="en-US"/>
              <a:t>In particular the value of the </a:t>
            </a:r>
            <a:r>
              <a:rPr lang="en-US" i="1">
                <a:latin typeface="Times New Roman" pitchFamily="18" charset="0"/>
              </a:rPr>
              <a:t>electrostatic potential</a:t>
            </a:r>
            <a:r>
              <a:rPr lang="en-US"/>
              <a:t> at any point </a:t>
            </a:r>
            <a:r>
              <a:rPr lang="en-US" i="1"/>
              <a:t>P</a:t>
            </a:r>
            <a:r>
              <a:rPr lang="en-US"/>
              <a:t> is given by</a:t>
            </a:r>
          </a:p>
        </p:txBody>
      </p:sp>
      <p:sp>
        <p:nvSpPr>
          <p:cNvPr id="150533" name="Line 5"/>
          <p:cNvSpPr>
            <a:spLocks noChangeShapeType="1"/>
          </p:cNvSpPr>
          <p:nvPr/>
        </p:nvSpPr>
        <p:spPr bwMode="auto">
          <a:xfrm flipH="1" flipV="1">
            <a:off x="4419600" y="5638800"/>
            <a:ext cx="685800" cy="1524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50534" name="Text Box 6"/>
          <p:cNvSpPr txBox="1">
            <a:spLocks noChangeArrowheads="1"/>
          </p:cNvSpPr>
          <p:nvPr/>
        </p:nvSpPr>
        <p:spPr bwMode="auto">
          <a:xfrm>
            <a:off x="5132388" y="5527675"/>
            <a:ext cx="2154237" cy="457200"/>
          </a:xfrm>
          <a:prstGeom prst="rect">
            <a:avLst/>
          </a:prstGeom>
          <a:noFill/>
          <a:ln w="9525">
            <a:noFill/>
            <a:miter lim="800000"/>
            <a:headEnd/>
            <a:tailEnd/>
          </a:ln>
          <a:effectLst/>
        </p:spPr>
        <p:txBody>
          <a:bodyPr wrap="none">
            <a:spAutoFit/>
          </a:bodyPr>
          <a:lstStyle/>
          <a:p>
            <a:pPr algn="ctr"/>
            <a:r>
              <a:rPr lang="en-US" sz="2400" b="1">
                <a:solidFill>
                  <a:schemeClr val="hlink"/>
                </a:solidFill>
                <a:latin typeface="Times New Roman" pitchFamily="18" charset="0"/>
              </a:rPr>
              <a:t>reference point</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E0C7C7E3-B067-4CB5-BDAA-64AAAF77BE2D}" type="slidenum">
              <a:rPr lang="en-US"/>
              <a:pPr/>
              <a:t>109</a:t>
            </a:fld>
            <a:endParaRPr lang="en-US"/>
          </a:p>
        </p:txBody>
      </p:sp>
      <p:sp>
        <p:nvSpPr>
          <p:cNvPr id="151554" name="Rectangle 2"/>
          <p:cNvSpPr>
            <a:spLocks noGrp="1" noRot="1" noChangeArrowheads="1"/>
          </p:cNvSpPr>
          <p:nvPr>
            <p:ph type="title"/>
          </p:nvPr>
        </p:nvSpPr>
        <p:spPr/>
        <p:txBody>
          <a:bodyPr/>
          <a:lstStyle/>
          <a:p>
            <a:r>
              <a:rPr lang="en-US"/>
              <a:t>Electrostatic Potential</a:t>
            </a:r>
          </a:p>
        </p:txBody>
      </p:sp>
      <p:sp>
        <p:nvSpPr>
          <p:cNvPr id="151555" name="Rectangle 3"/>
          <p:cNvSpPr>
            <a:spLocks noGrp="1" noChangeArrowheads="1"/>
          </p:cNvSpPr>
          <p:nvPr>
            <p:ph type="body" idx="1"/>
          </p:nvPr>
        </p:nvSpPr>
        <p:spPr/>
        <p:txBody>
          <a:bodyPr/>
          <a:lstStyle/>
          <a:p>
            <a:r>
              <a:rPr lang="en-US" sz="3200"/>
              <a:t>The </a:t>
            </a:r>
            <a:r>
              <a:rPr lang="en-US" sz="3200" b="1" i="1">
                <a:solidFill>
                  <a:schemeClr val="hlink"/>
                </a:solidFill>
                <a:latin typeface="Times New Roman" pitchFamily="18" charset="0"/>
              </a:rPr>
              <a:t>reference point</a:t>
            </a:r>
            <a:r>
              <a:rPr lang="en-US" sz="3200"/>
              <a:t> (</a:t>
            </a:r>
            <a:r>
              <a:rPr lang="en-US" sz="3200" i="1">
                <a:latin typeface="Times New Roman" pitchFamily="18" charset="0"/>
              </a:rPr>
              <a:t>P</a:t>
            </a:r>
            <a:r>
              <a:rPr lang="en-US" sz="3200" i="1" baseline="-25000">
                <a:latin typeface="Times New Roman" pitchFamily="18" charset="0"/>
              </a:rPr>
              <a:t>0</a:t>
            </a:r>
            <a:r>
              <a:rPr lang="en-US" sz="3200"/>
              <a:t>) is where the potential is zero (analogous to </a:t>
            </a:r>
            <a:r>
              <a:rPr lang="en-US" sz="3200" b="1" i="1">
                <a:solidFill>
                  <a:schemeClr val="hlink"/>
                </a:solidFill>
                <a:latin typeface="Times New Roman" pitchFamily="18" charset="0"/>
              </a:rPr>
              <a:t>ground</a:t>
            </a:r>
            <a:r>
              <a:rPr lang="en-US" sz="3200"/>
              <a:t> in a circuit).</a:t>
            </a:r>
          </a:p>
          <a:p>
            <a:r>
              <a:rPr lang="en-US" sz="3200"/>
              <a:t>Often the reference is taken to be at infinity so that the potential of a point in space is defined as</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AFF2C25F-26DB-48D9-9478-D8F3C56B3CC8}" type="slidenum">
              <a:rPr lang="en-US"/>
              <a:pPr/>
              <a:t>110</a:t>
            </a:fld>
            <a:endParaRPr lang="en-US"/>
          </a:p>
        </p:txBody>
      </p:sp>
      <p:sp>
        <p:nvSpPr>
          <p:cNvPr id="152578" name="Rectangle 2"/>
          <p:cNvSpPr>
            <a:spLocks noGrp="1" noRot="1" noChangeArrowheads="1"/>
          </p:cNvSpPr>
          <p:nvPr>
            <p:ph type="title"/>
          </p:nvPr>
        </p:nvSpPr>
        <p:spPr/>
        <p:txBody>
          <a:bodyPr>
            <a:normAutofit fontScale="90000"/>
          </a:bodyPr>
          <a:lstStyle/>
          <a:p>
            <a:r>
              <a:rPr lang="en-US"/>
              <a:t>Electrostatic Potential and Electric Field</a:t>
            </a:r>
          </a:p>
        </p:txBody>
      </p:sp>
      <p:sp>
        <p:nvSpPr>
          <p:cNvPr id="152579" name="Rectangle 3"/>
          <p:cNvSpPr>
            <a:spLocks noGrp="1" noChangeArrowheads="1"/>
          </p:cNvSpPr>
          <p:nvPr>
            <p:ph type="body" idx="1"/>
          </p:nvPr>
        </p:nvSpPr>
        <p:spPr/>
        <p:txBody>
          <a:bodyPr/>
          <a:lstStyle/>
          <a:p>
            <a:r>
              <a:rPr lang="en-US"/>
              <a:t>The work done in moving a point charge from point </a:t>
            </a:r>
            <a:r>
              <a:rPr lang="en-US" i="1">
                <a:solidFill>
                  <a:schemeClr val="hlink"/>
                </a:solidFill>
                <a:latin typeface="Times New Roman" pitchFamily="18" charset="0"/>
              </a:rPr>
              <a:t>a</a:t>
            </a:r>
            <a:r>
              <a:rPr lang="en-US"/>
              <a:t> to point</a:t>
            </a:r>
            <a:r>
              <a:rPr lang="en-US" i="1"/>
              <a:t> </a:t>
            </a:r>
            <a:r>
              <a:rPr lang="en-US" i="1">
                <a:solidFill>
                  <a:schemeClr val="hlink"/>
                </a:solidFill>
                <a:latin typeface="Times New Roman" pitchFamily="18" charset="0"/>
              </a:rPr>
              <a:t>b</a:t>
            </a:r>
            <a:r>
              <a:rPr lang="en-US"/>
              <a:t> can be written as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fld id="{6A4AC896-E051-4C50-989E-8A8236C46167}" type="slidenum">
              <a:rPr lang="en-US"/>
              <a:pPr/>
              <a:t>111</a:t>
            </a:fld>
            <a:endParaRPr lang="en-US"/>
          </a:p>
        </p:txBody>
      </p:sp>
      <p:sp>
        <p:nvSpPr>
          <p:cNvPr id="153602" name="Rectangle 2"/>
          <p:cNvSpPr>
            <a:spLocks noGrp="1" noRot="1" noChangeArrowheads="1"/>
          </p:cNvSpPr>
          <p:nvPr>
            <p:ph type="title"/>
          </p:nvPr>
        </p:nvSpPr>
        <p:spPr/>
        <p:txBody>
          <a:bodyPr>
            <a:normAutofit fontScale="90000"/>
          </a:bodyPr>
          <a:lstStyle/>
          <a:p>
            <a:r>
              <a:rPr lang="en-US"/>
              <a:t>Electrostatic Potential and Electric Field</a:t>
            </a:r>
          </a:p>
        </p:txBody>
      </p:sp>
      <p:sp>
        <p:nvSpPr>
          <p:cNvPr id="153603" name="Rectangle 3"/>
          <p:cNvSpPr>
            <a:spLocks noGrp="1" noChangeArrowheads="1"/>
          </p:cNvSpPr>
          <p:nvPr>
            <p:ph type="body" idx="1"/>
          </p:nvPr>
        </p:nvSpPr>
        <p:spPr/>
        <p:txBody>
          <a:bodyPr/>
          <a:lstStyle/>
          <a:p>
            <a:r>
              <a:rPr lang="en-US"/>
              <a:t>Along a short path of length </a:t>
            </a:r>
            <a:r>
              <a:rPr lang="en-US" i="1">
                <a:latin typeface="Symbol" pitchFamily="18" charset="2"/>
              </a:rPr>
              <a:t>D</a:t>
            </a:r>
            <a:r>
              <a:rPr lang="en-US" i="1">
                <a:latin typeface="Times New Roman" pitchFamily="18" charset="0"/>
              </a:rPr>
              <a:t>l</a:t>
            </a:r>
            <a:r>
              <a:rPr lang="en-US"/>
              <a:t> we have</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fld id="{0B9AE69B-F220-45BC-A2A1-A7411D377F50}" type="slidenum">
              <a:rPr lang="en-US"/>
              <a:pPr/>
              <a:t>112</a:t>
            </a:fld>
            <a:endParaRPr lang="en-US"/>
          </a:p>
        </p:txBody>
      </p:sp>
      <p:sp>
        <p:nvSpPr>
          <p:cNvPr id="154626" name="Rectangle 2"/>
          <p:cNvSpPr>
            <a:spLocks noGrp="1" noRot="1" noChangeArrowheads="1"/>
          </p:cNvSpPr>
          <p:nvPr>
            <p:ph type="title"/>
          </p:nvPr>
        </p:nvSpPr>
        <p:spPr/>
        <p:txBody>
          <a:bodyPr>
            <a:normAutofit fontScale="90000"/>
          </a:bodyPr>
          <a:lstStyle/>
          <a:p>
            <a:r>
              <a:rPr lang="en-US"/>
              <a:t>Electrostatic Potential and Electric Field</a:t>
            </a:r>
          </a:p>
        </p:txBody>
      </p:sp>
      <p:sp>
        <p:nvSpPr>
          <p:cNvPr id="154627" name="Rectangle 3"/>
          <p:cNvSpPr>
            <a:spLocks noGrp="1" noChangeArrowheads="1"/>
          </p:cNvSpPr>
          <p:nvPr>
            <p:ph type="body" idx="1"/>
          </p:nvPr>
        </p:nvSpPr>
        <p:spPr/>
        <p:txBody>
          <a:bodyPr/>
          <a:lstStyle/>
          <a:p>
            <a:r>
              <a:rPr lang="en-US"/>
              <a:t>Along an incremental path of length </a:t>
            </a:r>
            <a:r>
              <a:rPr lang="en-US" i="1">
                <a:latin typeface="Times New Roman" pitchFamily="18" charset="0"/>
              </a:rPr>
              <a:t>dl</a:t>
            </a:r>
            <a:r>
              <a:rPr lang="en-US">
                <a:latin typeface="Times New Roman" pitchFamily="18" charset="0"/>
              </a:rPr>
              <a:t> </a:t>
            </a:r>
            <a:r>
              <a:rPr lang="en-US"/>
              <a:t>we have</a:t>
            </a:r>
          </a:p>
          <a:p>
            <a:endParaRPr lang="en-US"/>
          </a:p>
          <a:p>
            <a:r>
              <a:rPr lang="en-US"/>
              <a:t>Recall from the definition of </a:t>
            </a:r>
            <a:r>
              <a:rPr lang="en-US" i="1">
                <a:solidFill>
                  <a:schemeClr val="hlink"/>
                </a:solidFill>
                <a:latin typeface="Times New Roman" pitchFamily="18" charset="0"/>
              </a:rPr>
              <a:t>directional derivative</a:t>
            </a:r>
            <a:r>
              <a:rPr lang="en-US"/>
              <a:t>:</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fld id="{D528EE79-9016-4255-B488-804A1F8911AB}" type="slidenum">
              <a:rPr lang="en-US"/>
              <a:pPr/>
              <a:t>113</a:t>
            </a:fld>
            <a:endParaRPr lang="en-US"/>
          </a:p>
        </p:txBody>
      </p:sp>
      <p:sp>
        <p:nvSpPr>
          <p:cNvPr id="155650" name="Rectangle 2"/>
          <p:cNvSpPr>
            <a:spLocks noGrp="1" noRot="1" noChangeArrowheads="1"/>
          </p:cNvSpPr>
          <p:nvPr>
            <p:ph type="title"/>
          </p:nvPr>
        </p:nvSpPr>
        <p:spPr/>
        <p:txBody>
          <a:bodyPr>
            <a:normAutofit fontScale="90000"/>
          </a:bodyPr>
          <a:lstStyle/>
          <a:p>
            <a:r>
              <a:rPr lang="en-US"/>
              <a:t>Electrostatic Potential and Electric Field</a:t>
            </a:r>
          </a:p>
        </p:txBody>
      </p:sp>
      <p:sp>
        <p:nvSpPr>
          <p:cNvPr id="155651" name="Rectangle 3"/>
          <p:cNvSpPr>
            <a:spLocks noGrp="1" noChangeArrowheads="1"/>
          </p:cNvSpPr>
          <p:nvPr>
            <p:ph type="body" idx="1"/>
          </p:nvPr>
        </p:nvSpPr>
        <p:spPr/>
        <p:txBody>
          <a:bodyPr/>
          <a:lstStyle/>
          <a:p>
            <a:r>
              <a:rPr lang="en-US"/>
              <a:t>Thus:</a:t>
            </a:r>
          </a:p>
        </p:txBody>
      </p:sp>
      <p:sp>
        <p:nvSpPr>
          <p:cNvPr id="155653" name="Line 5"/>
          <p:cNvSpPr>
            <a:spLocks noChangeShapeType="1"/>
          </p:cNvSpPr>
          <p:nvPr/>
        </p:nvSpPr>
        <p:spPr bwMode="auto">
          <a:xfrm flipV="1">
            <a:off x="3657600" y="3352800"/>
            <a:ext cx="1066800" cy="11430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55654" name="Text Box 6"/>
          <p:cNvSpPr txBox="1">
            <a:spLocks noChangeArrowheads="1"/>
          </p:cNvSpPr>
          <p:nvPr/>
        </p:nvSpPr>
        <p:spPr bwMode="auto">
          <a:xfrm>
            <a:off x="2590800" y="4572000"/>
            <a:ext cx="4284663" cy="519113"/>
          </a:xfrm>
          <a:prstGeom prst="rect">
            <a:avLst/>
          </a:prstGeom>
          <a:noFill/>
          <a:ln w="9525">
            <a:noFill/>
            <a:miter lim="800000"/>
            <a:headEnd/>
            <a:tailEnd/>
          </a:ln>
          <a:effectLst/>
        </p:spPr>
        <p:txBody>
          <a:bodyPr wrap="none">
            <a:spAutoFit/>
          </a:bodyPr>
          <a:lstStyle/>
          <a:p>
            <a:r>
              <a:rPr lang="en-US" sz="2800">
                <a:solidFill>
                  <a:schemeClr val="hlink"/>
                </a:solidFill>
                <a:latin typeface="Times New Roman" pitchFamily="18" charset="0"/>
              </a:rPr>
              <a:t>the “del” or “nabla” operator</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81000"/>
          </a:xfrm>
        </p:spPr>
        <p:txBody>
          <a:bodyPr>
            <a:noAutofit/>
          </a:bodyPr>
          <a:lstStyle/>
          <a:p>
            <a:r>
              <a:rPr lang="en-US" sz="2400" dirty="0" smtClean="0"/>
              <a:t/>
            </a:r>
            <a:br>
              <a:rPr lang="en-US" sz="2400" dirty="0" smtClean="0"/>
            </a:br>
            <a:r>
              <a:rPr lang="en-US" sz="2400" dirty="0" smtClean="0"/>
              <a:t/>
            </a:r>
            <a:br>
              <a:rPr lang="en-US" sz="2400" dirty="0" smtClean="0"/>
            </a:br>
            <a:r>
              <a:rPr lang="en-US" sz="2400" dirty="0" smtClean="0"/>
              <a:t>Electric field intensity at any point due to a uniformly charged wire.</a:t>
            </a:r>
            <a:r>
              <a:rPr lang="en-IN" sz="2400" dirty="0" smtClean="0"/>
              <a:t/>
            </a:r>
            <a:br>
              <a:rPr lang="en-IN" sz="2400" dirty="0" smtClean="0"/>
            </a:br>
            <a:endParaRPr lang="en-IN" sz="2400" dirty="0"/>
          </a:p>
        </p:txBody>
      </p:sp>
      <p:pic>
        <p:nvPicPr>
          <p:cNvPr id="256002" name="Picture 2"/>
          <p:cNvPicPr>
            <a:picLocks noGrp="1" noChangeAspect="1" noChangeArrowheads="1"/>
          </p:cNvPicPr>
          <p:nvPr>
            <p:ph idx="1"/>
          </p:nvPr>
        </p:nvPicPr>
        <p:blipFill>
          <a:blip r:embed="rId2" cstate="print"/>
          <a:srcRect/>
          <a:stretch>
            <a:fillRect/>
          </a:stretch>
        </p:blipFill>
        <p:spPr bwMode="auto">
          <a:xfrm>
            <a:off x="2057400" y="914400"/>
            <a:ext cx="4314825" cy="3667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026" name="Picture 2"/>
          <p:cNvPicPr>
            <a:picLocks noGrp="1" noChangeAspect="1" noChangeArrowheads="1"/>
          </p:cNvPicPr>
          <p:nvPr>
            <p:ph idx="1"/>
          </p:nvPr>
        </p:nvPicPr>
        <p:blipFill>
          <a:blip r:embed="rId2" cstate="print"/>
          <a:srcRect/>
          <a:stretch>
            <a:fillRect/>
          </a:stretch>
        </p:blipFill>
        <p:spPr bwMode="auto">
          <a:xfrm>
            <a:off x="609600" y="228600"/>
            <a:ext cx="7772399" cy="640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p:cNvPicPr>
            <a:picLocks noGrp="1" noChangeAspect="1" noChangeArrowheads="1"/>
          </p:cNvPicPr>
          <p:nvPr>
            <p:ph idx="1"/>
          </p:nvPr>
        </p:nvPicPr>
        <p:blipFill>
          <a:blip r:embed="rId2" cstate="print"/>
          <a:srcRect/>
          <a:stretch>
            <a:fillRect/>
          </a:stretch>
        </p:blipFill>
        <p:spPr bwMode="auto">
          <a:xfrm>
            <a:off x="1981200" y="304800"/>
            <a:ext cx="3505200" cy="1981200"/>
          </a:xfrm>
          <a:prstGeom prst="rect">
            <a:avLst/>
          </a:prstGeom>
          <a:noFill/>
          <a:ln w="9525">
            <a:noFill/>
            <a:miter lim="800000"/>
            <a:headEnd/>
            <a:tailEnd/>
          </a:ln>
        </p:spPr>
      </p:pic>
      <p:pic>
        <p:nvPicPr>
          <p:cNvPr id="258051" name="Picture 3"/>
          <p:cNvPicPr>
            <a:picLocks noChangeAspect="1" noChangeArrowheads="1"/>
          </p:cNvPicPr>
          <p:nvPr/>
        </p:nvPicPr>
        <p:blipFill>
          <a:blip r:embed="rId3" cstate="print"/>
          <a:srcRect/>
          <a:stretch>
            <a:fillRect/>
          </a:stretch>
        </p:blipFill>
        <p:spPr bwMode="auto">
          <a:xfrm>
            <a:off x="0" y="1828800"/>
            <a:ext cx="6667500"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9074" name="Picture 2"/>
          <p:cNvPicPr>
            <a:picLocks noGrp="1" noChangeAspect="1" noChangeArrowheads="1"/>
          </p:cNvPicPr>
          <p:nvPr>
            <p:ph idx="1"/>
          </p:nvPr>
        </p:nvPicPr>
        <p:blipFill>
          <a:blip r:embed="rId2" cstate="print"/>
          <a:srcRect/>
          <a:stretch>
            <a:fillRect/>
          </a:stretch>
        </p:blipFill>
        <p:spPr bwMode="auto">
          <a:xfrm>
            <a:off x="1524000" y="533400"/>
            <a:ext cx="58674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098" name="Picture 2"/>
          <p:cNvPicPr>
            <a:picLocks noGrp="1" noChangeAspect="1" noChangeArrowheads="1"/>
          </p:cNvPicPr>
          <p:nvPr>
            <p:ph idx="1"/>
          </p:nvPr>
        </p:nvPicPr>
        <p:blipFill>
          <a:blip r:embed="rId2" cstate="print"/>
          <a:srcRect/>
          <a:stretch>
            <a:fillRect/>
          </a:stretch>
        </p:blipFill>
        <p:spPr bwMode="auto">
          <a:xfrm>
            <a:off x="533400" y="152400"/>
            <a:ext cx="7620000" cy="3505200"/>
          </a:xfrm>
          <a:prstGeom prst="rect">
            <a:avLst/>
          </a:prstGeom>
          <a:noFill/>
          <a:ln w="9525">
            <a:noFill/>
            <a:miter lim="800000"/>
            <a:headEnd/>
            <a:tailEnd/>
          </a:ln>
        </p:spPr>
      </p:pic>
      <p:pic>
        <p:nvPicPr>
          <p:cNvPr id="260099" name="Picture 3"/>
          <p:cNvPicPr>
            <a:picLocks noChangeAspect="1" noChangeArrowheads="1"/>
          </p:cNvPicPr>
          <p:nvPr/>
        </p:nvPicPr>
        <p:blipFill>
          <a:blip r:embed="rId3" cstate="print"/>
          <a:srcRect/>
          <a:stretch>
            <a:fillRect/>
          </a:stretch>
        </p:blipFill>
        <p:spPr bwMode="auto">
          <a:xfrm>
            <a:off x="2971800" y="3838575"/>
            <a:ext cx="2905125" cy="3019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122" name="Picture 2"/>
          <p:cNvPicPr>
            <a:picLocks noGrp="1" noChangeAspect="1" noChangeArrowheads="1"/>
          </p:cNvPicPr>
          <p:nvPr>
            <p:ph idx="1"/>
          </p:nvPr>
        </p:nvPicPr>
        <p:blipFill>
          <a:blip r:embed="rId2" cstate="print"/>
          <a:srcRect/>
          <a:stretch>
            <a:fillRect/>
          </a:stretch>
        </p:blipFill>
        <p:spPr bwMode="auto">
          <a:xfrm>
            <a:off x="228600" y="-1"/>
            <a:ext cx="8610600" cy="68580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146" name="Picture 2"/>
          <p:cNvPicPr>
            <a:picLocks noGrp="1" noChangeAspect="1" noChangeArrowheads="1"/>
          </p:cNvPicPr>
          <p:nvPr>
            <p:ph idx="1"/>
          </p:nvPr>
        </p:nvPicPr>
        <p:blipFill>
          <a:blip r:embed="rId2" cstate="print"/>
          <a:srcRect/>
          <a:stretch>
            <a:fillRect/>
          </a:stretch>
        </p:blipFill>
        <p:spPr bwMode="auto">
          <a:xfrm>
            <a:off x="762000" y="228600"/>
            <a:ext cx="7696199" cy="5486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0" name="Picture 2"/>
          <p:cNvPicPr>
            <a:picLocks noGrp="1" noChangeAspect="1" noChangeArrowheads="1"/>
          </p:cNvPicPr>
          <p:nvPr>
            <p:ph idx="1"/>
          </p:nvPr>
        </p:nvPicPr>
        <p:blipFill>
          <a:blip r:embed="rId2" cstate="print"/>
          <a:srcRect/>
          <a:stretch>
            <a:fillRect/>
          </a:stretch>
        </p:blipFill>
        <p:spPr bwMode="auto">
          <a:xfrm>
            <a:off x="762000" y="381000"/>
            <a:ext cx="73914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098" name="Picture 2"/>
          <p:cNvPicPr>
            <a:picLocks noGrp="1" noChangeAspect="1" noChangeArrowheads="1"/>
          </p:cNvPicPr>
          <p:nvPr>
            <p:ph idx="1"/>
          </p:nvPr>
        </p:nvPicPr>
        <p:blipFill>
          <a:blip r:embed="rId2" cstate="print"/>
          <a:srcRect/>
          <a:stretch>
            <a:fillRect/>
          </a:stretch>
        </p:blipFill>
        <p:spPr bwMode="auto">
          <a:xfrm>
            <a:off x="571500" y="533401"/>
            <a:ext cx="8001000" cy="50299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10626" name="Picture 2"/>
          <p:cNvPicPr>
            <a:picLocks noGrp="1" noChangeAspect="1" noChangeArrowheads="1"/>
          </p:cNvPicPr>
          <p:nvPr>
            <p:ph idx="1"/>
          </p:nvPr>
        </p:nvPicPr>
        <p:blipFill>
          <a:blip r:embed="rId2" cstate="print"/>
          <a:srcRect/>
          <a:stretch>
            <a:fillRect/>
          </a:stretch>
        </p:blipFill>
        <p:spPr bwMode="auto">
          <a:xfrm>
            <a:off x="685800" y="680244"/>
            <a:ext cx="7848599" cy="54919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122" name="Picture 2"/>
          <p:cNvPicPr>
            <a:picLocks noGrp="1" noChangeAspect="1" noChangeArrowheads="1"/>
          </p:cNvPicPr>
          <p:nvPr>
            <p:ph idx="1"/>
          </p:nvPr>
        </p:nvPicPr>
        <p:blipFill>
          <a:blip r:embed="rId2" cstate="print"/>
          <a:srcRect/>
          <a:stretch>
            <a:fillRect/>
          </a:stretch>
        </p:blipFill>
        <p:spPr bwMode="auto">
          <a:xfrm>
            <a:off x="381000" y="457200"/>
            <a:ext cx="83820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147" name="Picture 3"/>
          <p:cNvPicPr>
            <a:picLocks noGrp="1" noChangeAspect="1" noChangeArrowheads="1"/>
          </p:cNvPicPr>
          <p:nvPr>
            <p:ph idx="1"/>
          </p:nvPr>
        </p:nvPicPr>
        <p:blipFill>
          <a:blip r:embed="rId2" cstate="print"/>
          <a:srcRect/>
          <a:stretch>
            <a:fillRect/>
          </a:stretch>
        </p:blipFill>
        <p:spPr bwMode="auto">
          <a:xfrm>
            <a:off x="685800" y="1066800"/>
            <a:ext cx="77724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0" name="Picture 2"/>
          <p:cNvPicPr>
            <a:picLocks noGrp="1" noChangeAspect="1" noChangeArrowheads="1"/>
          </p:cNvPicPr>
          <p:nvPr>
            <p:ph idx="1"/>
          </p:nvPr>
        </p:nvPicPr>
        <p:blipFill>
          <a:blip r:embed="rId2" cstate="print"/>
          <a:srcRect/>
          <a:stretch>
            <a:fillRect/>
          </a:stretch>
        </p:blipFill>
        <p:spPr bwMode="auto">
          <a:xfrm>
            <a:off x="781050" y="415131"/>
            <a:ext cx="7581900" cy="5524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4" name="Picture 2"/>
          <p:cNvPicPr>
            <a:picLocks noGrp="1" noChangeAspect="1" noChangeArrowheads="1"/>
          </p:cNvPicPr>
          <p:nvPr>
            <p:ph idx="1"/>
          </p:nvPr>
        </p:nvPicPr>
        <p:blipFill>
          <a:blip r:embed="rId2" cstate="print"/>
          <a:srcRect/>
          <a:stretch>
            <a:fillRect/>
          </a:stretch>
        </p:blipFill>
        <p:spPr bwMode="auto">
          <a:xfrm>
            <a:off x="685800" y="304800"/>
            <a:ext cx="77724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IN" sz="2800" dirty="0" smtClean="0"/>
              <a:t>Introduction to magnetic field:</a:t>
            </a:r>
          </a:p>
          <a:p>
            <a:r>
              <a:rPr lang="en-IN" sz="2400" dirty="0" smtClean="0"/>
              <a:t>Electric charge at rest produces an electric field called electrostatic field.</a:t>
            </a:r>
          </a:p>
          <a:p>
            <a:r>
              <a:rPr lang="en-IN" sz="2400" dirty="0" smtClean="0"/>
              <a:t>Electric charge in motion that is current produces magnetic field.</a:t>
            </a:r>
          </a:p>
          <a:p>
            <a:r>
              <a:rPr lang="en-IN" sz="2400" dirty="0" smtClean="0"/>
              <a:t>Magnetic flux:</a:t>
            </a:r>
          </a:p>
          <a:p>
            <a:r>
              <a:rPr lang="en-IN" sz="2400" dirty="0" smtClean="0"/>
              <a:t>Magnetic flux passing through any area.</a:t>
            </a:r>
          </a:p>
          <a:p>
            <a:pPr>
              <a:buNone/>
            </a:pPr>
            <a:r>
              <a:rPr lang="en-IN" sz="2400" dirty="0" smtClean="0"/>
              <a:t>          the second </a:t>
            </a:r>
            <a:r>
              <a:rPr lang="en-IN" sz="2400" dirty="0" err="1" smtClean="0"/>
              <a:t>equ</a:t>
            </a:r>
            <a:r>
              <a:rPr lang="en-IN" sz="2400" dirty="0" smtClean="0"/>
              <a:t>. Is the gauss law for electric field.</a:t>
            </a:r>
            <a:endParaRPr lang="en-IN" sz="2400"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IN" sz="2400" dirty="0" smtClean="0"/>
              <a:t>The charge Q is the  source of the lines of electric flux, these lines begins and terminate on positive and negative charge respectively. No source is found for lines of magnetic field. The magnetic flux lines are closed and do not terminate on magnetic charge. Gauss law for magnetic field is,</a:t>
            </a:r>
          </a:p>
          <a:p>
            <a:endParaRPr lang="en-IN" sz="2400" dirty="0" smtClean="0"/>
          </a:p>
          <a:p>
            <a:r>
              <a:rPr lang="en-IN" sz="2400" dirty="0" smtClean="0"/>
              <a:t>By divergence theorem</a:t>
            </a:r>
          </a:p>
          <a:p>
            <a:endParaRPr lang="en-IN" sz="2400" dirty="0" smtClean="0"/>
          </a:p>
          <a:p>
            <a:endParaRPr lang="en-IN" sz="2400" dirty="0" smtClean="0"/>
          </a:p>
          <a:p>
            <a:endParaRPr lang="en-IN" sz="2400" dirty="0" smtClean="0"/>
          </a:p>
          <a:p>
            <a:r>
              <a:rPr lang="en-IN" sz="2400" dirty="0" err="1" smtClean="0"/>
              <a:t>i.e</a:t>
            </a:r>
            <a:r>
              <a:rPr lang="en-IN" sz="2400" dirty="0" smtClean="0"/>
              <a:t> The total magnetic flux  passing through the closed path is  equal to  zero. </a:t>
            </a:r>
            <a:endParaRPr lang="en-IN" sz="2400"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IN" sz="2400" dirty="0" smtClean="0"/>
              <a:t>Magnetic force on moving charge:</a:t>
            </a:r>
          </a:p>
          <a:p>
            <a:pPr>
              <a:buNone/>
            </a:pPr>
            <a:r>
              <a:rPr lang="en-IN" sz="2400" dirty="0" smtClean="0"/>
              <a:t>A charged particle in motion in B is experienced by force.</a:t>
            </a:r>
          </a:p>
          <a:p>
            <a:pPr algn="ctr">
              <a:buNone/>
            </a:pPr>
            <a:r>
              <a:rPr lang="en-IN" sz="2400" dirty="0" smtClean="0"/>
              <a:t>     F=Q(v*B)</a:t>
            </a:r>
          </a:p>
          <a:p>
            <a:pPr algn="ctr">
              <a:buNone/>
            </a:pPr>
            <a:r>
              <a:rPr lang="en-IN" sz="2400" dirty="0" smtClean="0"/>
              <a:t>        F=</a:t>
            </a:r>
            <a:r>
              <a:rPr lang="en-IN" sz="2400" dirty="0" err="1" smtClean="0"/>
              <a:t>QvB</a:t>
            </a:r>
            <a:r>
              <a:rPr lang="en-IN" sz="2400" dirty="0" smtClean="0"/>
              <a:t> sin</a:t>
            </a:r>
            <a:r>
              <a:rPr lang="el-GR" sz="2400" dirty="0" smtClean="0"/>
              <a:t>θ</a:t>
            </a:r>
            <a:endParaRPr lang="en-IN" sz="2400" dirty="0" smtClean="0"/>
          </a:p>
          <a:p>
            <a:pPr>
              <a:buNone/>
            </a:pPr>
            <a:r>
              <a:rPr lang="en-IN" sz="2400" dirty="0" smtClean="0"/>
              <a:t>Electric force on charge particle</a:t>
            </a:r>
          </a:p>
          <a:p>
            <a:pPr>
              <a:buNone/>
            </a:pPr>
            <a:r>
              <a:rPr lang="en-IN" sz="2400" dirty="0" smtClean="0"/>
              <a:t>F=QE+Q(v*B)</a:t>
            </a:r>
          </a:p>
          <a:p>
            <a:pPr>
              <a:buNone/>
            </a:pPr>
            <a:r>
              <a:rPr lang="en-IN" sz="2400" dirty="0" smtClean="0"/>
              <a:t>The force on current element</a:t>
            </a:r>
          </a:p>
          <a:p>
            <a:pPr>
              <a:buNone/>
            </a:pPr>
            <a:r>
              <a:rPr lang="en-IN" sz="2400" dirty="0" err="1" smtClean="0"/>
              <a:t>dF</a:t>
            </a:r>
            <a:r>
              <a:rPr lang="en-IN" sz="2400" dirty="0" smtClean="0"/>
              <a:t>=</a:t>
            </a:r>
            <a:r>
              <a:rPr lang="en-IN" sz="2400" dirty="0" err="1" smtClean="0"/>
              <a:t>dQ</a:t>
            </a:r>
            <a:r>
              <a:rPr lang="en-IN" sz="2400" dirty="0" smtClean="0"/>
              <a:t>(v*B)  since v=dl/</a:t>
            </a:r>
            <a:r>
              <a:rPr lang="en-IN" sz="2400" dirty="0" err="1" smtClean="0"/>
              <a:t>dt</a:t>
            </a:r>
            <a:r>
              <a:rPr lang="en-IN" sz="2400" dirty="0" smtClean="0"/>
              <a:t> and I=</a:t>
            </a:r>
            <a:r>
              <a:rPr lang="en-IN" sz="2400" dirty="0" err="1" smtClean="0"/>
              <a:t>dQ</a:t>
            </a:r>
            <a:r>
              <a:rPr lang="en-IN" sz="2400" dirty="0" smtClean="0"/>
              <a:t>/</a:t>
            </a:r>
            <a:r>
              <a:rPr lang="en-IN" sz="2400" dirty="0" err="1" smtClean="0"/>
              <a:t>dt</a:t>
            </a:r>
            <a:endParaRPr lang="en-IN" sz="2400" dirty="0" smtClean="0"/>
          </a:p>
          <a:p>
            <a:pPr>
              <a:buNone/>
            </a:pPr>
            <a:r>
              <a:rPr lang="en-IN" sz="2400" dirty="0" smtClean="0"/>
              <a:t>F=BIL</a:t>
            </a:r>
          </a:p>
          <a:p>
            <a:pPr>
              <a:buNone/>
            </a:pPr>
            <a:r>
              <a:rPr lang="en-US" sz="2400" u="sng" dirty="0" smtClean="0"/>
              <a:t>Magnetic force:</a:t>
            </a:r>
            <a:endParaRPr lang="en-IN" sz="2400" dirty="0" smtClean="0"/>
          </a:p>
          <a:p>
            <a:pPr lvl="0">
              <a:buNone/>
            </a:pPr>
            <a:r>
              <a:rPr lang="en-US" sz="2400" dirty="0" smtClean="0"/>
              <a:t>F = BQV Sin</a:t>
            </a:r>
            <a:r>
              <a:rPr lang="en-US" sz="2400" dirty="0" smtClean="0">
                <a:sym typeface="Symbol"/>
              </a:rPr>
              <a:t></a:t>
            </a:r>
            <a:r>
              <a:rPr lang="en-US" sz="2400" dirty="0" smtClean="0"/>
              <a:t> - </a:t>
            </a:r>
            <a:r>
              <a:rPr lang="en-US" sz="2400" dirty="0" err="1" smtClean="0"/>
              <a:t>interms</a:t>
            </a:r>
            <a:r>
              <a:rPr lang="en-US" sz="2400" dirty="0" smtClean="0"/>
              <a:t> of charge Q (Lorentz force)</a:t>
            </a:r>
            <a:endParaRPr lang="en-IN" sz="2400" dirty="0" smtClean="0"/>
          </a:p>
          <a:p>
            <a:pPr lvl="0">
              <a:buNone/>
            </a:pPr>
            <a:r>
              <a:rPr lang="en-US" sz="2400" dirty="0" smtClean="0"/>
              <a:t>F =BIL Sin</a:t>
            </a:r>
            <a:r>
              <a:rPr lang="en-US" sz="2400" dirty="0" smtClean="0">
                <a:sym typeface="Symbol"/>
              </a:rPr>
              <a:t></a:t>
            </a:r>
            <a:r>
              <a:rPr lang="en-US" sz="2400" dirty="0" smtClean="0"/>
              <a:t> - </a:t>
            </a:r>
            <a:r>
              <a:rPr lang="en-US" sz="2400" dirty="0" err="1" smtClean="0"/>
              <a:t>Interms</a:t>
            </a:r>
            <a:r>
              <a:rPr lang="en-US" sz="2400" dirty="0" smtClean="0"/>
              <a:t> of current I.</a:t>
            </a:r>
            <a:endParaRPr lang="en-IN" sz="2400" dirty="0" smtClean="0"/>
          </a:p>
          <a:p>
            <a:pPr>
              <a:buNone/>
            </a:pPr>
            <a:r>
              <a:rPr lang="en-US" sz="2400" dirty="0" smtClean="0"/>
              <a:t> </a:t>
            </a:r>
            <a:endParaRPr lang="en-IN" sz="2400" dirty="0" smtClean="0"/>
          </a:p>
          <a:p>
            <a:pPr>
              <a:buNone/>
            </a:pPr>
            <a:endParaRPr lang="en-IN" sz="2400"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a:xfrm flipV="1">
            <a:off x="1447800" y="4876800"/>
            <a:ext cx="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362200" y="4876800"/>
            <a:ext cx="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752600" y="5181600"/>
            <a:ext cx="228600" cy="369332"/>
          </a:xfrm>
          <a:prstGeom prst="rect">
            <a:avLst/>
          </a:prstGeom>
          <a:noFill/>
        </p:spPr>
        <p:txBody>
          <a:bodyPr wrap="square" rtlCol="0">
            <a:spAutoFit/>
          </a:bodyPr>
          <a:lstStyle/>
          <a:p>
            <a:r>
              <a:rPr lang="en-IN" dirty="0" smtClean="0"/>
              <a:t>d</a:t>
            </a:r>
            <a:endParaRPr lang="en-IN" dirty="0"/>
          </a:p>
        </p:txBody>
      </p:sp>
      <p:cxnSp>
        <p:nvCxnSpPr>
          <p:cNvPr id="13" name="Straight Arrow Connector 12"/>
          <p:cNvCxnSpPr>
            <a:stCxn id="11" idx="3"/>
          </p:cNvCxnSpPr>
          <p:nvPr/>
        </p:nvCxnSpPr>
        <p:spPr>
          <a:xfrm flipV="1">
            <a:off x="1981200" y="5334000"/>
            <a:ext cx="381000" cy="322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1447800" y="54102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85800" y="5638800"/>
            <a:ext cx="381000" cy="369332"/>
          </a:xfrm>
          <a:prstGeom prst="rect">
            <a:avLst/>
          </a:prstGeom>
          <a:noFill/>
        </p:spPr>
        <p:txBody>
          <a:bodyPr wrap="square" rtlCol="0">
            <a:spAutoFit/>
          </a:bodyPr>
          <a:lstStyle/>
          <a:p>
            <a:r>
              <a:rPr lang="en-IN" dirty="0" smtClean="0"/>
              <a:t>P</a:t>
            </a:r>
            <a:endParaRPr lang="en-IN" dirty="0"/>
          </a:p>
        </p:txBody>
      </p:sp>
      <p:sp>
        <p:nvSpPr>
          <p:cNvPr id="21" name="TextBox 20"/>
          <p:cNvSpPr txBox="1"/>
          <p:nvPr/>
        </p:nvSpPr>
        <p:spPr>
          <a:xfrm>
            <a:off x="2667000" y="5715000"/>
            <a:ext cx="381000" cy="369332"/>
          </a:xfrm>
          <a:prstGeom prst="rect">
            <a:avLst/>
          </a:prstGeom>
          <a:noFill/>
        </p:spPr>
        <p:txBody>
          <a:bodyPr wrap="square" rtlCol="0">
            <a:spAutoFit/>
          </a:bodyPr>
          <a:lstStyle/>
          <a:p>
            <a:r>
              <a:rPr lang="en-IN" dirty="0" smtClean="0"/>
              <a:t>Q</a:t>
            </a:r>
            <a:endParaRPr lang="en-IN" dirty="0"/>
          </a:p>
        </p:txBody>
      </p:sp>
      <p:pic>
        <p:nvPicPr>
          <p:cNvPr id="267268" name="Picture 4"/>
          <p:cNvPicPr>
            <a:picLocks noGrp="1" noChangeAspect="1" noChangeArrowheads="1"/>
          </p:cNvPicPr>
          <p:nvPr>
            <p:ph idx="1"/>
          </p:nvPr>
        </p:nvPicPr>
        <p:blipFill>
          <a:blip r:embed="rId2" cstate="print"/>
          <a:srcRect/>
          <a:stretch>
            <a:fillRect/>
          </a:stretch>
        </p:blipFill>
        <p:spPr bwMode="auto">
          <a:xfrm>
            <a:off x="381000" y="0"/>
            <a:ext cx="8077200" cy="4648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IN" sz="2400" dirty="0" smtClean="0"/>
              <a:t>Magnetic torque:</a:t>
            </a:r>
          </a:p>
          <a:p>
            <a:pPr>
              <a:buNone/>
            </a:pPr>
            <a:r>
              <a:rPr lang="en-IN" sz="2400" dirty="0" smtClean="0"/>
              <a:t>When the current loop is placed parallel to a magnetic field force act on the  loop and trend to rotate it. The product of  tangential force and the radial distance at which it acts is called the torque.</a:t>
            </a:r>
          </a:p>
          <a:p>
            <a:pPr>
              <a:buNone/>
            </a:pPr>
            <a:r>
              <a:rPr lang="en-IN" sz="2400" dirty="0" smtClean="0"/>
              <a:t>Consider the rectangular loop</a:t>
            </a:r>
          </a:p>
          <a:p>
            <a:pPr>
              <a:buNone/>
            </a:pPr>
            <a:r>
              <a:rPr lang="en-IN" sz="2400" dirty="0" smtClean="0"/>
              <a:t>Carrying current I.</a:t>
            </a:r>
          </a:p>
          <a:p>
            <a:pPr>
              <a:buNone/>
            </a:pPr>
            <a:r>
              <a:rPr lang="en-IN" sz="2400" dirty="0" smtClean="0"/>
              <a:t>       F</a:t>
            </a:r>
          </a:p>
          <a:p>
            <a:pPr>
              <a:buNone/>
            </a:pPr>
            <a:endParaRPr lang="en-IN" sz="2400" dirty="0" smtClean="0"/>
          </a:p>
          <a:p>
            <a:pPr>
              <a:buNone/>
            </a:pPr>
            <a:endParaRPr lang="en-IN" sz="2400" dirty="0" smtClean="0"/>
          </a:p>
          <a:p>
            <a:pPr>
              <a:buNone/>
            </a:pPr>
            <a:r>
              <a:rPr lang="en-IN" sz="2400" dirty="0" smtClean="0"/>
              <a:t>                            </a:t>
            </a:r>
            <a:r>
              <a:rPr lang="el-GR" sz="2400" dirty="0" smtClean="0"/>
              <a:t>θ</a:t>
            </a:r>
            <a:endParaRPr lang="en-IN" sz="2400" dirty="0" smtClean="0"/>
          </a:p>
          <a:p>
            <a:pPr>
              <a:buNone/>
            </a:pPr>
            <a:r>
              <a:rPr lang="en-IN" sz="2400" dirty="0" smtClean="0"/>
              <a:t>                    </a:t>
            </a:r>
          </a:p>
          <a:p>
            <a:pPr>
              <a:buNone/>
            </a:pPr>
            <a:r>
              <a:rPr lang="en-IN" sz="2400" dirty="0" smtClean="0"/>
              <a:t>                           F      </a:t>
            </a:r>
            <a:endParaRPr lang="en-IN" sz="2400" dirty="0"/>
          </a:p>
        </p:txBody>
      </p:sp>
      <p:cxnSp>
        <p:nvCxnSpPr>
          <p:cNvPr id="6" name="Straight Connector 5"/>
          <p:cNvCxnSpPr/>
          <p:nvPr/>
        </p:nvCxnSpPr>
        <p:spPr>
          <a:xfrm flipH="1">
            <a:off x="4114800" y="3124200"/>
            <a:ext cx="60960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24400" y="3124200"/>
            <a:ext cx="14478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5562600" y="3200400"/>
            <a:ext cx="609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038600" y="4419600"/>
            <a:ext cx="762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114800" y="4572000"/>
            <a:ext cx="1524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5410200" y="2895600"/>
            <a:ext cx="1524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5181600" y="3352800"/>
            <a:ext cx="1524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4953000" y="3962400"/>
            <a:ext cx="1524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4648200" y="4648200"/>
            <a:ext cx="1524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800600" y="2819400"/>
            <a:ext cx="1447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343400" y="3733800"/>
            <a:ext cx="1981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886200" y="4953000"/>
            <a:ext cx="1981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429000" y="3429000"/>
            <a:ext cx="381000" cy="369332"/>
          </a:xfrm>
          <a:prstGeom prst="rect">
            <a:avLst/>
          </a:prstGeom>
          <a:noFill/>
        </p:spPr>
        <p:txBody>
          <a:bodyPr wrap="square" rtlCol="0">
            <a:spAutoFit/>
          </a:bodyPr>
          <a:lstStyle/>
          <a:p>
            <a:r>
              <a:rPr lang="en-IN" dirty="0" smtClean="0"/>
              <a:t>l</a:t>
            </a:r>
            <a:endParaRPr lang="en-IN" dirty="0"/>
          </a:p>
        </p:txBody>
      </p:sp>
      <p:sp>
        <p:nvSpPr>
          <p:cNvPr id="39" name="TextBox 38"/>
          <p:cNvSpPr txBox="1"/>
          <p:nvPr/>
        </p:nvSpPr>
        <p:spPr>
          <a:xfrm>
            <a:off x="4876800" y="4953000"/>
            <a:ext cx="228600" cy="369332"/>
          </a:xfrm>
          <a:prstGeom prst="rect">
            <a:avLst/>
          </a:prstGeom>
          <a:noFill/>
        </p:spPr>
        <p:txBody>
          <a:bodyPr wrap="square" rtlCol="0">
            <a:spAutoFit/>
          </a:bodyPr>
          <a:lstStyle/>
          <a:p>
            <a:r>
              <a:rPr lang="en-IN" dirty="0" smtClean="0"/>
              <a:t>b</a:t>
            </a:r>
            <a:endParaRPr lang="en-IN" dirty="0"/>
          </a:p>
        </p:txBody>
      </p:sp>
      <p:cxnSp>
        <p:nvCxnSpPr>
          <p:cNvPr id="41" name="Straight Arrow Connector 40"/>
          <p:cNvCxnSpPr/>
          <p:nvPr/>
        </p:nvCxnSpPr>
        <p:spPr>
          <a:xfrm flipV="1">
            <a:off x="4419600" y="3505200"/>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5943600" y="3581400"/>
            <a:ext cx="76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219200" y="3886200"/>
            <a:ext cx="1371600" cy="137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914400" y="4648200"/>
            <a:ext cx="22098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590800" y="5257800"/>
            <a:ext cx="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1219200" y="34290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981200" y="4038600"/>
            <a:ext cx="1143000" cy="646331"/>
          </a:xfrm>
          <a:prstGeom prst="rect">
            <a:avLst/>
          </a:prstGeom>
          <a:noFill/>
        </p:spPr>
        <p:txBody>
          <a:bodyPr wrap="square" rtlCol="0">
            <a:spAutoFit/>
          </a:bodyPr>
          <a:lstStyle/>
          <a:p>
            <a:r>
              <a:rPr lang="en-IN" dirty="0" smtClean="0"/>
              <a:t>Axis of rotation</a:t>
            </a:r>
            <a:endParaRPr lang="en-IN" dirty="0"/>
          </a:p>
        </p:txBody>
      </p:sp>
      <p:sp>
        <p:nvSpPr>
          <p:cNvPr id="56" name="Freeform 55"/>
          <p:cNvSpPr/>
          <p:nvPr/>
        </p:nvSpPr>
        <p:spPr>
          <a:xfrm>
            <a:off x="2171700" y="4686300"/>
            <a:ext cx="127000" cy="196850"/>
          </a:xfrm>
          <a:custGeom>
            <a:avLst/>
            <a:gdLst>
              <a:gd name="connsiteX0" fmla="*/ 127000 w 127000"/>
              <a:gd name="connsiteY0" fmla="*/ 0 h 196850"/>
              <a:gd name="connsiteX1" fmla="*/ 63500 w 127000"/>
              <a:gd name="connsiteY1" fmla="*/ 177800 h 196850"/>
              <a:gd name="connsiteX2" fmla="*/ 0 w 127000"/>
              <a:gd name="connsiteY2" fmla="*/ 114300 h 196850"/>
              <a:gd name="connsiteX3" fmla="*/ 63500 w 127000"/>
              <a:gd name="connsiteY3" fmla="*/ 190500 h 196850"/>
            </a:gdLst>
            <a:ahLst/>
            <a:cxnLst>
              <a:cxn ang="0">
                <a:pos x="connsiteX0" y="connsiteY0"/>
              </a:cxn>
              <a:cxn ang="0">
                <a:pos x="connsiteX1" y="connsiteY1"/>
              </a:cxn>
              <a:cxn ang="0">
                <a:pos x="connsiteX2" y="connsiteY2"/>
              </a:cxn>
              <a:cxn ang="0">
                <a:pos x="connsiteX3" y="connsiteY3"/>
              </a:cxn>
            </a:cxnLst>
            <a:rect l="l" t="t" r="r" b="b"/>
            <a:pathLst>
              <a:path w="127000" h="196850">
                <a:moveTo>
                  <a:pt x="127000" y="0"/>
                </a:moveTo>
                <a:cubicBezTo>
                  <a:pt x="105833" y="79375"/>
                  <a:pt x="84666" y="158750"/>
                  <a:pt x="63500" y="177800"/>
                </a:cubicBezTo>
                <a:cubicBezTo>
                  <a:pt x="42334" y="196850"/>
                  <a:pt x="0" y="112183"/>
                  <a:pt x="0" y="114300"/>
                </a:cubicBezTo>
                <a:cubicBezTo>
                  <a:pt x="0" y="116417"/>
                  <a:pt x="31750" y="153458"/>
                  <a:pt x="63500" y="19050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290" name="Picture 2"/>
          <p:cNvPicPr>
            <a:picLocks noGrp="1" noChangeAspect="1" noChangeArrowheads="1"/>
          </p:cNvPicPr>
          <p:nvPr>
            <p:ph idx="1"/>
          </p:nvPr>
        </p:nvPicPr>
        <p:blipFill>
          <a:blip r:embed="rId2" cstate="print"/>
          <a:srcRect/>
          <a:stretch>
            <a:fillRect/>
          </a:stretch>
        </p:blipFill>
        <p:spPr bwMode="auto">
          <a:xfrm>
            <a:off x="685800" y="457200"/>
            <a:ext cx="7924800"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28600" y="284163"/>
            <a:ext cx="7280275" cy="1190625"/>
          </a:xfrm>
          <a:prstGeom prst="rect">
            <a:avLst/>
          </a:prstGeom>
          <a:noFill/>
          <a:ln w="9525">
            <a:noFill/>
            <a:miter lim="800000"/>
            <a:headEnd/>
            <a:tailEnd/>
          </a:ln>
        </p:spPr>
        <p:txBody>
          <a:bodyPr wrap="none">
            <a:spAutoFit/>
          </a:bodyPr>
          <a:lstStyle/>
          <a:p>
            <a:r>
              <a:rPr lang="en-US" sz="1600" dirty="0">
                <a:latin typeface="Times New Roman" pitchFamily="18" charset="0"/>
              </a:rPr>
              <a:t>                              </a:t>
            </a:r>
            <a:r>
              <a:rPr lang="en-US" sz="2400" dirty="0">
                <a:latin typeface="Times New Roman" pitchFamily="18" charset="0"/>
              </a:rPr>
              <a:t>FIVE ELECTROMAGNETIC PRINCIPLES</a:t>
            </a:r>
            <a:r>
              <a:rPr lang="en-US" sz="1600" dirty="0">
                <a:latin typeface="Times New Roman" pitchFamily="18" charset="0"/>
              </a:rPr>
              <a:t> </a:t>
            </a:r>
          </a:p>
          <a:p>
            <a:endParaRPr lang="en-US" sz="1600" dirty="0">
              <a:latin typeface="Times New Roman" pitchFamily="18" charset="0"/>
            </a:endParaRPr>
          </a:p>
          <a:p>
            <a:endParaRPr lang="en-US" sz="1600" dirty="0">
              <a:latin typeface="Times New Roman" pitchFamily="18" charset="0"/>
            </a:endParaRPr>
          </a:p>
          <a:p>
            <a:endParaRPr lang="en-US" sz="1600" dirty="0">
              <a:latin typeface="Times New Roman" pitchFamily="18" charset="0"/>
            </a:endParaRPr>
          </a:p>
        </p:txBody>
      </p:sp>
      <p:sp>
        <p:nvSpPr>
          <p:cNvPr id="6147" name="Text Box 3"/>
          <p:cNvSpPr txBox="1">
            <a:spLocks noChangeArrowheads="1"/>
          </p:cNvSpPr>
          <p:nvPr/>
        </p:nvSpPr>
        <p:spPr bwMode="auto">
          <a:xfrm>
            <a:off x="152400" y="1447800"/>
            <a:ext cx="9140825" cy="3724275"/>
          </a:xfrm>
          <a:prstGeom prst="rect">
            <a:avLst/>
          </a:prstGeom>
          <a:noFill/>
          <a:ln w="9525">
            <a:noFill/>
            <a:miter lim="800000"/>
            <a:headEnd/>
            <a:tailEnd/>
          </a:ln>
        </p:spPr>
        <p:txBody>
          <a:bodyPr wrap="none">
            <a:spAutoFit/>
          </a:bodyPr>
          <a:lstStyle/>
          <a:p>
            <a:pPr marL="457200" indent="-457200">
              <a:defRPr/>
            </a:pPr>
            <a:endParaRPr lang="en-US" sz="1200" dirty="0">
              <a:latin typeface="Times New Roman" pitchFamily="18" charset="0"/>
            </a:endParaRPr>
          </a:p>
          <a:p>
            <a:pPr marL="457200" indent="-457200">
              <a:defRPr/>
            </a:pPr>
            <a:r>
              <a:rPr lang="en-US" sz="1600" dirty="0">
                <a:latin typeface="Times New Roman" pitchFamily="18" charset="0"/>
              </a:rPr>
              <a:t>1.An electromotive force (EMF) will produce a </a:t>
            </a:r>
            <a:r>
              <a:rPr lang="en-US" sz="1600" b="1" dirty="0">
                <a:latin typeface="Times New Roman" pitchFamily="18" charset="0"/>
              </a:rPr>
              <a:t>current that is proportional to the conductivity of the</a:t>
            </a:r>
          </a:p>
          <a:p>
            <a:pPr marL="457200" indent="-457200">
              <a:defRPr/>
            </a:pPr>
            <a:r>
              <a:rPr lang="en-US" sz="1600" b="1" dirty="0">
                <a:latin typeface="Times New Roman" pitchFamily="18" charset="0"/>
              </a:rPr>
              <a:t> path</a:t>
            </a:r>
            <a:r>
              <a:rPr lang="en-US" sz="1600" dirty="0">
                <a:latin typeface="Times New Roman" pitchFamily="18" charset="0"/>
              </a:rPr>
              <a:t>. This is commonly known as </a:t>
            </a:r>
            <a:r>
              <a:rPr lang="en-US" sz="1600" i="1" u="sng" dirty="0">
                <a:effectLst>
                  <a:outerShdw blurRad="38100" dist="38100" dir="2700000" algn="tl">
                    <a:srgbClr val="000000">
                      <a:alpha val="43137"/>
                    </a:srgbClr>
                  </a:outerShdw>
                </a:effectLst>
                <a:latin typeface="Times New Roman" pitchFamily="18" charset="0"/>
              </a:rPr>
              <a:t>Ohm’s law</a:t>
            </a:r>
            <a:r>
              <a:rPr lang="en-US" sz="1600" dirty="0">
                <a:latin typeface="Times New Roman" pitchFamily="18" charset="0"/>
              </a:rPr>
              <a:t>. </a:t>
            </a:r>
          </a:p>
          <a:p>
            <a:pPr marL="457200" indent="-457200">
              <a:defRPr/>
            </a:pPr>
            <a:endParaRPr lang="en-US" sz="1600" dirty="0">
              <a:latin typeface="Times New Roman" pitchFamily="18" charset="0"/>
            </a:endParaRPr>
          </a:p>
          <a:p>
            <a:pPr marL="457200" indent="-457200">
              <a:defRPr/>
            </a:pPr>
            <a:r>
              <a:rPr lang="en-US" sz="1600" dirty="0">
                <a:latin typeface="Times New Roman" pitchFamily="18" charset="0"/>
              </a:rPr>
              <a:t>2. An electric current constitutes a magnetomotive force </a:t>
            </a:r>
            <a:r>
              <a:rPr lang="en-US" sz="1600" b="1" dirty="0">
                <a:latin typeface="Times New Roman" pitchFamily="18" charset="0"/>
              </a:rPr>
              <a:t>(MMF) that produces magnetic flux </a:t>
            </a:r>
          </a:p>
          <a:p>
            <a:pPr marL="457200" indent="-457200">
              <a:defRPr/>
            </a:pPr>
            <a:r>
              <a:rPr lang="en-US" sz="1600" b="1" dirty="0">
                <a:latin typeface="Times New Roman" pitchFamily="18" charset="0"/>
              </a:rPr>
              <a:t>proportional to the permeability of the path</a:t>
            </a:r>
            <a:r>
              <a:rPr lang="en-US" sz="1600" dirty="0">
                <a:latin typeface="Times New Roman" pitchFamily="18" charset="0"/>
              </a:rPr>
              <a:t>. This is often referred to as </a:t>
            </a:r>
            <a:r>
              <a:rPr lang="en-US" sz="1600" i="1" u="sng" dirty="0">
                <a:effectLst>
                  <a:outerShdw blurRad="38100" dist="38100" dir="2700000" algn="tl">
                    <a:srgbClr val="000000">
                      <a:alpha val="43137"/>
                    </a:srgbClr>
                  </a:outerShdw>
                </a:effectLst>
                <a:latin typeface="Times New Roman" pitchFamily="18" charset="0"/>
              </a:rPr>
              <a:t>Ohm’s law for magnetic circuits</a:t>
            </a:r>
            <a:r>
              <a:rPr lang="en-US" sz="1600" i="1" u="sng" dirty="0">
                <a:latin typeface="Times New Roman" pitchFamily="18" charset="0"/>
              </a:rPr>
              <a:t>. </a:t>
            </a:r>
          </a:p>
          <a:p>
            <a:pPr marL="457200" indent="-457200">
              <a:defRPr/>
            </a:pPr>
            <a:endParaRPr lang="en-US" sz="1600" dirty="0">
              <a:latin typeface="Times New Roman" pitchFamily="18" charset="0"/>
            </a:endParaRPr>
          </a:p>
          <a:p>
            <a:pPr marL="457200" indent="-457200">
              <a:defRPr/>
            </a:pPr>
            <a:r>
              <a:rPr lang="en-US" sz="1600" dirty="0">
                <a:latin typeface="Times New Roman" pitchFamily="18" charset="0"/>
              </a:rPr>
              <a:t>3. </a:t>
            </a:r>
            <a:r>
              <a:rPr lang="en-US" sz="1600" b="1" dirty="0">
                <a:latin typeface="Times New Roman" pitchFamily="18" charset="0"/>
              </a:rPr>
              <a:t>A magnetic field will exert a force on a current-carrying conductor</a:t>
            </a:r>
            <a:r>
              <a:rPr lang="en-US" sz="1600" dirty="0">
                <a:latin typeface="Times New Roman" pitchFamily="18" charset="0"/>
              </a:rPr>
              <a:t>. This is the basis for </a:t>
            </a:r>
            <a:r>
              <a:rPr lang="en-US" sz="1600" i="1" u="sng" dirty="0">
                <a:effectLst>
                  <a:outerShdw blurRad="38100" dist="38100" dir="2700000" algn="tl">
                    <a:srgbClr val="000000">
                      <a:alpha val="43137"/>
                    </a:srgbClr>
                  </a:outerShdw>
                </a:effectLst>
                <a:latin typeface="Times New Roman" pitchFamily="18" charset="0"/>
              </a:rPr>
              <a:t>motor action</a:t>
            </a:r>
            <a:r>
              <a:rPr lang="en-US" sz="1600" dirty="0">
                <a:latin typeface="Times New Roman" pitchFamily="18" charset="0"/>
              </a:rPr>
              <a:t>. </a:t>
            </a:r>
          </a:p>
          <a:p>
            <a:pPr marL="457200" indent="-457200">
              <a:defRPr/>
            </a:pPr>
            <a:endParaRPr lang="en-US" sz="1600" dirty="0">
              <a:latin typeface="Times New Roman" pitchFamily="18" charset="0"/>
            </a:endParaRPr>
          </a:p>
          <a:p>
            <a:pPr marL="457200" indent="-457200">
              <a:defRPr/>
            </a:pPr>
            <a:r>
              <a:rPr lang="en-US" sz="1600" dirty="0">
                <a:latin typeface="Times New Roman" pitchFamily="18" charset="0"/>
              </a:rPr>
              <a:t>4. </a:t>
            </a:r>
            <a:r>
              <a:rPr lang="en-US" sz="1600" b="1" dirty="0">
                <a:latin typeface="Times New Roman" pitchFamily="18" charset="0"/>
              </a:rPr>
              <a:t>A conductor moving through a magnetic field will have an EMF induced in it</a:t>
            </a:r>
            <a:r>
              <a:rPr lang="en-US" sz="1600" dirty="0">
                <a:latin typeface="Times New Roman" pitchFamily="18" charset="0"/>
              </a:rPr>
              <a:t>. </a:t>
            </a:r>
          </a:p>
          <a:p>
            <a:pPr marL="457200" indent="-457200">
              <a:defRPr/>
            </a:pPr>
            <a:r>
              <a:rPr lang="en-US" sz="1600" dirty="0">
                <a:latin typeface="Times New Roman" pitchFamily="18" charset="0"/>
              </a:rPr>
              <a:t>Similarly, if a magnetic flux passing through a coil changes with time, an EMF will be induced in the coil. </a:t>
            </a:r>
          </a:p>
          <a:p>
            <a:pPr marL="457200" indent="-457200">
              <a:defRPr/>
            </a:pPr>
            <a:r>
              <a:rPr lang="en-US" sz="1600" dirty="0">
                <a:latin typeface="Times New Roman" pitchFamily="18" charset="0"/>
              </a:rPr>
              <a:t>This is Faraday’s law, which is the basis for </a:t>
            </a:r>
            <a:r>
              <a:rPr lang="en-US" sz="1600" i="1" u="sng" dirty="0">
                <a:effectLst>
                  <a:outerShdw blurRad="38100" dist="38100" dir="2700000" algn="tl">
                    <a:srgbClr val="000000">
                      <a:alpha val="43137"/>
                    </a:srgbClr>
                  </a:outerShdw>
                </a:effectLst>
                <a:latin typeface="Times New Roman" pitchFamily="18" charset="0"/>
              </a:rPr>
              <a:t>generator action</a:t>
            </a:r>
            <a:r>
              <a:rPr lang="en-US" sz="1600" dirty="0">
                <a:latin typeface="Times New Roman" pitchFamily="18" charset="0"/>
              </a:rPr>
              <a:t>.</a:t>
            </a:r>
          </a:p>
          <a:p>
            <a:pPr marL="457200" indent="-457200">
              <a:defRPr/>
            </a:pPr>
            <a:endParaRPr lang="en-US" sz="1600" dirty="0">
              <a:latin typeface="Times New Roman" pitchFamily="18" charset="0"/>
            </a:endParaRPr>
          </a:p>
          <a:p>
            <a:pPr marL="457200" indent="-457200">
              <a:defRPr/>
            </a:pPr>
            <a:r>
              <a:rPr lang="en-US" sz="1600" dirty="0">
                <a:latin typeface="Times New Roman" pitchFamily="18" charset="0"/>
              </a:rPr>
              <a:t>5. </a:t>
            </a:r>
            <a:r>
              <a:rPr lang="en-US" sz="1600" b="1" dirty="0">
                <a:latin typeface="Times New Roman" pitchFamily="18" charset="0"/>
              </a:rPr>
              <a:t>The polarity of the EMF induced in a coil will cause a current that will oppose any change in the </a:t>
            </a:r>
          </a:p>
          <a:p>
            <a:pPr marL="457200" indent="-457200">
              <a:defRPr/>
            </a:pPr>
            <a:r>
              <a:rPr lang="en-US" sz="1600" b="1" dirty="0">
                <a:latin typeface="Times New Roman" pitchFamily="18" charset="0"/>
              </a:rPr>
              <a:t>magnetic flux</a:t>
            </a:r>
            <a:r>
              <a:rPr lang="en-US" sz="1600" dirty="0">
                <a:latin typeface="Times New Roman" pitchFamily="18" charset="0"/>
              </a:rPr>
              <a:t>. This is known as </a:t>
            </a:r>
            <a:r>
              <a:rPr lang="en-US" sz="1600" i="1" u="sng" dirty="0">
                <a:effectLst>
                  <a:outerShdw blurRad="38100" dist="38100" dir="2700000" algn="tl">
                    <a:srgbClr val="000000">
                      <a:alpha val="43137"/>
                    </a:srgbClr>
                  </a:outerShdw>
                </a:effectLst>
                <a:latin typeface="Times New Roman" pitchFamily="18" charset="0"/>
              </a:rPr>
              <a:t>Lenz’s law</a:t>
            </a:r>
            <a:r>
              <a:rPr lang="en-US" sz="1600" dirty="0">
                <a:latin typeface="Times New Roman" pitchFamily="18" charset="0"/>
              </a:rPr>
              <a:t>.   </a:t>
            </a:r>
          </a:p>
        </p:txBody>
      </p:sp>
      <p:sp>
        <p:nvSpPr>
          <p:cNvPr id="6148" name="Slide Number Placeholder 3"/>
          <p:cNvSpPr>
            <a:spLocks noGrp="1"/>
          </p:cNvSpPr>
          <p:nvPr>
            <p:ph type="sldNum" sz="quarter" idx="12"/>
          </p:nvPr>
        </p:nvSpPr>
        <p:spPr>
          <a:noFill/>
        </p:spPr>
        <p:txBody>
          <a:bodyPr/>
          <a:lstStyle/>
          <a:p>
            <a:fld id="{A3F557E9-E2FF-4CD3-BE2E-E9B81A420598}" type="slidenum">
              <a:rPr lang="en-US" smtClean="0"/>
              <a:pPr/>
              <a:t>134</a:t>
            </a:fld>
            <a:endParaRPr lang="en-US" smtClean="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600200" y="304800"/>
            <a:ext cx="6083300" cy="519113"/>
          </a:xfrm>
          <a:prstGeom prst="rect">
            <a:avLst/>
          </a:prstGeom>
          <a:noFill/>
          <a:ln w="9525">
            <a:noFill/>
            <a:miter lim="800000"/>
            <a:headEnd/>
            <a:tailEnd/>
          </a:ln>
        </p:spPr>
        <p:txBody>
          <a:bodyPr wrap="none">
            <a:spAutoFit/>
          </a:bodyPr>
          <a:lstStyle/>
          <a:p>
            <a:r>
              <a:rPr lang="en-US" sz="2800"/>
              <a:t>Motor Action (Electromagnetic Force)</a:t>
            </a:r>
          </a:p>
        </p:txBody>
      </p:sp>
      <p:pic>
        <p:nvPicPr>
          <p:cNvPr id="7171" name="Picture 3"/>
          <p:cNvPicPr>
            <a:picLocks noChangeAspect="1" noChangeArrowheads="1"/>
          </p:cNvPicPr>
          <p:nvPr/>
        </p:nvPicPr>
        <p:blipFill>
          <a:blip r:embed="rId3" cstate="print"/>
          <a:srcRect/>
          <a:stretch>
            <a:fillRect/>
          </a:stretch>
        </p:blipFill>
        <p:spPr bwMode="auto">
          <a:xfrm>
            <a:off x="381000" y="990600"/>
            <a:ext cx="2779713" cy="5181600"/>
          </a:xfrm>
          <a:prstGeom prst="rect">
            <a:avLst/>
          </a:prstGeom>
          <a:noFill/>
          <a:ln w="9525">
            <a:noFill/>
            <a:miter lim="800000"/>
            <a:headEnd/>
            <a:tailEnd/>
          </a:ln>
        </p:spPr>
      </p:pic>
      <p:sp>
        <p:nvSpPr>
          <p:cNvPr id="7172" name="Text Box 4"/>
          <p:cNvSpPr txBox="1">
            <a:spLocks noChangeArrowheads="1"/>
          </p:cNvSpPr>
          <p:nvPr/>
        </p:nvSpPr>
        <p:spPr bwMode="auto">
          <a:xfrm>
            <a:off x="3352800" y="1219200"/>
            <a:ext cx="5654675" cy="4832350"/>
          </a:xfrm>
          <a:prstGeom prst="rect">
            <a:avLst/>
          </a:prstGeom>
          <a:noFill/>
          <a:ln w="9525">
            <a:noFill/>
            <a:miter lim="800000"/>
            <a:headEnd/>
            <a:tailEnd/>
          </a:ln>
        </p:spPr>
        <p:txBody>
          <a:bodyPr wrap="none">
            <a:spAutoFit/>
          </a:bodyPr>
          <a:lstStyle/>
          <a:p>
            <a:r>
              <a:rPr lang="en-US" sz="1400"/>
              <a:t>Two magnets can be used to create a force.</a:t>
            </a:r>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r>
              <a:rPr lang="en-US" sz="1400"/>
              <a:t>A coil can be used to create an electromagnet that has magnetic flux </a:t>
            </a:r>
          </a:p>
          <a:p>
            <a:r>
              <a:rPr lang="en-US" sz="1400"/>
              <a:t>just like a permanent magnet.</a:t>
            </a:r>
          </a:p>
          <a:p>
            <a:endParaRPr lang="en-US" sz="1400"/>
          </a:p>
        </p:txBody>
      </p:sp>
      <p:sp>
        <p:nvSpPr>
          <p:cNvPr id="7173" name="Slide Number Placeholder 4"/>
          <p:cNvSpPr>
            <a:spLocks noGrp="1"/>
          </p:cNvSpPr>
          <p:nvPr>
            <p:ph type="sldNum" sz="quarter" idx="12"/>
          </p:nvPr>
        </p:nvSpPr>
        <p:spPr>
          <a:noFill/>
        </p:spPr>
        <p:txBody>
          <a:bodyPr/>
          <a:lstStyle/>
          <a:p>
            <a:fld id="{5C7C1008-781F-4166-A8ED-1A4147797E2F}" type="slidenum">
              <a:rPr lang="en-US" smtClean="0"/>
              <a:pPr/>
              <a:t>135</a:t>
            </a:fld>
            <a:endParaRPr lang="en-US" smtClean="0"/>
          </a:p>
        </p:txBody>
      </p:sp>
      <p:pic>
        <p:nvPicPr>
          <p:cNvPr id="7174" name="Picture 6"/>
          <p:cNvPicPr>
            <a:picLocks noChangeAspect="1" noChangeArrowheads="1"/>
          </p:cNvPicPr>
          <p:nvPr/>
        </p:nvPicPr>
        <p:blipFill>
          <a:blip r:embed="rId4" cstate="print"/>
          <a:srcRect/>
          <a:stretch>
            <a:fillRect/>
          </a:stretch>
        </p:blipFill>
        <p:spPr bwMode="auto">
          <a:xfrm>
            <a:off x="3886200" y="1600200"/>
            <a:ext cx="3532188" cy="1600200"/>
          </a:xfrm>
          <a:prstGeom prst="rect">
            <a:avLst/>
          </a:prstGeom>
          <a:noFill/>
          <a:ln w="9525">
            <a:noFill/>
            <a:miter lim="800000"/>
            <a:headEnd/>
            <a:tailEnd/>
          </a:ln>
        </p:spPr>
      </p:pic>
      <p:pic>
        <p:nvPicPr>
          <p:cNvPr id="7175" name="Picture 7"/>
          <p:cNvPicPr>
            <a:picLocks noChangeAspect="1" noChangeArrowheads="1"/>
          </p:cNvPicPr>
          <p:nvPr/>
        </p:nvPicPr>
        <p:blipFill>
          <a:blip r:embed="rId5" cstate="print"/>
          <a:srcRect/>
          <a:stretch>
            <a:fillRect/>
          </a:stretch>
        </p:blipFill>
        <p:spPr bwMode="auto">
          <a:xfrm>
            <a:off x="3886200" y="3429000"/>
            <a:ext cx="3527425"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cstate="print"/>
          <a:srcRect/>
          <a:stretch>
            <a:fillRect/>
          </a:stretch>
        </p:blipFill>
        <p:spPr bwMode="auto">
          <a:xfrm>
            <a:off x="533400" y="381000"/>
            <a:ext cx="4876800" cy="3235325"/>
          </a:xfrm>
          <a:prstGeom prst="rect">
            <a:avLst/>
          </a:prstGeom>
          <a:noFill/>
          <a:ln w="9525">
            <a:noFill/>
            <a:miter lim="800000"/>
            <a:headEnd/>
            <a:tailEnd/>
          </a:ln>
        </p:spPr>
      </p:pic>
      <p:sp>
        <p:nvSpPr>
          <p:cNvPr id="8195" name="Rectangle 3"/>
          <p:cNvSpPr>
            <a:spLocks noChangeArrowheads="1"/>
          </p:cNvSpPr>
          <p:nvPr/>
        </p:nvSpPr>
        <p:spPr bwMode="auto">
          <a:xfrm>
            <a:off x="762000" y="4038600"/>
            <a:ext cx="7467600" cy="2647950"/>
          </a:xfrm>
          <a:prstGeom prst="rect">
            <a:avLst/>
          </a:prstGeom>
          <a:noFill/>
          <a:ln w="9525">
            <a:noFill/>
            <a:miter lim="800000"/>
            <a:headEnd/>
            <a:tailEnd/>
          </a:ln>
        </p:spPr>
        <p:txBody>
          <a:bodyPr>
            <a:spAutoFit/>
          </a:bodyPr>
          <a:lstStyle/>
          <a:p>
            <a:r>
              <a:rPr lang="en-US" sz="1200"/>
              <a:t>Because current is flowing in the coils, they produce magnetic flux in the directions shown, which can be </a:t>
            </a:r>
          </a:p>
          <a:p>
            <a:r>
              <a:rPr lang="en-US" sz="1200"/>
              <a:t>determined by the right-hand rule.</a:t>
            </a:r>
          </a:p>
          <a:p>
            <a:endParaRPr lang="en-US" sz="1200"/>
          </a:p>
          <a:p>
            <a:r>
              <a:rPr lang="en-US" sz="1200"/>
              <a:t>There will thus be a force that will try to push the two coils apart. Since the force is created by the magnetic field of an electric coil, the force is called the electromagnetic force.</a:t>
            </a:r>
          </a:p>
          <a:p>
            <a:endParaRPr lang="en-US" sz="1200"/>
          </a:p>
          <a:p>
            <a:r>
              <a:rPr lang="en-US" sz="1200"/>
              <a:t>Figure shows two views of parallel conductors that are carrying currents in opposite directions, and magnetic fluxes produced by these currents. </a:t>
            </a:r>
          </a:p>
          <a:p>
            <a:endParaRPr lang="en-US" sz="1200"/>
          </a:p>
          <a:p>
            <a:r>
              <a:rPr lang="en-US" sz="1200"/>
              <a:t>The current in a conductor and the magnetic field around the conductor are related by the right-hand rule. </a:t>
            </a:r>
          </a:p>
          <a:p>
            <a:r>
              <a:rPr lang="en-US" sz="1200"/>
              <a:t>The currents are in opposite directions, so are the fluxes.</a:t>
            </a:r>
          </a:p>
          <a:p>
            <a:endParaRPr lang="en-US" sz="1200"/>
          </a:p>
          <a:p>
            <a:r>
              <a:rPr lang="en-US" sz="1200"/>
              <a:t>The conductor on the left side has magnetic flux surrounding it in the clockwise direction, while the right conductor has flux surrounding it in the counterclockwise direction.</a:t>
            </a:r>
          </a:p>
        </p:txBody>
      </p:sp>
      <p:pic>
        <p:nvPicPr>
          <p:cNvPr id="8196" name="Picture 4"/>
          <p:cNvPicPr>
            <a:picLocks noChangeAspect="1" noChangeArrowheads="1"/>
          </p:cNvPicPr>
          <p:nvPr/>
        </p:nvPicPr>
        <p:blipFill>
          <a:blip r:embed="rId4" cstate="print"/>
          <a:srcRect/>
          <a:stretch>
            <a:fillRect/>
          </a:stretch>
        </p:blipFill>
        <p:spPr bwMode="auto">
          <a:xfrm>
            <a:off x="5638800" y="1066800"/>
            <a:ext cx="3352800" cy="1801813"/>
          </a:xfrm>
          <a:prstGeom prst="rect">
            <a:avLst/>
          </a:prstGeom>
          <a:noFill/>
          <a:ln w="9525">
            <a:noFill/>
            <a:miter lim="800000"/>
            <a:headEnd/>
            <a:tailEnd/>
          </a:ln>
        </p:spPr>
      </p:pic>
      <p:sp>
        <p:nvSpPr>
          <p:cNvPr id="8197" name="Slide Number Placeholder 4"/>
          <p:cNvSpPr>
            <a:spLocks noGrp="1"/>
          </p:cNvSpPr>
          <p:nvPr>
            <p:ph type="sldNum" sz="quarter" idx="12"/>
          </p:nvPr>
        </p:nvSpPr>
        <p:spPr>
          <a:noFill/>
        </p:spPr>
        <p:txBody>
          <a:bodyPr/>
          <a:lstStyle/>
          <a:p>
            <a:fld id="{FD3BF7FC-90D2-4748-BBF3-6F0F139F6414}" type="slidenum">
              <a:rPr lang="en-US" smtClean="0"/>
              <a:pPr/>
              <a:t>136</a:t>
            </a:fld>
            <a:endParaRPr lang="en-US" smtClean="0"/>
          </a:p>
        </p:txBody>
      </p:sp>
      <p:sp>
        <p:nvSpPr>
          <p:cNvPr id="8198" name="TextBox 5"/>
          <p:cNvSpPr txBox="1">
            <a:spLocks noChangeArrowheads="1"/>
          </p:cNvSpPr>
          <p:nvPr/>
        </p:nvSpPr>
        <p:spPr bwMode="auto">
          <a:xfrm>
            <a:off x="8228013" y="6627813"/>
            <a:ext cx="915987" cy="230187"/>
          </a:xfrm>
          <a:prstGeom prst="rect">
            <a:avLst/>
          </a:prstGeom>
          <a:noFill/>
          <a:ln w="9525">
            <a:noFill/>
            <a:miter lim="800000"/>
            <a:headEnd/>
            <a:tailEnd/>
          </a:ln>
        </p:spPr>
        <p:txBody>
          <a:bodyPr wrap="none">
            <a:spAutoFit/>
          </a:bodyPr>
          <a:lstStyle/>
          <a:p>
            <a:r>
              <a:rPr lang="en-US" sz="900"/>
              <a:t>demonstration</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2895600" y="152400"/>
            <a:ext cx="3217863" cy="3581400"/>
          </a:xfrm>
          <a:prstGeom prst="rect">
            <a:avLst/>
          </a:prstGeom>
          <a:noFill/>
          <a:ln w="9525">
            <a:noFill/>
            <a:miter lim="800000"/>
            <a:headEnd/>
            <a:tailEnd/>
          </a:ln>
        </p:spPr>
      </p:pic>
      <p:sp>
        <p:nvSpPr>
          <p:cNvPr id="9219" name="Text Box 3"/>
          <p:cNvSpPr txBox="1">
            <a:spLocks noChangeArrowheads="1"/>
          </p:cNvSpPr>
          <p:nvPr/>
        </p:nvSpPr>
        <p:spPr bwMode="auto">
          <a:xfrm>
            <a:off x="533400" y="4038600"/>
            <a:ext cx="8153400" cy="2647950"/>
          </a:xfrm>
          <a:prstGeom prst="rect">
            <a:avLst/>
          </a:prstGeom>
          <a:noFill/>
          <a:ln w="9525">
            <a:noFill/>
            <a:miter lim="800000"/>
            <a:headEnd/>
            <a:tailEnd/>
          </a:ln>
        </p:spPr>
        <p:txBody>
          <a:bodyPr>
            <a:spAutoFit/>
          </a:bodyPr>
          <a:lstStyle/>
          <a:p>
            <a:r>
              <a:rPr lang="en-US" sz="1200"/>
              <a:t>From electromagnetic field theory: the flux (or flux density), the current, and the force are mutually perpendicular, just like the XYZ axes of the Cartesian coordinate system. </a:t>
            </a:r>
          </a:p>
          <a:p>
            <a:endParaRPr lang="en-US" sz="1200"/>
          </a:p>
          <a:p>
            <a:r>
              <a:rPr lang="en-US" sz="1200"/>
              <a:t>They can be related by a left-hand rule: the index finger shows the direction of magnetic flux, and the middle finger (when pointing perpendicular to the index finger) shows the direction of the current. </a:t>
            </a:r>
          </a:p>
          <a:p>
            <a:endParaRPr lang="en-US" sz="1200"/>
          </a:p>
          <a:p>
            <a:r>
              <a:rPr lang="en-US" sz="1200"/>
              <a:t>The outwardly extending thumb, then, points in the direction of the electromagnetic force. </a:t>
            </a:r>
          </a:p>
          <a:p>
            <a:endParaRPr lang="en-US" sz="1200"/>
          </a:p>
          <a:p>
            <a:r>
              <a:rPr lang="en-US" sz="1200"/>
              <a:t>When the flux and current are perpendicular the force magnitude is given by</a:t>
            </a:r>
          </a:p>
          <a:p>
            <a:endParaRPr lang="en-US" sz="1200"/>
          </a:p>
          <a:p>
            <a:endParaRPr lang="en-US" sz="1200"/>
          </a:p>
          <a:p>
            <a:endParaRPr lang="en-US" sz="1200"/>
          </a:p>
          <a:p>
            <a:endParaRPr lang="en-US" sz="1200"/>
          </a:p>
          <a:p>
            <a:r>
              <a:rPr lang="en-US" sz="1200"/>
              <a:t>where B is the flux density, I  is the current, and F is the induced force. </a:t>
            </a:r>
          </a:p>
        </p:txBody>
      </p:sp>
      <p:sp>
        <p:nvSpPr>
          <p:cNvPr id="9220" name="Text Box 5"/>
          <p:cNvSpPr txBox="1">
            <a:spLocks noChangeArrowheads="1"/>
          </p:cNvSpPr>
          <p:nvPr/>
        </p:nvSpPr>
        <p:spPr bwMode="auto">
          <a:xfrm>
            <a:off x="212725" y="188913"/>
            <a:ext cx="1733550" cy="366712"/>
          </a:xfrm>
          <a:prstGeom prst="rect">
            <a:avLst/>
          </a:prstGeom>
          <a:noFill/>
          <a:ln w="9525">
            <a:noFill/>
            <a:miter lim="800000"/>
            <a:headEnd/>
            <a:tailEnd/>
          </a:ln>
        </p:spPr>
        <p:txBody>
          <a:bodyPr wrap="none">
            <a:spAutoFit/>
          </a:bodyPr>
          <a:lstStyle/>
          <a:p>
            <a:r>
              <a:rPr lang="en-US" b="1"/>
              <a:t>Left-Hand rule</a:t>
            </a:r>
          </a:p>
        </p:txBody>
      </p:sp>
      <p:pic>
        <p:nvPicPr>
          <p:cNvPr id="9221" name="Picture 6"/>
          <p:cNvPicPr>
            <a:picLocks noChangeAspect="1" noChangeArrowheads="1"/>
          </p:cNvPicPr>
          <p:nvPr/>
        </p:nvPicPr>
        <p:blipFill>
          <a:blip r:embed="rId4" cstate="print"/>
          <a:srcRect/>
          <a:stretch>
            <a:fillRect/>
          </a:stretch>
        </p:blipFill>
        <p:spPr bwMode="auto">
          <a:xfrm>
            <a:off x="4953000" y="5867400"/>
            <a:ext cx="930275" cy="338138"/>
          </a:xfrm>
          <a:prstGeom prst="rect">
            <a:avLst/>
          </a:prstGeom>
          <a:noFill/>
          <a:ln w="9525">
            <a:noFill/>
            <a:miter lim="800000"/>
            <a:headEnd/>
            <a:tailEnd/>
          </a:ln>
        </p:spPr>
      </p:pic>
      <p:sp>
        <p:nvSpPr>
          <p:cNvPr id="9222" name="Slide Number Placeholder 5"/>
          <p:cNvSpPr>
            <a:spLocks noGrp="1"/>
          </p:cNvSpPr>
          <p:nvPr>
            <p:ph type="sldNum" sz="quarter" idx="12"/>
          </p:nvPr>
        </p:nvSpPr>
        <p:spPr>
          <a:noFill/>
        </p:spPr>
        <p:txBody>
          <a:bodyPr/>
          <a:lstStyle/>
          <a:p>
            <a:fld id="{80AB3878-6571-4D7E-95A1-7A9BF35C3DED}" type="slidenum">
              <a:rPr lang="en-US" smtClean="0"/>
              <a:pPr/>
              <a:t>137</a:t>
            </a:fld>
            <a:endParaRPr lang="en-US" smtClean="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cstate="print"/>
          <a:srcRect/>
          <a:stretch>
            <a:fillRect/>
          </a:stretch>
        </p:blipFill>
        <p:spPr bwMode="auto">
          <a:xfrm>
            <a:off x="2057400" y="228600"/>
            <a:ext cx="4953000" cy="2898775"/>
          </a:xfrm>
          <a:prstGeom prst="rect">
            <a:avLst/>
          </a:prstGeom>
          <a:noFill/>
          <a:ln w="9525">
            <a:noFill/>
            <a:miter lim="800000"/>
            <a:headEnd/>
            <a:tailEnd/>
          </a:ln>
        </p:spPr>
      </p:pic>
      <p:sp>
        <p:nvSpPr>
          <p:cNvPr id="10243" name="Text Box 3"/>
          <p:cNvSpPr txBox="1">
            <a:spLocks noChangeArrowheads="1"/>
          </p:cNvSpPr>
          <p:nvPr/>
        </p:nvSpPr>
        <p:spPr bwMode="auto">
          <a:xfrm>
            <a:off x="228600" y="3505200"/>
            <a:ext cx="8966200" cy="2465388"/>
          </a:xfrm>
          <a:prstGeom prst="rect">
            <a:avLst/>
          </a:prstGeom>
          <a:noFill/>
          <a:ln w="9525">
            <a:noFill/>
            <a:miter lim="800000"/>
            <a:headEnd/>
            <a:tailEnd/>
          </a:ln>
        </p:spPr>
        <p:txBody>
          <a:bodyPr wrap="none">
            <a:spAutoFit/>
          </a:bodyPr>
          <a:lstStyle/>
          <a:p>
            <a:r>
              <a:rPr lang="en-US" sz="1200"/>
              <a:t>If the flux and current intersect at an angle greater than zero but less than 90° , there will still be a force, but it will be diminished. </a:t>
            </a:r>
          </a:p>
          <a:p>
            <a:endParaRPr lang="en-US" sz="1200"/>
          </a:p>
          <a:p>
            <a:r>
              <a:rPr lang="en-US" sz="1200"/>
              <a:t>In particular, the force will be determined by the components of flux and current that are mutually perpendicular. </a:t>
            </a:r>
          </a:p>
          <a:p>
            <a:endParaRPr lang="en-US" sz="1200"/>
          </a:p>
          <a:p>
            <a:r>
              <a:rPr lang="en-US" sz="1200"/>
              <a:t>Figure shows a conductor of length I that is carrying current in the presence of an external magnetic field. </a:t>
            </a:r>
          </a:p>
          <a:p>
            <a:r>
              <a:rPr lang="en-US" sz="1200"/>
              <a:t>In this case, the current is not perpendicular to the flux. The angle between them is alpha, so the angle beta is equal to 90° - alpha.</a:t>
            </a:r>
          </a:p>
          <a:p>
            <a:endParaRPr lang="en-US" sz="1200"/>
          </a:p>
          <a:p>
            <a:r>
              <a:rPr lang="en-US" sz="1200"/>
              <a:t>The angle beta is referred to as the skew angle. </a:t>
            </a:r>
          </a:p>
          <a:p>
            <a:endParaRPr lang="en-US" sz="1200"/>
          </a:p>
          <a:p>
            <a:r>
              <a:rPr lang="en-US" sz="1200"/>
              <a:t>We could split the current into two components, one that is perpendicular to the flux and one that is in the same direction as the </a:t>
            </a:r>
          </a:p>
          <a:p>
            <a:r>
              <a:rPr lang="en-US" sz="1200"/>
              <a:t>flux. The component of the current that is perpendicular to the flux is I sin(alpha) or l cos(beta). </a:t>
            </a:r>
          </a:p>
          <a:p>
            <a:endParaRPr lang="en-US" sz="1200"/>
          </a:p>
          <a:p>
            <a:r>
              <a:rPr lang="en-US" sz="1200"/>
              <a:t>Thus, the force on the conductor is: </a:t>
            </a:r>
          </a:p>
        </p:txBody>
      </p:sp>
      <p:pic>
        <p:nvPicPr>
          <p:cNvPr id="10244" name="Picture 4"/>
          <p:cNvPicPr>
            <a:picLocks noChangeAspect="1" noChangeArrowheads="1"/>
          </p:cNvPicPr>
          <p:nvPr/>
        </p:nvPicPr>
        <p:blipFill>
          <a:blip r:embed="rId4" cstate="print"/>
          <a:srcRect/>
          <a:stretch>
            <a:fillRect/>
          </a:stretch>
        </p:blipFill>
        <p:spPr bwMode="auto">
          <a:xfrm>
            <a:off x="3124200" y="5943600"/>
            <a:ext cx="2170113" cy="457200"/>
          </a:xfrm>
          <a:prstGeom prst="rect">
            <a:avLst/>
          </a:prstGeom>
          <a:noFill/>
          <a:ln w="9525">
            <a:noFill/>
            <a:miter lim="800000"/>
            <a:headEnd/>
            <a:tailEnd/>
          </a:ln>
        </p:spPr>
      </p:pic>
      <p:sp>
        <p:nvSpPr>
          <p:cNvPr id="10245" name="Slide Number Placeholder 4"/>
          <p:cNvSpPr>
            <a:spLocks noGrp="1"/>
          </p:cNvSpPr>
          <p:nvPr>
            <p:ph type="sldNum" sz="quarter" idx="12"/>
          </p:nvPr>
        </p:nvSpPr>
        <p:spPr>
          <a:noFill/>
        </p:spPr>
        <p:txBody>
          <a:bodyPr/>
          <a:lstStyle/>
          <a:p>
            <a:fld id="{0920C38A-9E15-4A0B-845D-C866CA94EF4E}" type="slidenum">
              <a:rPr lang="en-US" smtClean="0"/>
              <a:pPr/>
              <a:t>138</a:t>
            </a:fld>
            <a:endParaRPr lang="en-US" smtClean="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cstate="print"/>
          <a:srcRect/>
          <a:stretch>
            <a:fillRect/>
          </a:stretch>
        </p:blipFill>
        <p:spPr bwMode="auto">
          <a:xfrm>
            <a:off x="76200" y="1066800"/>
            <a:ext cx="4103688" cy="2703513"/>
          </a:xfrm>
          <a:prstGeom prst="rect">
            <a:avLst/>
          </a:prstGeom>
          <a:noFill/>
          <a:ln w="9525">
            <a:noFill/>
            <a:miter lim="800000"/>
            <a:headEnd/>
            <a:tailEnd/>
          </a:ln>
        </p:spPr>
      </p:pic>
      <p:sp>
        <p:nvSpPr>
          <p:cNvPr id="11267" name="Text Box 3"/>
          <p:cNvSpPr txBox="1">
            <a:spLocks noChangeArrowheads="1"/>
          </p:cNvSpPr>
          <p:nvPr/>
        </p:nvSpPr>
        <p:spPr bwMode="auto">
          <a:xfrm>
            <a:off x="304800" y="3886200"/>
            <a:ext cx="8534400" cy="2557463"/>
          </a:xfrm>
          <a:prstGeom prst="rect">
            <a:avLst/>
          </a:prstGeom>
          <a:noFill/>
          <a:ln w="9525">
            <a:noFill/>
            <a:miter lim="800000"/>
            <a:headEnd/>
            <a:tailEnd/>
          </a:ln>
        </p:spPr>
        <p:txBody>
          <a:bodyPr>
            <a:spAutoFit/>
          </a:bodyPr>
          <a:lstStyle/>
          <a:p>
            <a:endParaRPr lang="en-US"/>
          </a:p>
          <a:p>
            <a:r>
              <a:rPr lang="en-US" sz="1200"/>
              <a:t>A conductor (called the armature) is free to move along a set of rails. </a:t>
            </a:r>
          </a:p>
          <a:p>
            <a:endParaRPr lang="en-US" sz="1200"/>
          </a:p>
          <a:p>
            <a:r>
              <a:rPr lang="en-US" sz="1200"/>
              <a:t>Current is applied so as to flow down the left rail across the armature, and back on the right rail. </a:t>
            </a:r>
          </a:p>
          <a:p>
            <a:endParaRPr lang="en-US" sz="1200"/>
          </a:p>
          <a:p>
            <a:r>
              <a:rPr lang="en-US" sz="1200"/>
              <a:t>Due to the flown current, a magnetic field is established in the loop bounded by the source, the rails, and the armature. </a:t>
            </a:r>
          </a:p>
          <a:p>
            <a:endParaRPr lang="en-US" sz="1200"/>
          </a:p>
          <a:p>
            <a:r>
              <a:rPr lang="en-US" sz="1200"/>
              <a:t>The current in both rails and the armature causes magnetic flux between the rail in the same direction.</a:t>
            </a:r>
          </a:p>
          <a:p>
            <a:endParaRPr lang="en-US" sz="1200"/>
          </a:p>
          <a:p>
            <a:r>
              <a:rPr lang="en-US" sz="1200"/>
              <a:t>There is no rail current beyond the armature, so the flux density is lower on the far side of the armature and there is a force on the armature that propels it down the rails. </a:t>
            </a:r>
          </a:p>
          <a:p>
            <a:endParaRPr lang="en-US" sz="1200"/>
          </a:p>
          <a:p>
            <a:r>
              <a:rPr lang="en-US" sz="1200"/>
              <a:t>The magnetic flux and the current are perpendicular.   </a:t>
            </a:r>
          </a:p>
        </p:txBody>
      </p:sp>
      <p:sp>
        <p:nvSpPr>
          <p:cNvPr id="11268" name="Rectangle 4"/>
          <p:cNvSpPr>
            <a:spLocks noChangeArrowheads="1"/>
          </p:cNvSpPr>
          <p:nvPr/>
        </p:nvSpPr>
        <p:spPr bwMode="auto">
          <a:xfrm>
            <a:off x="152400" y="152400"/>
            <a:ext cx="2520950" cy="366713"/>
          </a:xfrm>
          <a:prstGeom prst="rect">
            <a:avLst/>
          </a:prstGeom>
          <a:noFill/>
          <a:ln w="9525">
            <a:noFill/>
            <a:miter lim="800000"/>
            <a:headEnd/>
            <a:tailEnd/>
          </a:ln>
        </p:spPr>
        <p:txBody>
          <a:bodyPr wrap="none">
            <a:spAutoFit/>
          </a:bodyPr>
          <a:lstStyle/>
          <a:p>
            <a:r>
              <a:rPr lang="en-US" b="1" i="1" u="sng"/>
              <a:t>A simple linear motor</a:t>
            </a:r>
          </a:p>
        </p:txBody>
      </p:sp>
      <p:sp>
        <p:nvSpPr>
          <p:cNvPr id="11269" name="Slide Number Placeholder 4"/>
          <p:cNvSpPr>
            <a:spLocks noGrp="1"/>
          </p:cNvSpPr>
          <p:nvPr>
            <p:ph type="sldNum" sz="quarter" idx="12"/>
          </p:nvPr>
        </p:nvSpPr>
        <p:spPr>
          <a:noFill/>
        </p:spPr>
        <p:txBody>
          <a:bodyPr/>
          <a:lstStyle/>
          <a:p>
            <a:fld id="{23577374-6869-4C25-9852-E8E607021BD3}" type="slidenum">
              <a:rPr lang="en-US" smtClean="0"/>
              <a:pPr/>
              <a:t>139</a:t>
            </a:fld>
            <a:endParaRPr lang="en-US" smtClean="0"/>
          </a:p>
        </p:txBody>
      </p:sp>
      <p:pic>
        <p:nvPicPr>
          <p:cNvPr id="11270" name="Picture 6"/>
          <p:cNvPicPr>
            <a:picLocks noChangeAspect="1" noChangeArrowheads="1"/>
          </p:cNvPicPr>
          <p:nvPr/>
        </p:nvPicPr>
        <p:blipFill>
          <a:blip r:embed="rId4" cstate="print"/>
          <a:srcRect/>
          <a:stretch>
            <a:fillRect/>
          </a:stretch>
        </p:blipFill>
        <p:spPr bwMode="auto">
          <a:xfrm>
            <a:off x="4298950" y="1676400"/>
            <a:ext cx="4845050" cy="129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4"/>
          <p:cNvSpPr txBox="1">
            <a:spLocks noChangeArrowheads="1"/>
          </p:cNvSpPr>
          <p:nvPr/>
        </p:nvSpPr>
        <p:spPr bwMode="auto">
          <a:xfrm>
            <a:off x="228600" y="152400"/>
            <a:ext cx="2203450" cy="366713"/>
          </a:xfrm>
          <a:prstGeom prst="rect">
            <a:avLst/>
          </a:prstGeom>
          <a:noFill/>
          <a:ln w="9525">
            <a:noFill/>
            <a:miter lim="800000"/>
            <a:headEnd/>
            <a:tailEnd/>
          </a:ln>
        </p:spPr>
        <p:txBody>
          <a:bodyPr wrap="none">
            <a:spAutoFit/>
          </a:bodyPr>
          <a:lstStyle/>
          <a:p>
            <a:r>
              <a:rPr lang="en-US" b="1" i="1" u="sng"/>
              <a:t>A linear generator </a:t>
            </a:r>
          </a:p>
        </p:txBody>
      </p:sp>
      <p:pic>
        <p:nvPicPr>
          <p:cNvPr id="12291" name="Picture 5"/>
          <p:cNvPicPr>
            <a:picLocks noChangeAspect="1" noChangeArrowheads="1"/>
          </p:cNvPicPr>
          <p:nvPr/>
        </p:nvPicPr>
        <p:blipFill>
          <a:blip r:embed="rId3" cstate="print"/>
          <a:srcRect/>
          <a:stretch>
            <a:fillRect/>
          </a:stretch>
        </p:blipFill>
        <p:spPr bwMode="auto">
          <a:xfrm>
            <a:off x="762000" y="609600"/>
            <a:ext cx="3581400" cy="2473325"/>
          </a:xfrm>
          <a:prstGeom prst="rect">
            <a:avLst/>
          </a:prstGeom>
          <a:noFill/>
          <a:ln w="9525">
            <a:noFill/>
            <a:miter lim="800000"/>
            <a:headEnd/>
            <a:tailEnd/>
          </a:ln>
        </p:spPr>
      </p:pic>
      <p:sp>
        <p:nvSpPr>
          <p:cNvPr id="12292" name="Text Box 6"/>
          <p:cNvSpPr txBox="1">
            <a:spLocks noChangeArrowheads="1"/>
          </p:cNvSpPr>
          <p:nvPr/>
        </p:nvSpPr>
        <p:spPr bwMode="auto">
          <a:xfrm>
            <a:off x="5207000" y="838200"/>
            <a:ext cx="3973513" cy="3324225"/>
          </a:xfrm>
          <a:prstGeom prst="rect">
            <a:avLst/>
          </a:prstGeom>
          <a:noFill/>
          <a:ln w="9525">
            <a:noFill/>
            <a:miter lim="800000"/>
            <a:headEnd/>
            <a:tailEnd/>
          </a:ln>
        </p:spPr>
        <p:txBody>
          <a:bodyPr wrap="none">
            <a:spAutoFit/>
          </a:bodyPr>
          <a:lstStyle/>
          <a:p>
            <a:r>
              <a:rPr lang="en-US" sz="1400"/>
              <a:t>Voltage is generated in the coils by either </a:t>
            </a:r>
          </a:p>
          <a:p>
            <a:r>
              <a:rPr lang="en-US" sz="1400"/>
              <a:t>rotating the coils through a magnetic field or </a:t>
            </a:r>
          </a:p>
          <a:p>
            <a:r>
              <a:rPr lang="en-US" sz="1400"/>
              <a:t>by rotating magnetic poles past stationary </a:t>
            </a:r>
          </a:p>
          <a:p>
            <a:r>
              <a:rPr lang="en-US" sz="1400"/>
              <a:t>windings.</a:t>
            </a:r>
          </a:p>
          <a:p>
            <a:endParaRPr lang="en-US" sz="1400"/>
          </a:p>
          <a:p>
            <a:r>
              <a:rPr lang="en-US" sz="1400"/>
              <a:t>A linear generator has two conducting rails </a:t>
            </a:r>
          </a:p>
          <a:p>
            <a:r>
              <a:rPr lang="en-US" sz="1400"/>
              <a:t>and a movable, conducting cross piece, </a:t>
            </a:r>
          </a:p>
          <a:p>
            <a:r>
              <a:rPr lang="en-US" sz="1400"/>
              <a:t>the armature. </a:t>
            </a:r>
          </a:p>
          <a:p>
            <a:endParaRPr lang="en-US" sz="1400"/>
          </a:p>
          <a:p>
            <a:r>
              <a:rPr lang="en-US" sz="1400"/>
              <a:t>If a conductor cuts magnetic flux then a voltage </a:t>
            </a:r>
          </a:p>
          <a:p>
            <a:r>
              <a:rPr lang="en-US" sz="1400"/>
              <a:t>is induced in it.</a:t>
            </a:r>
          </a:p>
          <a:p>
            <a:endParaRPr lang="en-US" sz="1400"/>
          </a:p>
          <a:p>
            <a:r>
              <a:rPr lang="en-US" sz="1400"/>
              <a:t>The generator is operated by physically pulling </a:t>
            </a:r>
          </a:p>
          <a:p>
            <a:r>
              <a:rPr lang="en-US" sz="1400"/>
              <a:t>the armature down the rails at some velocity, v. </a:t>
            </a:r>
          </a:p>
          <a:p>
            <a:endParaRPr lang="en-US" sz="1400"/>
          </a:p>
        </p:txBody>
      </p:sp>
      <p:sp>
        <p:nvSpPr>
          <p:cNvPr id="12293" name="Text Box 7"/>
          <p:cNvSpPr txBox="1">
            <a:spLocks noChangeArrowheads="1"/>
          </p:cNvSpPr>
          <p:nvPr/>
        </p:nvSpPr>
        <p:spPr bwMode="auto">
          <a:xfrm>
            <a:off x="304800" y="4419600"/>
            <a:ext cx="8010525" cy="2246313"/>
          </a:xfrm>
          <a:prstGeom prst="rect">
            <a:avLst/>
          </a:prstGeom>
          <a:noFill/>
          <a:ln w="9525">
            <a:noFill/>
            <a:miter lim="800000"/>
            <a:headEnd/>
            <a:tailEnd/>
          </a:ln>
        </p:spPr>
        <p:txBody>
          <a:bodyPr wrap="none">
            <a:spAutoFit/>
          </a:bodyPr>
          <a:lstStyle/>
          <a:p>
            <a:r>
              <a:rPr lang="en-US" sz="1400"/>
              <a:t>X is the distance of the armature from the left end, then the area of the window created by the rails </a:t>
            </a:r>
          </a:p>
          <a:p>
            <a:r>
              <a:rPr lang="en-US" sz="1400"/>
              <a:t>and the armature is  </a:t>
            </a:r>
          </a:p>
          <a:p>
            <a:endParaRPr lang="en-US" sz="1400"/>
          </a:p>
          <a:p>
            <a:endParaRPr lang="en-US" sz="1400"/>
          </a:p>
          <a:p>
            <a:r>
              <a:rPr lang="en-US" sz="1400"/>
              <a:t>Flux passing through the window is: </a:t>
            </a:r>
          </a:p>
          <a:p>
            <a:endParaRPr lang="en-US" sz="1400"/>
          </a:p>
          <a:p>
            <a:endParaRPr lang="en-US" sz="1400"/>
          </a:p>
          <a:p>
            <a:r>
              <a:rPr lang="en-US" sz="1400"/>
              <a:t>The voltage generated as a function of the changing</a:t>
            </a:r>
          </a:p>
          <a:p>
            <a:r>
              <a:rPr lang="en-US" sz="1400"/>
              <a:t>in time flux:  </a:t>
            </a:r>
          </a:p>
          <a:p>
            <a:endParaRPr lang="en-US" sz="1400"/>
          </a:p>
        </p:txBody>
      </p:sp>
      <p:pic>
        <p:nvPicPr>
          <p:cNvPr id="12294" name="Picture 8"/>
          <p:cNvPicPr>
            <a:picLocks noChangeAspect="1" noChangeArrowheads="1"/>
          </p:cNvPicPr>
          <p:nvPr/>
        </p:nvPicPr>
        <p:blipFill>
          <a:blip r:embed="rId4" cstate="print"/>
          <a:srcRect/>
          <a:stretch>
            <a:fillRect/>
          </a:stretch>
        </p:blipFill>
        <p:spPr bwMode="auto">
          <a:xfrm>
            <a:off x="2362200" y="4724400"/>
            <a:ext cx="762000" cy="395288"/>
          </a:xfrm>
          <a:prstGeom prst="rect">
            <a:avLst/>
          </a:prstGeom>
          <a:noFill/>
          <a:ln w="9525">
            <a:noFill/>
            <a:miter lim="800000"/>
            <a:headEnd/>
            <a:tailEnd/>
          </a:ln>
        </p:spPr>
      </p:pic>
      <p:pic>
        <p:nvPicPr>
          <p:cNvPr id="12295" name="Picture 9"/>
          <p:cNvPicPr>
            <a:picLocks noChangeAspect="1" noChangeArrowheads="1"/>
          </p:cNvPicPr>
          <p:nvPr/>
        </p:nvPicPr>
        <p:blipFill>
          <a:blip r:embed="rId5" cstate="print"/>
          <a:srcRect/>
          <a:stretch>
            <a:fillRect/>
          </a:stretch>
        </p:blipFill>
        <p:spPr bwMode="auto">
          <a:xfrm>
            <a:off x="3581400" y="5181600"/>
            <a:ext cx="990600" cy="498475"/>
          </a:xfrm>
          <a:prstGeom prst="rect">
            <a:avLst/>
          </a:prstGeom>
          <a:noFill/>
          <a:ln w="9525">
            <a:noFill/>
            <a:miter lim="800000"/>
            <a:headEnd/>
            <a:tailEnd/>
          </a:ln>
        </p:spPr>
      </p:pic>
      <p:pic>
        <p:nvPicPr>
          <p:cNvPr id="12296" name="Picture 10"/>
          <p:cNvPicPr>
            <a:picLocks noChangeAspect="1" noChangeArrowheads="1"/>
          </p:cNvPicPr>
          <p:nvPr/>
        </p:nvPicPr>
        <p:blipFill>
          <a:blip r:embed="rId6" cstate="print"/>
          <a:srcRect/>
          <a:stretch>
            <a:fillRect/>
          </a:stretch>
        </p:blipFill>
        <p:spPr bwMode="auto">
          <a:xfrm>
            <a:off x="2590800" y="6172200"/>
            <a:ext cx="973138" cy="555625"/>
          </a:xfrm>
          <a:prstGeom prst="rect">
            <a:avLst/>
          </a:prstGeom>
          <a:noFill/>
          <a:ln w="9525">
            <a:noFill/>
            <a:miter lim="800000"/>
            <a:headEnd/>
            <a:tailEnd/>
          </a:ln>
        </p:spPr>
      </p:pic>
      <p:pic>
        <p:nvPicPr>
          <p:cNvPr id="12297" name="Picture 11"/>
          <p:cNvPicPr>
            <a:picLocks noChangeAspect="1" noChangeArrowheads="1"/>
          </p:cNvPicPr>
          <p:nvPr/>
        </p:nvPicPr>
        <p:blipFill>
          <a:blip r:embed="rId7" cstate="print"/>
          <a:srcRect/>
          <a:stretch>
            <a:fillRect/>
          </a:stretch>
        </p:blipFill>
        <p:spPr bwMode="auto">
          <a:xfrm>
            <a:off x="4724400" y="6172200"/>
            <a:ext cx="2084388" cy="468313"/>
          </a:xfrm>
          <a:prstGeom prst="rect">
            <a:avLst/>
          </a:prstGeom>
          <a:noFill/>
          <a:ln w="9525">
            <a:noFill/>
            <a:miter lim="800000"/>
            <a:headEnd/>
            <a:tailEnd/>
          </a:ln>
        </p:spPr>
      </p:pic>
      <p:sp>
        <p:nvSpPr>
          <p:cNvPr id="12298" name="Slide Number Placeholder 9"/>
          <p:cNvSpPr>
            <a:spLocks noGrp="1"/>
          </p:cNvSpPr>
          <p:nvPr>
            <p:ph type="sldNum" sz="quarter" idx="12"/>
          </p:nvPr>
        </p:nvSpPr>
        <p:spPr>
          <a:noFill/>
        </p:spPr>
        <p:txBody>
          <a:bodyPr/>
          <a:lstStyle/>
          <a:p>
            <a:fld id="{069DE009-F63C-4535-B61B-ACE28EDEB07A}" type="slidenum">
              <a:rPr lang="en-US" smtClean="0"/>
              <a:pPr/>
              <a:t>140</a:t>
            </a:fld>
            <a:endParaRPr lang="en-US" smtClean="0"/>
          </a:p>
        </p:txBody>
      </p:sp>
      <p:pic>
        <p:nvPicPr>
          <p:cNvPr id="12299" name="Picture 7"/>
          <p:cNvPicPr>
            <a:picLocks noChangeAspect="1" noChangeArrowheads="1"/>
          </p:cNvPicPr>
          <p:nvPr/>
        </p:nvPicPr>
        <p:blipFill>
          <a:blip r:embed="rId8" cstate="print"/>
          <a:srcRect/>
          <a:stretch>
            <a:fillRect/>
          </a:stretch>
        </p:blipFill>
        <p:spPr bwMode="auto">
          <a:xfrm>
            <a:off x="228600" y="3124200"/>
            <a:ext cx="4875213" cy="12271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p:cNvPicPr>
            <a:picLocks noChangeAspect="1" noChangeArrowheads="1"/>
          </p:cNvPicPr>
          <p:nvPr/>
        </p:nvPicPr>
        <p:blipFill>
          <a:blip r:embed="rId3" cstate="print"/>
          <a:srcRect/>
          <a:stretch>
            <a:fillRect/>
          </a:stretch>
        </p:blipFill>
        <p:spPr bwMode="auto">
          <a:xfrm>
            <a:off x="304800" y="152400"/>
            <a:ext cx="4267200" cy="3300413"/>
          </a:xfrm>
          <a:prstGeom prst="rect">
            <a:avLst/>
          </a:prstGeom>
          <a:noFill/>
          <a:ln w="9525">
            <a:noFill/>
            <a:miter lim="800000"/>
            <a:headEnd/>
            <a:tailEnd/>
          </a:ln>
        </p:spPr>
      </p:pic>
      <p:sp>
        <p:nvSpPr>
          <p:cNvPr id="13315" name="Text Box 7"/>
          <p:cNvSpPr txBox="1">
            <a:spLocks noChangeArrowheads="1"/>
          </p:cNvSpPr>
          <p:nvPr/>
        </p:nvSpPr>
        <p:spPr bwMode="auto">
          <a:xfrm>
            <a:off x="4992688" y="685800"/>
            <a:ext cx="2909887" cy="1169988"/>
          </a:xfrm>
          <a:prstGeom prst="rect">
            <a:avLst/>
          </a:prstGeom>
          <a:noFill/>
          <a:ln w="9525">
            <a:noFill/>
            <a:miter lim="800000"/>
            <a:headEnd/>
            <a:tailEnd/>
          </a:ln>
        </p:spPr>
        <p:txBody>
          <a:bodyPr wrap="none">
            <a:spAutoFit/>
          </a:bodyPr>
          <a:lstStyle/>
          <a:p>
            <a:r>
              <a:rPr lang="en-US" sz="1400"/>
              <a:t>In this case there is only one turn: </a:t>
            </a:r>
          </a:p>
          <a:p>
            <a:endParaRPr lang="en-US" sz="1400"/>
          </a:p>
          <a:p>
            <a:endParaRPr lang="en-US" sz="1400"/>
          </a:p>
          <a:p>
            <a:endParaRPr lang="en-US" sz="1400"/>
          </a:p>
          <a:p>
            <a:endParaRPr lang="en-US" sz="1400"/>
          </a:p>
        </p:txBody>
      </p:sp>
      <p:pic>
        <p:nvPicPr>
          <p:cNvPr id="13316" name="Picture 8"/>
          <p:cNvPicPr>
            <a:picLocks noChangeAspect="1" noChangeArrowheads="1"/>
          </p:cNvPicPr>
          <p:nvPr/>
        </p:nvPicPr>
        <p:blipFill>
          <a:blip r:embed="rId4" cstate="print"/>
          <a:srcRect/>
          <a:stretch>
            <a:fillRect/>
          </a:stretch>
        </p:blipFill>
        <p:spPr bwMode="auto">
          <a:xfrm>
            <a:off x="6019800" y="1371600"/>
            <a:ext cx="990600" cy="344488"/>
          </a:xfrm>
          <a:prstGeom prst="rect">
            <a:avLst/>
          </a:prstGeom>
          <a:noFill/>
          <a:ln w="9525">
            <a:noFill/>
            <a:miter lim="800000"/>
            <a:headEnd/>
            <a:tailEnd/>
          </a:ln>
        </p:spPr>
      </p:pic>
      <p:sp>
        <p:nvSpPr>
          <p:cNvPr id="13317" name="Text Box 9"/>
          <p:cNvSpPr txBox="1">
            <a:spLocks noChangeArrowheads="1"/>
          </p:cNvSpPr>
          <p:nvPr/>
        </p:nvSpPr>
        <p:spPr bwMode="auto">
          <a:xfrm>
            <a:off x="284163" y="3733800"/>
            <a:ext cx="8404225" cy="2462213"/>
          </a:xfrm>
          <a:prstGeom prst="rect">
            <a:avLst/>
          </a:prstGeom>
          <a:noFill/>
          <a:ln w="9525">
            <a:noFill/>
            <a:miter lim="800000"/>
            <a:headEnd/>
            <a:tailEnd/>
          </a:ln>
        </p:spPr>
        <p:txBody>
          <a:bodyPr wrap="none">
            <a:spAutoFit/>
          </a:bodyPr>
          <a:lstStyle/>
          <a:p>
            <a:r>
              <a:rPr lang="en-US" sz="1400"/>
              <a:t>We can use the right-hand generator rule to determine the direction of induced EMF in a conductor.</a:t>
            </a:r>
          </a:p>
          <a:p>
            <a:endParaRPr lang="en-US" sz="1400"/>
          </a:p>
          <a:p>
            <a:r>
              <a:rPr lang="en-US" sz="1400"/>
              <a:t>The voltage, the flux, and the velocity are mutually perpendicular. </a:t>
            </a:r>
          </a:p>
          <a:p>
            <a:endParaRPr lang="en-US" sz="1400"/>
          </a:p>
          <a:p>
            <a:r>
              <a:rPr lang="en-US" sz="1400"/>
              <a:t>The right-hand rule: the thumb indicates the direction of velocity, the index finger </a:t>
            </a:r>
          </a:p>
          <a:p>
            <a:r>
              <a:rPr lang="en-US" sz="1400"/>
              <a:t>indicates the direction of magnetic flux, and the middle finger the direction of the induced EMF. </a:t>
            </a:r>
          </a:p>
          <a:p>
            <a:endParaRPr lang="en-US" sz="1400"/>
          </a:p>
          <a:p>
            <a:r>
              <a:rPr lang="en-US" sz="1400"/>
              <a:t>As in the case of the linear motor, the velocity might not be perpendicular to the flux. </a:t>
            </a:r>
          </a:p>
          <a:p>
            <a:endParaRPr lang="en-US" sz="1400"/>
          </a:p>
          <a:p>
            <a:r>
              <a:rPr lang="en-US" sz="1400"/>
              <a:t>If alpha is the angle between the velocity and the flux, then we take the component of velocity that is </a:t>
            </a:r>
          </a:p>
          <a:p>
            <a:r>
              <a:rPr lang="en-US" sz="1400"/>
              <a:t>perpendicular to the flux to find the voltage:  </a:t>
            </a:r>
          </a:p>
        </p:txBody>
      </p:sp>
      <p:pic>
        <p:nvPicPr>
          <p:cNvPr id="13318" name="Picture 10"/>
          <p:cNvPicPr>
            <a:picLocks noChangeAspect="1" noChangeArrowheads="1"/>
          </p:cNvPicPr>
          <p:nvPr/>
        </p:nvPicPr>
        <p:blipFill>
          <a:blip r:embed="rId5" cstate="print"/>
          <a:srcRect/>
          <a:stretch>
            <a:fillRect/>
          </a:stretch>
        </p:blipFill>
        <p:spPr bwMode="auto">
          <a:xfrm>
            <a:off x="4114800" y="6096000"/>
            <a:ext cx="1447800" cy="322263"/>
          </a:xfrm>
          <a:prstGeom prst="rect">
            <a:avLst/>
          </a:prstGeom>
          <a:noFill/>
          <a:ln w="9525">
            <a:noFill/>
            <a:miter lim="800000"/>
            <a:headEnd/>
            <a:tailEnd/>
          </a:ln>
        </p:spPr>
      </p:pic>
      <p:sp>
        <p:nvSpPr>
          <p:cNvPr id="13319" name="Slide Number Placeholder 6"/>
          <p:cNvSpPr>
            <a:spLocks noGrp="1"/>
          </p:cNvSpPr>
          <p:nvPr>
            <p:ph type="sldNum" sz="quarter" idx="12"/>
          </p:nvPr>
        </p:nvSpPr>
        <p:spPr>
          <a:noFill/>
        </p:spPr>
        <p:txBody>
          <a:bodyPr/>
          <a:lstStyle/>
          <a:p>
            <a:fld id="{B0038E8C-69E0-4CAE-85E6-3009FC239B2C}" type="slidenum">
              <a:rPr lang="en-US" smtClean="0"/>
              <a:pPr/>
              <a:t>141</a:t>
            </a:fld>
            <a:endParaRPr lang="en-US"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3273</TotalTime>
  <Words>3592</Words>
  <Application>Microsoft Office PowerPoint</Application>
  <PresentationFormat>On-screen Show (4:3)</PresentationFormat>
  <Paragraphs>724</Paragraphs>
  <Slides>141</Slides>
  <Notes>30</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141</vt:i4>
      </vt:variant>
    </vt:vector>
  </HeadingPairs>
  <TitlesOfParts>
    <vt:vector size="145" baseType="lpstr">
      <vt:lpstr>Office Theme</vt:lpstr>
      <vt:lpstr>Mathcad</vt:lpstr>
      <vt:lpstr>Equation</vt:lpstr>
      <vt:lpstr>Bitmap Image</vt:lpstr>
      <vt:lpstr>ELECTROMAGNETIC THEORY</vt:lpstr>
      <vt:lpstr>Unit-1</vt:lpstr>
      <vt:lpstr>INTRODUCTION</vt:lpstr>
      <vt:lpstr>Comparison of field theory with circuit theory</vt:lpstr>
      <vt:lpstr>PowerPoint Presentation</vt:lpstr>
      <vt:lpstr>PowerPoint Presentation</vt:lpstr>
      <vt:lpstr>The Radius Vector</vt:lpstr>
      <vt:lpstr>Vector Algebra</vt:lpstr>
      <vt:lpstr>PowerPoint Presentation</vt:lpstr>
      <vt:lpstr>PowerPoint Presentation</vt:lpstr>
      <vt:lpstr>POSITION VECTOR AND DISTANCE  VECTOR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Spherical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DIVERGENCE THEOREM</vt:lpstr>
      <vt:lpstr>PowerPoint Presentation</vt:lpstr>
      <vt:lpstr>THE LINE INTEGRAL OF A VECTOR AROUND A CLOSED PATH IS EQUAL TO THE SURFACE INTEGRAL OF THE NORMAL COMPONENT OF ITS CURL OVER A CLOSED ATH.</vt:lpstr>
      <vt:lpstr>Electrostatics</vt:lpstr>
      <vt:lpstr>Electric Charge</vt:lpstr>
      <vt:lpstr>Electric Charge</vt:lpstr>
      <vt:lpstr>Coulomb’s Law</vt:lpstr>
      <vt:lpstr>Coulomb’s Law</vt:lpstr>
      <vt:lpstr>Coulomb’s Law</vt:lpstr>
      <vt:lpstr>Electric Field</vt:lpstr>
      <vt:lpstr>Electric Field</vt:lpstr>
      <vt:lpstr>Electric Field</vt:lpstr>
      <vt:lpstr>Electric Field</vt:lpstr>
      <vt:lpstr>Electric Field</vt:lpstr>
      <vt:lpstr>Electric Field</vt:lpstr>
      <vt:lpstr>Electric Field</vt:lpstr>
      <vt:lpstr>Continuous Distributions of Charge</vt:lpstr>
      <vt:lpstr>PowerPoint Presentation</vt:lpstr>
      <vt:lpstr>Charge Densities</vt:lpstr>
      <vt:lpstr>Continuous Distributions of Charge</vt:lpstr>
      <vt:lpstr>Continuous Distributions of Charge</vt:lpstr>
      <vt:lpstr>Electric Field Due to Volume Charge Density</vt:lpstr>
      <vt:lpstr>Continuous Distributions of Charge</vt:lpstr>
      <vt:lpstr>Continuous Distributions of Charge</vt:lpstr>
      <vt:lpstr>Electric Field Due to Surface Charge Density</vt:lpstr>
      <vt:lpstr>Continuous Distributions of Charge</vt:lpstr>
      <vt:lpstr>Continuous Distributions of Charge</vt:lpstr>
      <vt:lpstr>Electric Field Due to Line Charge Density</vt:lpstr>
      <vt:lpstr>Electrostatic Potential</vt:lpstr>
      <vt:lpstr>Electrostatic Potential</vt:lpstr>
      <vt:lpstr>Electrostatic Potential</vt:lpstr>
      <vt:lpstr>Electrostatic Potential</vt:lpstr>
      <vt:lpstr>Electrostatic Potential</vt:lpstr>
      <vt:lpstr>Electrostatic Potential</vt:lpstr>
      <vt:lpstr>Electrostatic Potential</vt:lpstr>
      <vt:lpstr>Electrostatic Potential</vt:lpstr>
      <vt:lpstr>Electrostatic Potential and Electric Field</vt:lpstr>
      <vt:lpstr>Electrostatic Potential and Electric Field</vt:lpstr>
      <vt:lpstr>Electrostatic Potential and Electric Field</vt:lpstr>
      <vt:lpstr>Electrostatic Potential and Electric Field</vt:lpstr>
      <vt:lpstr>  Electric field intensity at any point due to a uniformly charged wire.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ELECTROMAGNETIC THEORY</dc:title>
  <dc:creator>DELL</dc:creator>
  <cp:lastModifiedBy>DELL</cp:lastModifiedBy>
  <cp:revision>129</cp:revision>
  <dcterms:created xsi:type="dcterms:W3CDTF">2006-08-16T00:00:00Z</dcterms:created>
  <dcterms:modified xsi:type="dcterms:W3CDTF">2018-07-30T07:03:31Z</dcterms:modified>
</cp:coreProperties>
</file>