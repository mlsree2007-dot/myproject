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1" r:id="rId14"/>
    <p:sldId id="269" r:id="rId15"/>
    <p:sldId id="270" r:id="rId16"/>
    <p:sldId id="272" r:id="rId17"/>
    <p:sldId id="273" r:id="rId18"/>
    <p:sldId id="274" r:id="rId19"/>
    <p:sldId id="298" r:id="rId20"/>
    <p:sldId id="275" r:id="rId21"/>
    <p:sldId id="297" r:id="rId22"/>
    <p:sldId id="276" r:id="rId23"/>
    <p:sldId id="299" r:id="rId24"/>
    <p:sldId id="277" r:id="rId25"/>
    <p:sldId id="300" r:id="rId26"/>
    <p:sldId id="278" r:id="rId27"/>
    <p:sldId id="301" r:id="rId28"/>
    <p:sldId id="302" r:id="rId29"/>
    <p:sldId id="279" r:id="rId30"/>
    <p:sldId id="303" r:id="rId31"/>
    <p:sldId id="304" r:id="rId32"/>
    <p:sldId id="280" r:id="rId33"/>
    <p:sldId id="282" r:id="rId34"/>
    <p:sldId id="305" r:id="rId35"/>
    <p:sldId id="320" r:id="rId36"/>
    <p:sldId id="321" r:id="rId37"/>
    <p:sldId id="322" r:id="rId38"/>
    <p:sldId id="317" r:id="rId39"/>
    <p:sldId id="318" r:id="rId40"/>
    <p:sldId id="319" r:id="rId41"/>
    <p:sldId id="291" r:id="rId42"/>
    <p:sldId id="292" r:id="rId43"/>
    <p:sldId id="293" r:id="rId44"/>
    <p:sldId id="294" r:id="rId45"/>
    <p:sldId id="307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6" r:id="rId54"/>
    <p:sldId id="330" r:id="rId55"/>
    <p:sldId id="331" r:id="rId56"/>
    <p:sldId id="332" r:id="rId57"/>
    <p:sldId id="333" r:id="rId58"/>
    <p:sldId id="334" r:id="rId59"/>
    <p:sldId id="335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52C80-6108-4223-A5E7-DDEBDD77203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A7363-19F3-4BB3-A354-E2B02E0CAE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75CF-704D-4C51-AA12-ADBB8E2DC27F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7A7BA-A941-43F4-844F-08FA73B14659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79F4-1B30-44B7-A287-45FCBD96CA36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F6CA-6EC3-4378-B9AB-3016856C6323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1329-E4A9-4941-9369-06DD678190E9}" type="datetime1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B2D1-3B98-4167-B7F7-8569152CB2D6}" type="datetime1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B689-25D0-40E1-9FC5-C65394719951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BD27E-F7BB-4722-B53B-579D72DB2C04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B763-631B-42F3-A906-81979B8498E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DEC62-D7FE-4EF4-9D27-9F4FA96088F3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EF1F8-01AF-4FDA-AB7B-700C881CD703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31.png"/><Relationship Id="rId1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6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jpeg"/><Relationship Id="rId1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4.jpeg"/><Relationship Id="rId1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8.png"/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2438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900" b="1" dirty="0" smtClean="0">
                <a:solidFill>
                  <a:srgbClr val="FF0000"/>
                </a:solidFill>
              </a:rPr>
              <a:t>Unit 4</a:t>
            </a:r>
            <a:br>
              <a:rPr lang="en-US" sz="4900" b="1" dirty="0" smtClean="0">
                <a:solidFill>
                  <a:srgbClr val="FF0000"/>
                </a:solidFill>
              </a:rPr>
            </a:br>
            <a:r>
              <a:rPr lang="en-US" b="1" dirty="0" smtClean="0"/>
              <a:t>Bending &amp; Shear Stresses in Beams</a:t>
            </a:r>
            <a:endParaRPr lang="en-US" b="1" dirty="0" smtClean="0"/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1600200" y="5181600"/>
            <a:ext cx="5943600" cy="12954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002060"/>
                </a:solidFill>
              </a:rPr>
              <a:t>By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2"/>
                </a:solidFill>
              </a:rPr>
              <a:t>Dr. S.JEYANTHI</a:t>
            </a:r>
            <a:endParaRPr lang="en-US" sz="2400" b="1" dirty="0" smtClean="0">
              <a:solidFill>
                <a:schemeClr val="tx2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2"/>
                </a:solidFill>
              </a:rPr>
              <a:t>Professor</a:t>
            </a:r>
            <a:endParaRPr lang="en-US" sz="2400" b="1" dirty="0" smtClean="0">
              <a:solidFill>
                <a:schemeClr val="tx2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0DB1-D6A2-4282-877E-3BCCA70AA822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533400"/>
            <a:ext cx="284321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itle 1"/>
          <p:cNvSpPr txBox="1"/>
          <p:nvPr/>
        </p:nvSpPr>
        <p:spPr bwMode="auto">
          <a:xfrm>
            <a:off x="838200" y="1752600"/>
            <a:ext cx="77724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3200" b="1">
                <a:solidFill>
                  <a:srgbClr val="00B050"/>
                </a:solidFill>
                <a:latin typeface="Calibri" panose="020F0502020204030204" pitchFamily="34" charset="0"/>
              </a:rPr>
              <a:t>School of Mechanical and Building Sciences</a:t>
            </a:r>
            <a:endParaRPr lang="en-US" sz="3200" b="1">
              <a:solidFill>
                <a:srgbClr val="00B05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IN" sz="3200" b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IN" sz="3200" b="1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07C920-A862-43B7-ABFC-96261359FCC7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MEE 214 Strength of Materials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DC5C0-0B3E-4EE7-90AF-B403B765D2B1}" type="slidenum">
              <a:rPr lang="en-US" smtClean="0"/>
            </a:fld>
            <a:endParaRPr lang="en-US" dirty="0"/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533400" y="1371600"/>
            <a:ext cx="7848600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Introduction</a:t>
            </a:r>
            <a:endParaRPr lang="en-IN" sz="24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2400" dirty="0" smtClean="0"/>
              <a:t>Assumptions</a:t>
            </a:r>
            <a:endParaRPr lang="en-IN" sz="24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2400" dirty="0" smtClean="0"/>
              <a:t>Bending Equation</a:t>
            </a:r>
            <a:endParaRPr lang="en-IN" sz="24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2400" dirty="0" smtClean="0"/>
              <a:t>Problems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4624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Introduction</a:t>
            </a:r>
            <a:endParaRPr lang="en-IN" sz="2800" b="1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76672"/>
            <a:ext cx="4126952" cy="23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504" y="476672"/>
            <a:ext cx="4896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a member is subjected to equal and opposite couples acting in the same longitudinal plane, the member is said to be in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bending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4" descr="Image result for Indians weightlifting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96" y="3068960"/>
            <a:ext cx="4541621" cy="27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28" y="2348880"/>
            <a:ext cx="3459929" cy="35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7504" y="5949280"/>
            <a:ext cx="5832648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/>
              <a:t>Beam in which portion </a:t>
            </a:r>
            <a:r>
              <a:rPr lang="en-IN" sz="2400" i="1" dirty="0" smtClean="0">
                <a:solidFill>
                  <a:srgbClr val="0070C0"/>
                </a:solidFill>
              </a:rPr>
              <a:t>CD</a:t>
            </a:r>
            <a:r>
              <a:rPr lang="en-IN" sz="2400" i="1" dirty="0" smtClean="0"/>
              <a:t> </a:t>
            </a:r>
            <a:r>
              <a:rPr lang="en-IN" sz="2400" dirty="0" smtClean="0"/>
              <a:t>is </a:t>
            </a:r>
            <a:r>
              <a:rPr lang="en-IN" sz="2400" dirty="0"/>
              <a:t>in </a:t>
            </a:r>
            <a:r>
              <a:rPr lang="en-IN" sz="2400" dirty="0">
                <a:solidFill>
                  <a:srgbClr val="0070C0"/>
                </a:solidFill>
              </a:rPr>
              <a:t>pure bending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1D33-7107-410E-BB01-CA8A101EAC71}" type="datetime1">
              <a:rPr lang="en-US" smtClean="0"/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39" y="1460976"/>
            <a:ext cx="3681365" cy="4284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9512" y="260648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Bending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major concept used in the design of many machine and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structural components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such as beams and girders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0" y="1460976"/>
            <a:ext cx="5327778" cy="3348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51720" y="4149080"/>
            <a:ext cx="2531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Eccentric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loading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3759" y="5877272"/>
            <a:ext cx="25246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Transverse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loads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88C12-FE60-4D96-BDD7-B2265D255B69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4624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Assumptions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620688"/>
            <a:ext cx="842493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material is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homogeneous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isotropic</a:t>
            </a:r>
            <a:endParaRPr lang="en-IN" sz="28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Transverse planes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remain plane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perpendicular to the neutral surface after bending</a:t>
            </a:r>
            <a:endParaRPr lang="en-IN" sz="28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longitudinal filaments are bent into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circular arcs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with a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centre of curvature</a:t>
            </a:r>
            <a:endParaRPr lang="en-IN" sz="28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beam is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symmetric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about a vertical longitudinal plane passing through vertical axis of symmetry  for horizontal beams</a:t>
            </a:r>
            <a:endParaRPr lang="en-IN" sz="28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is purely longitudinal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and the stress concentration effects near the concentrated loads are neglected  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6303-C138-4AFF-A639-C088CE8CC915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692696"/>
            <a:ext cx="4880000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5536" y="44624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Symmetry</a:t>
            </a:r>
            <a:endParaRPr lang="en-IN" sz="2800" b="1" dirty="0">
              <a:solidFill>
                <a:srgbClr val="00B05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486" y="1008674"/>
            <a:ext cx="3485567" cy="30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" y="3572696"/>
            <a:ext cx="3820327" cy="248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029535" y="4365104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 any cross section of a symmetric member in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pure bending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 to a couple</a:t>
            </a:r>
            <a:endParaRPr lang="en-IN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4043019" cy="36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1" y="1268759"/>
            <a:ext cx="4033740" cy="11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384758"/>
            <a:ext cx="3982965" cy="34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5496" y="4830361"/>
            <a:ext cx="43924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since the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bending moment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is the same in any cross section, the member will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bend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uniformly</a:t>
            </a:r>
            <a:endParaRPr lang="en-IN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496" y="259973"/>
            <a:ext cx="45364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Circular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rcs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with a </a:t>
            </a: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Common Centre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Curvature</a:t>
            </a:r>
            <a:endParaRPr lang="en-IN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572000" y="25997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Transverse </a:t>
            </a: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Planes Remain Plane after Bending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0" y="259973"/>
            <a:ext cx="0" cy="5977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7" y="457200"/>
            <a:ext cx="47529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429000"/>
            <a:ext cx="3658176" cy="31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41857"/>
            <a:ext cx="2209800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304456"/>
            <a:ext cx="2200275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28591"/>
            <a:ext cx="5136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Stress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Purely Longitudinal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349"/>
            <a:ext cx="3632420" cy="37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922265"/>
            <a:ext cx="3960000" cy="23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27584" y="1628800"/>
                <a:ext cx="3340402" cy="889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𝛾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/>
                            </a:rPr>
                            <m:t>𝑥𝑦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𝛾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/>
                            </a:rPr>
                            <m:t>𝑧𝑥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𝑎𝑛𝑑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𝑡ℎ𝑢𝑠</m:t>
                      </m:r>
                    </m:oMath>
                  </m:oMathPara>
                </a14:m>
                <a:endParaRPr lang="en-IN" sz="2400" b="0" i="1" dirty="0" smtClean="0">
                  <a:latin typeface="Cambria Math" panose="02040503050406030204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𝜏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/>
                            </a:rPr>
                            <m:t>𝑥𝑦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𝜏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/>
                            </a:rPr>
                            <m:t>𝑧𝑥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628800"/>
                <a:ext cx="3340402" cy="889346"/>
              </a:xfrm>
              <a:prstGeom prst="rect">
                <a:avLst/>
              </a:prstGeom>
              <a:blipFill rotWithShape="1">
                <a:blip r:embed="rId3"/>
                <a:stretch>
                  <a:fillRect l="-5" t="-3" r="14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79512" y="188640"/>
            <a:ext cx="4824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Since all the faces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represented in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two projections of f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igure are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90°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each other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we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conclude that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8949" y="2492896"/>
                <a:ext cx="2656689" cy="49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𝜎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𝜎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/>
                              <a:ea typeface="Cambria Math" panose="02040503050406030204"/>
                            </a:rPr>
                            <m:t>𝜏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/>
                            </a:rPr>
                            <m:t>𝑦</m:t>
                          </m:r>
                          <m:r>
                            <a:rPr lang="en-IN" sz="2400" b="0" i="1" smtClean="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  <a:endParaRPr lang="en-IN" sz="2400" b="0" i="1" dirty="0" smtClean="0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49" y="2492896"/>
                <a:ext cx="2656689" cy="490840"/>
              </a:xfrm>
              <a:prstGeom prst="rect">
                <a:avLst/>
              </a:prstGeom>
              <a:blipFill rotWithShape="1">
                <a:blip r:embed="rId4"/>
                <a:stretch>
                  <a:fillRect l="-22" t="-106" r="16" b="10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66636" y="2924944"/>
                <a:ext cx="4909419" cy="15988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only </a:t>
                </a:r>
                <a:r>
                  <a:rPr lang="en-IN" sz="2400" dirty="0" smtClean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nonzero </a:t>
                </a:r>
                <a:r>
                  <a:rPr lang="en-I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stress component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exerted on any of the small cubic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elements considered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here is the normal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𝝈</m:t>
                        </m:r>
                      </m:e>
                      <m:sub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𝒙</m:t>
                        </m:r>
                      </m:sub>
                    </m:sSub>
                  </m:oMath>
                </a14:m>
                <a:endParaRPr lang="en-IN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36" y="2924944"/>
                <a:ext cx="4909419" cy="1598836"/>
              </a:xfrm>
              <a:prstGeom prst="rect">
                <a:avLst/>
              </a:prstGeom>
              <a:blipFill rotWithShape="1">
                <a:blip r:embed="rId5"/>
                <a:stretch>
                  <a:fillRect l="-5" t="-8" r="1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5496" y="4514344"/>
                <a:ext cx="4968552" cy="1938992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n-IN" sz="2400" b="1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strain</a:t>
                </a:r>
                <a:r>
                  <a:rPr lang="en-IN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𝝐</m:t>
                        </m:r>
                      </m:e>
                      <m:sub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𝝈</m:t>
                        </m:r>
                      </m:e>
                      <m:sub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are negative in the upper portion of the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member (</a:t>
                </a:r>
                <a:r>
                  <a:rPr lang="en-IN" sz="2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compression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and positive in the lower portion (</a:t>
                </a:r>
                <a:r>
                  <a:rPr lang="en-I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tension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514344"/>
                <a:ext cx="4968552" cy="1938992"/>
              </a:xfrm>
              <a:prstGeom prst="rect">
                <a:avLst/>
              </a:prstGeom>
              <a:blipFill rotWithShape="1">
                <a:blip r:embed="rId6"/>
                <a:stretch>
                  <a:fillRect l="-293" t="-760" r="-276" b="-72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4305386" cy="42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817192"/>
            <a:ext cx="3106307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0" y="260648"/>
                <a:ext cx="846043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surface 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𝝐</m:t>
                        </m:r>
                      </m:e>
                      <m:sub>
                        <m: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𝝈</m:t>
                        </m:r>
                      </m:e>
                      <m:sub>
                        <m: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are</a:t>
                </a:r>
                <a:r>
                  <a:rPr lang="en-IN" sz="22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zero</a:t>
                </a:r>
                <a:r>
                  <a:rPr lang="en-IN" sz="22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is called 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IN" sz="22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neutral surface</a:t>
                </a:r>
                <a:endParaRPr lang="en-IN" sz="22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0648"/>
                <a:ext cx="8460432" cy="430887"/>
              </a:xfrm>
              <a:prstGeom prst="rect">
                <a:avLst/>
              </a:prstGeom>
              <a:blipFill rotWithShape="1">
                <a:blip r:embed="rId3"/>
                <a:stretch>
                  <a:fillRect t="-69" r="4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283968" y="980728"/>
                <a:ext cx="36724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Length of arc DE,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/>
                      </a:rPr>
                      <m:t>𝐿</m:t>
                    </m:r>
                    <m:r>
                      <a:rPr lang="en-IN" sz="2400" b="0" i="1" smtClean="0">
                        <a:latin typeface="Cambria Math" panose="02040503050406030204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/>
                        <a:ea typeface="Cambria Math" panose="02040503050406030204"/>
                      </a:rPr>
                      <m:t>𝜌𝜃</m:t>
                    </m:r>
                  </m:oMath>
                </a14:m>
                <a:endParaRPr lang="en-I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980728"/>
                <a:ext cx="3672408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7" t="-62" r="13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4283968" y="1443913"/>
                <a:ext cx="4608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Length of arc JK,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/>
                          </a:rPr>
                          <m:t>𝐿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/>
                      </a:rPr>
                      <m:t>=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/>
                            <a:ea typeface="Cambria Math" panose="02040503050406030204"/>
                          </a:rPr>
                          <m:t>𝜌</m:t>
                        </m:r>
                        <m:r>
                          <a:rPr lang="en-I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𝑦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/>
                        <a:ea typeface="Cambria Math" panose="02040503050406030204"/>
                      </a:rPr>
                      <m:t>𝜃</m:t>
                    </m:r>
                  </m:oMath>
                </a14:m>
                <a:endParaRPr lang="en-I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43913"/>
                <a:ext cx="4608512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6" t="-121" r="12" b="1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139952" y="1916832"/>
                <a:ext cx="489654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Deformation of JK,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/>
                        <a:ea typeface="Cambria Math" panose="02040503050406030204"/>
                      </a:rPr>
                      <m:t>δ</m:t>
                    </m:r>
                    <m:r>
                      <a:rPr lang="en-IN" sz="2400" b="0" i="1" smtClean="0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/>
                      </a:rPr>
                      <m:t>−</m:t>
                    </m:r>
                    <m:r>
                      <a:rPr lang="en-IN" sz="2400" b="0" i="1" smtClean="0">
                        <a:latin typeface="Cambria Math" panose="02040503050406030204"/>
                      </a:rPr>
                      <m:t>𝐿</m:t>
                    </m:r>
                  </m:oMath>
                </a14:m>
                <a:endParaRPr lang="en-IN" sz="2400" b="0" i="1" dirty="0" smtClean="0">
                  <a:latin typeface="Cambria Math" panose="02040503050406030204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/>
                        </a:rPr>
                        <m:t>=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/>
                              <a:ea typeface="Cambria Math" panose="02040503050406030204"/>
                            </a:rPr>
                            <m:t>𝜌</m:t>
                          </m:r>
                          <m:r>
                            <a:rPr lang="en-IN" sz="2400" b="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IN" sz="2400" b="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𝑦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/>
                          <a:ea typeface="Cambria Math" panose="02040503050406030204"/>
                        </a:rPr>
                        <m:t>𝜃</m:t>
                      </m:r>
                      <m:r>
                        <a:rPr lang="en-IN" sz="2400" b="0" i="1" smtClean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IN" sz="2400" i="1">
                          <a:latin typeface="Cambria Math" panose="02040503050406030204"/>
                          <a:ea typeface="Cambria Math" panose="02040503050406030204"/>
                        </a:rPr>
                        <m:t>𝜌𝜃</m:t>
                      </m:r>
                      <m:r>
                        <a:rPr lang="en-IN" sz="2400" b="0" i="0" smtClean="0">
                          <a:latin typeface="Cambria Math" panose="02040503050406030204"/>
                          <a:ea typeface="Cambria Math" panose="02040503050406030204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/>
                          <a:ea typeface="Cambria Math" panose="02040503050406030204"/>
                        </a:rPr>
                        <m:t>y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</m:oMath>
                  </m:oMathPara>
                </a14:m>
                <a:endParaRPr lang="en-I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916832"/>
                <a:ext cx="4896544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8" t="-48" r="9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148064" y="5157192"/>
                <a:ext cx="2946448" cy="856838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𝝐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𝒙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𝜹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𝑳</m:t>
                          </m:r>
                        </m:den>
                      </m:f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𝜽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𝝆𝜽</m:t>
                          </m:r>
                        </m:den>
                      </m:f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𝒚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𝝆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5157192"/>
                <a:ext cx="2946448" cy="856838"/>
              </a:xfrm>
              <a:prstGeom prst="rect">
                <a:avLst/>
              </a:prstGeom>
              <a:blipFill rotWithShape="1">
                <a:blip r:embed="rId7"/>
                <a:stretch>
                  <a:fillRect l="-500" t="-1672" r="-468" b="-163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79512" y="5301208"/>
                <a:ext cx="4788024" cy="1107996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he 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longitudinal normal </a:t>
                </a:r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200" b="1" i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𝛜</m:t>
                        </m:r>
                      </m:e>
                      <m:sub>
                        <m:r>
                          <a:rPr lang="en-IN" sz="2200" b="1" i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varies </a:t>
                </a:r>
                <a:r>
                  <a:rPr lang="en-IN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linearly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the distance </a:t>
                </a:r>
                <a:r>
                  <a:rPr lang="en-IN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I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the neutral surface</a:t>
                </a:r>
                <a:endParaRPr lang="en-IN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301208"/>
                <a:ext cx="4788024" cy="1107996"/>
              </a:xfrm>
              <a:prstGeom prst="rect">
                <a:avLst/>
              </a:prstGeom>
              <a:blipFill rotWithShape="1">
                <a:blip r:embed="rId8"/>
                <a:stretch>
                  <a:fillRect l="-301" t="-1339" r="-293" b="-124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95536" y="260648"/>
            <a:ext cx="76328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22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be the largest distance from neutral axis, the maximum absolute value of strain</a:t>
            </a:r>
            <a:endParaRPr lang="en-IN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339752" y="1059994"/>
                <a:ext cx="1217962" cy="79252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𝝐</m:t>
                          </m:r>
                        </m:e>
                        <m:sub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𝒄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𝝆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59994"/>
                <a:ext cx="1217962" cy="792525"/>
              </a:xfrm>
              <a:prstGeom prst="rect">
                <a:avLst/>
              </a:prstGeom>
              <a:blipFill rotWithShape="1">
                <a:blip r:embed="rId1"/>
                <a:stretch>
                  <a:fillRect l="-1181" t="-1865" r="-1163" b="-1734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47936" y="2132856"/>
                <a:ext cx="352000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Substitute for</a:t>
                </a:r>
                <a:r>
                  <a:rPr lang="en-IN" sz="2200" b="1" dirty="0">
                    <a:solidFill>
                      <a:srgbClr val="0070C0"/>
                    </a:solidFill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IN" sz="2200" b="1" i="1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𝝆</m:t>
                    </m:r>
                    <m:r>
                      <a:rPr lang="en-IN" sz="22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, </m:t>
                    </m:r>
                  </m:oMath>
                </a14:m>
                <a:r>
                  <a:rPr lang="en-IN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get</a:t>
                </a:r>
                <a:endParaRPr lang="en-IN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36" y="2132856"/>
                <a:ext cx="3520008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16" t="-122" r="4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779" y="1916832"/>
            <a:ext cx="2052000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47909" y="3043443"/>
            <a:ext cx="55707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tress-strain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relation of the material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used, 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49" y="3068960"/>
            <a:ext cx="1479482" cy="5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717136"/>
            <a:ext cx="2979915" cy="9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13" y="4905280"/>
            <a:ext cx="2307790" cy="10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737" y="3748261"/>
            <a:ext cx="4038059" cy="259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16" y="44624"/>
            <a:ext cx="8429273" cy="34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500623"/>
            <a:ext cx="5949552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980848"/>
            <a:ext cx="6588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348992"/>
            <a:ext cx="1795500" cy="10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3528" y="3712383"/>
            <a:ext cx="849694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equation shows that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moment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of the cross section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about its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 axis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must be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endParaRPr lang="en-IN" sz="24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words, for a member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subjected to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bending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long as the stresses remain in the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range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 axis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passes through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centroid of the section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241484"/>
            <a:ext cx="4946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ocation 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 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xis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23528" y="4653136"/>
                <a:ext cx="8496944" cy="1200329"/>
              </a:xfrm>
              <a:prstGeom prst="rect">
                <a:avLst/>
              </a:prstGeom>
              <a:ln w="28575">
                <a:solidFill>
                  <a:srgbClr val="002060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Since the maximum stress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𝝈</m:t>
                        </m:r>
                      </m:e>
                      <m:sub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I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inversely proportional to the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elastic section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modulus </a:t>
                </a:r>
                <a:r>
                  <a:rPr lang="en-IN" sz="24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it is clear that beams should be designed with </a:t>
                </a:r>
                <a:r>
                  <a:rPr lang="en-IN" sz="2400" dirty="0" smtClean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large </a:t>
                </a:r>
                <a:r>
                  <a:rPr lang="en-I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value of </a:t>
                </a:r>
                <a:r>
                  <a:rPr lang="en-IN" sz="24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</a:t>
                </a:r>
                <a:r>
                  <a:rPr lang="en-I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practicable</a:t>
                </a:r>
                <a:endParaRPr lang="en-I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653136"/>
                <a:ext cx="8496944" cy="1200329"/>
              </a:xfrm>
              <a:prstGeom prst="rect">
                <a:avLst/>
              </a:prstGeom>
              <a:blipFill rotWithShape="1">
                <a:blip r:embed="rId1"/>
                <a:stretch>
                  <a:fillRect l="-176" t="-1205" r="-168" b="-1161"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88965" y="306234"/>
            <a:ext cx="44390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lastic 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lexure Formulas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65" y="995676"/>
            <a:ext cx="2507016" cy="8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8" y="995676"/>
            <a:ext cx="3290625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28" y="905676"/>
            <a:ext cx="2585905" cy="10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24944"/>
            <a:ext cx="1639281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043" y="1952936"/>
            <a:ext cx="1978928" cy="10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69" y="3320936"/>
            <a:ext cx="4867828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808" y="3374682"/>
            <a:ext cx="1484149" cy="8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1"/>
            <a:ext cx="4694795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9512" y="241484"/>
            <a:ext cx="1662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528" y="908720"/>
            <a:ext cx="8568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in the case of a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wooden beam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with a rectangular cross section of width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and depth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have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63" y="1916830"/>
            <a:ext cx="3550196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79511" y="3176831"/>
            <a:ext cx="5040551" cy="230832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shows that, of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beams with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cross-sectional area </a:t>
            </a:r>
            <a:r>
              <a:rPr lang="en-IN" sz="2400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beam with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depth </a:t>
            </a:r>
            <a:r>
              <a:rPr lang="en-IN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will have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section modulus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and, thus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will be the more effective in resisting bending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991132"/>
            <a:ext cx="1484444" cy="10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761750" y="1229851"/>
                <a:ext cx="1217962" cy="79252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𝝐</m:t>
                          </m:r>
                        </m:e>
                        <m:sub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𝒄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𝝆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50" y="1229851"/>
                <a:ext cx="1217962" cy="792525"/>
              </a:xfrm>
              <a:prstGeom prst="rect">
                <a:avLst/>
              </a:prstGeom>
              <a:blipFill rotWithShape="1">
                <a:blip r:embed="rId2"/>
                <a:stretch>
                  <a:fillRect l="-1179" t="-1825" r="-1165" b="-177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71600" y="2175072"/>
            <a:ext cx="70615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Reciprocal of radius of curvature is known as curvature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95575"/>
            <a:ext cx="2689490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350787" y="5301208"/>
                <a:ext cx="2363163" cy="847027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𝑴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𝑰</m:t>
                          </m:r>
                        </m:den>
                      </m:f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𝒎</m:t>
                              </m:r>
                            </m:sub>
                          </m:sSub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  <m:t>𝒄</m:t>
                          </m:r>
                        </m:den>
                      </m:f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𝑬</m:t>
                          </m:r>
                        </m:num>
                        <m:den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𝝆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787" y="5301208"/>
                <a:ext cx="2363163" cy="847027"/>
              </a:xfrm>
              <a:prstGeom prst="rect">
                <a:avLst/>
              </a:prstGeom>
              <a:blipFill rotWithShape="1">
                <a:blip r:embed="rId4"/>
                <a:stretch>
                  <a:fillRect l="-624" t="-1751" r="-598" b="-163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79512" y="30623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Moment-Curvature Relationship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68212" y="3140968"/>
            <a:ext cx="4794638" cy="283154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EI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– Flexural rigidity of the beam</a:t>
            </a: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Flexural rigidity is a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of a beam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bending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that is,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flexural rigidity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curvature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given bending moment</a:t>
            </a:r>
            <a:endParaRPr lang="en-I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1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908720"/>
            <a:ext cx="84969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steel plate of width </a:t>
            </a:r>
            <a:r>
              <a:rPr lang="en-IN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 mm </a:t>
            </a:r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and of thickness </a:t>
            </a:r>
            <a:r>
              <a:rPr lang="en-IN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mm </a:t>
            </a:r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is bent into a circular arc of radius  </a:t>
            </a:r>
            <a:r>
              <a:rPr lang="en-IN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</a:t>
            </a:r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 Determine the maximum stress induced and the bending moment which will produce the maximum stress. Take </a:t>
            </a:r>
            <a:r>
              <a:rPr lang="en-IN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= 2 x 10</a:t>
            </a:r>
            <a:r>
              <a:rPr lang="en-IN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N/mm</a:t>
            </a:r>
            <a:r>
              <a:rPr lang="en-IN" sz="32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220072" y="3967192"/>
                <a:ext cx="2792046" cy="839332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𝝈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𝟐𝟎𝟎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𝑵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𝒎𝒎</m:t>
                          </m:r>
                        </m:e>
                        <m:sup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</a:rPr>
                        <m:t>𝑴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𝟏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𝟔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  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𝒌𝑵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𝒎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967192"/>
                <a:ext cx="2792046" cy="839332"/>
              </a:xfrm>
              <a:prstGeom prst="rect">
                <a:avLst/>
              </a:prstGeom>
              <a:blipFill rotWithShape="1">
                <a:blip r:embed="rId1"/>
                <a:stretch>
                  <a:fillRect l="-514" t="-1706" r="-512" b="-164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260648"/>
            <a:ext cx="8064896" cy="603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79512" y="1052736"/>
            <a:ext cx="878497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aluminum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rod with a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semicircular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cross section of radius </a:t>
            </a:r>
            <a:r>
              <a:rPr lang="en-IN" sz="2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mm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shown in figure is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bent into the shape of a circular arc of mean radius </a:t>
            </a:r>
            <a:r>
              <a:rPr lang="el-GR" sz="28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Knowing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that the flat face of the rod is turned toward the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curvature of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arc, determine the maximum tensile and compressive stress in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rod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 Use </a:t>
            </a:r>
            <a:r>
              <a:rPr lang="pt-BR" sz="2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 GPa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00" y="3789040"/>
            <a:ext cx="3802225" cy="151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2</a:t>
            </a:r>
            <a:endParaRPr lang="en-IN" sz="28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64088" y="5445224"/>
                <a:ext cx="3702552" cy="889282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𝝈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</m:t>
                          </m:r>
                        </m:sub>
                      </m:sSub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𝟏𝟗𝟑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𝟒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𝑵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𝒎𝒎</m:t>
                          </m:r>
                        </m:e>
                        <m:sup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𝝈</m:t>
                          </m:r>
                        </m:e>
                        <m:sub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𝒄𝒐𝒎𝒑</m:t>
                          </m:r>
                        </m:sub>
                      </m:sSub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𝟏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𝟒𝟐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𝟔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𝑵</m:t>
                      </m:r>
                      <m:r>
                        <a:rPr lang="en-IN" sz="2400" b="1" i="1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𝒎𝒎</m:t>
                          </m:r>
                        </m:e>
                        <m:sup>
                          <m:r>
                            <a:rPr lang="en-IN" sz="2400" b="1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dirty="0" smtClean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5445224"/>
                <a:ext cx="3702552" cy="889282"/>
              </a:xfrm>
              <a:prstGeom prst="rect">
                <a:avLst/>
              </a:prstGeom>
              <a:blipFill rotWithShape="1">
                <a:blip r:embed="rId2"/>
                <a:stretch>
                  <a:fillRect l="-401" t="-1653" r="-374" b="-15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286" y="4545039"/>
            <a:ext cx="1130930" cy="8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8892479" cy="648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19" y="2996952"/>
            <a:ext cx="77184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3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908720"/>
            <a:ext cx="8496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Figure shows a simply supported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200-mm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wide,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300-mm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deep and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long beam. Determine the bending stress at the point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which is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mm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below the top surface and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 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from the left support.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64088" y="5445224"/>
                <a:ext cx="2802690" cy="470000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IN" sz="2400" b="0" i="1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𝜎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𝟔𝟕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𝟐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𝑵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𝒎𝒎</m:t>
                          </m:r>
                        </m:e>
                        <m:sup>
                          <m: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dirty="0" smtClean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5445224"/>
                <a:ext cx="2802690" cy="470000"/>
              </a:xfrm>
              <a:prstGeom prst="rect">
                <a:avLst/>
              </a:prstGeom>
              <a:blipFill rotWithShape="1">
                <a:blip r:embed="rId2"/>
                <a:stretch>
                  <a:fillRect l="-530" t="-3129" r="-497" b="-293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776863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</a:t>
            </a:r>
            <a:r>
              <a:rPr lang="en-IN" sz="2800" b="1" dirty="0">
                <a:solidFill>
                  <a:srgbClr val="00B050"/>
                </a:solidFill>
              </a:rPr>
              <a:t>4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535320"/>
            <a:ext cx="84969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 mm x 80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mm </a:t>
            </a:r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-beam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is to be used as a simply supported beam of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6.75 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span. The web thickness is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mm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and the flanges are of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10-mm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thickness. Determine what concentrated load can be carried at a distance of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2.25 m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from one support if the maximum permissible stress is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 </a:t>
            </a:r>
            <a:r>
              <a:rPr lang="en-IN" sz="28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98" y="3157556"/>
            <a:ext cx="3139122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64088" y="4221088"/>
                <a:ext cx="2171813" cy="46166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</a:rPr>
                      <m:t>𝑾</m:t>
                    </m:r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𝟗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.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𝟐𝟔𝟒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b="1" dirty="0" smtClean="0">
                    <a:solidFill>
                      <a:srgbClr val="0070C0"/>
                    </a:solidFill>
                    <a:latin typeface="Cambria Math" panose="02040503050406030204"/>
                    <a:ea typeface="Cambria Math" panose="02040503050406030204"/>
                  </a:rPr>
                  <a:t>kN</a:t>
                </a:r>
                <a:endParaRPr lang="en-IN" sz="2400" b="1" dirty="0">
                  <a:solidFill>
                    <a:srgbClr val="0070C0"/>
                  </a:solidFill>
                  <a:latin typeface="Cambria Math" panose="02040503050406030204"/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221088"/>
                <a:ext cx="217181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684" t="-3216" r="-656" b="-296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32656"/>
            <a:ext cx="5991225" cy="1436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7128792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</a:t>
            </a:r>
            <a:r>
              <a:rPr lang="en-IN" sz="2800" b="1" dirty="0">
                <a:solidFill>
                  <a:srgbClr val="00B050"/>
                </a:solidFill>
              </a:rPr>
              <a:t>5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548680"/>
            <a:ext cx="8496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Figure shows the section of a beam. Determine the ratio of its moment of resistance to bending in the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y-y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plane to that in the </a:t>
            </a:r>
            <a:r>
              <a:rPr lang="en-I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x-x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plane if the maximum bending stress remains same in the two cases.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64088" y="4221088"/>
                <a:ext cx="1795043" cy="8606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𝒚𝒚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𝒙𝒙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𝟎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𝟑𝟑</m:t>
                      </m:r>
                    </m:oMath>
                  </m:oMathPara>
                </a14:m>
                <a:endParaRPr lang="en-IN" sz="2400" b="1" dirty="0">
                  <a:solidFill>
                    <a:srgbClr val="0070C0"/>
                  </a:solidFill>
                  <a:latin typeface="Cambria Math" panose="02040503050406030204"/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221088"/>
                <a:ext cx="1795043" cy="860685"/>
              </a:xfrm>
              <a:prstGeom prst="rect">
                <a:avLst/>
              </a:prstGeom>
              <a:blipFill rotWithShape="1">
                <a:blip r:embed="rId1"/>
                <a:stretch>
                  <a:fillRect l="-827" t="-1725" r="-770" b="-163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22" y="2543920"/>
            <a:ext cx="3286959" cy="38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7488832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00525"/>
            <a:ext cx="748883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0688"/>
            <a:ext cx="7776864" cy="6048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</a:t>
            </a:r>
            <a:r>
              <a:rPr lang="en-IN" sz="2800" b="1" dirty="0">
                <a:solidFill>
                  <a:srgbClr val="00B050"/>
                </a:solidFill>
              </a:rPr>
              <a:t>6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548680"/>
            <a:ext cx="84969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tension flange of a cast iron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-section beam is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240 mm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wide and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mm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deep, the compression flange is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mm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wide and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mm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deep whereas the web is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mm x 30 mm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Find the load per </a:t>
            </a:r>
            <a:r>
              <a:rPr lang="en-IN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run which can be carried over a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m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span by a simply supported beam if the maximum permissible stresses are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 </a:t>
            </a:r>
            <a:r>
              <a:rPr lang="en-IN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compression and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</a:t>
            </a:r>
            <a:r>
              <a:rPr lang="en-IN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tension.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64088" y="4221088"/>
                <a:ext cx="2508444" cy="46166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</a:rPr>
                      <m:t>𝒘</m:t>
                    </m:r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𝟑𝟒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.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𝟑𝟔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</m:oMath>
                </a14:m>
                <a:r>
                  <a:rPr lang="en-IN" sz="2400" b="1" dirty="0" smtClean="0">
                    <a:solidFill>
                      <a:srgbClr val="0070C0"/>
                    </a:solidFill>
                    <a:latin typeface="Cambria Math" panose="02040503050406030204"/>
                    <a:ea typeface="Cambria Math" panose="02040503050406030204"/>
                  </a:rPr>
                  <a:t>kN/m</a:t>
                </a:r>
                <a:endParaRPr lang="en-IN" sz="2400" b="1" dirty="0">
                  <a:solidFill>
                    <a:srgbClr val="0070C0"/>
                  </a:solidFill>
                  <a:latin typeface="Cambria Math" panose="02040503050406030204"/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221088"/>
                <a:ext cx="2508444" cy="461665"/>
              </a:xfrm>
              <a:prstGeom prst="rect">
                <a:avLst/>
              </a:prstGeom>
              <a:blipFill rotWithShape="1">
                <a:blip r:embed="rId1"/>
                <a:stretch>
                  <a:fillRect l="-592" t="-3216" r="-565" b="-296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48" y="2820051"/>
            <a:ext cx="3961019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4664"/>
            <a:ext cx="7632848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2696"/>
            <a:ext cx="7416824" cy="597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</a:t>
            </a:r>
            <a:r>
              <a:rPr lang="en-IN" sz="2800" b="1" dirty="0">
                <a:solidFill>
                  <a:srgbClr val="00B050"/>
                </a:solidFill>
              </a:rPr>
              <a:t>7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548680"/>
            <a:ext cx="84969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Compare the flexure strength of three beams of equal weight with the following specifications:</a:t>
            </a: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AutoNum type="romanLcParenBoth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I-section with length of web, thickness of each flange and the thickness of web in terms of width of </a:t>
            </a:r>
            <a:r>
              <a:rPr lang="en-IN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of the flanges being 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1.7</a:t>
            </a:r>
            <a:r>
              <a:rPr lang="en-IN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0.15</a:t>
            </a:r>
            <a:r>
              <a:rPr lang="en-IN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0.1</a:t>
            </a:r>
            <a:r>
              <a:rPr lang="en-IN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respectively.</a:t>
            </a: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AutoNum type="romanLcParenBoth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Rectangular section of depth equal to twice the width</a:t>
            </a: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AutoNum type="romanLcParenBoth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Solid circular section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84984"/>
            <a:ext cx="6146601" cy="26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516216" y="3284984"/>
                <a:ext cx="1844736" cy="84420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𝟑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𝟗𝟐𝟔</m:t>
                      </m:r>
                    </m:oMath>
                  </m:oMathPara>
                </a14:m>
                <a:endParaRPr lang="en-IN" sz="2400" b="1" dirty="0">
                  <a:solidFill>
                    <a:srgbClr val="0070C0"/>
                  </a:solidFill>
                  <a:latin typeface="Cambria Math" panose="02040503050406030204"/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284984"/>
                <a:ext cx="1844736" cy="844205"/>
              </a:xfrm>
              <a:prstGeom prst="rect">
                <a:avLst/>
              </a:prstGeom>
              <a:blipFill rotWithShape="1">
                <a:blip r:embed="rId2"/>
                <a:stretch>
                  <a:fillRect l="-783" t="-1745" r="-762" b="-168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6516215" y="4221088"/>
                <a:ext cx="1844736" cy="845937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IN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𝟔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𝟓𝟔𝟏</m:t>
                      </m:r>
                    </m:oMath>
                  </m:oMathPara>
                </a14:m>
                <a:endParaRPr lang="en-IN" sz="2400" b="1" dirty="0">
                  <a:solidFill>
                    <a:srgbClr val="0070C0"/>
                  </a:solidFill>
                  <a:latin typeface="Cambria Math" panose="02040503050406030204"/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5" y="4221088"/>
                <a:ext cx="1844736" cy="845937"/>
              </a:xfrm>
              <a:prstGeom prst="rect">
                <a:avLst/>
              </a:prstGeom>
              <a:blipFill rotWithShape="1">
                <a:blip r:embed="rId3"/>
                <a:stretch>
                  <a:fillRect l="-783" t="-1755" r="-762" b="-1684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564904"/>
            <a:ext cx="4816650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40" y="2780928"/>
            <a:ext cx="3322833" cy="26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520" y="692696"/>
            <a:ext cx="87050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cast-iron machine part is acted upon by the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IN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couple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shown. Knowing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I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165 </a:t>
            </a:r>
            <a:r>
              <a:rPr lang="en-I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and neglecting the effect of fillets,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determine (</a:t>
            </a:r>
            <a:r>
              <a:rPr lang="en-I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the maximum tensile and compressive stresses in the casting, (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radius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of curvature of the casting.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Problem </a:t>
            </a:r>
            <a:r>
              <a:rPr lang="en-IN" sz="2800" b="1" dirty="0">
                <a:solidFill>
                  <a:srgbClr val="00B050"/>
                </a:solidFill>
              </a:rPr>
              <a:t>8</a:t>
            </a:r>
            <a:endParaRPr lang="en-IN" sz="2800" b="1" dirty="0">
              <a:solidFill>
                <a:srgbClr val="00B05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37" y="5733255"/>
            <a:ext cx="2391431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426" y="5771354"/>
            <a:ext cx="2607999" cy="4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3" y="5771354"/>
            <a:ext cx="1589144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1346" y="-171400"/>
            <a:ext cx="11809311" cy="6839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856984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44884"/>
            <a:ext cx="7560839" cy="5236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"/>
            <a:ext cx="8712968" cy="1340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7992888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260648"/>
            <a:ext cx="8496944" cy="597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089" y="-27006"/>
            <a:ext cx="8712969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9036496" cy="6264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664"/>
            <a:ext cx="8882063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Shear Stresses in Beams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B2D1-3B98-4167-B7F7-8569152CB2D6}" type="datetime1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0" y="764703"/>
            <a:ext cx="3648747" cy="38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4989" y="446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Assumptions</a:t>
            </a:r>
            <a:endParaRPr lang="en-IN" sz="2800" b="1" dirty="0">
              <a:solidFill>
                <a:srgbClr val="00B05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631256"/>
            <a:ext cx="4033842" cy="16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820717" y="836712"/>
                <a:ext cx="5143771" cy="3037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shear stresses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  <a:cs typeface="Arial" panose="020B0604020202020204" pitchFamily="34" charset="0"/>
                      </a:rPr>
                      <m:t>𝝉</m:t>
                    </m:r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/>
                        <a:ea typeface="Cambria Math" panose="02040503050406030204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acting on the cross section are parallel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to the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shear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force</a:t>
                </a: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shear stresses are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uniformly distributed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across the width of the beam, although they may vary over </a:t>
                </a:r>
                <a:r>
                  <a:rPr lang="en-IN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height</a:t>
                </a: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7" y="836712"/>
                <a:ext cx="5143771" cy="3037050"/>
              </a:xfrm>
              <a:prstGeom prst="rect">
                <a:avLst/>
              </a:prstGeom>
              <a:blipFill rotWithShape="1">
                <a:blip r:embed="rId3"/>
                <a:stretch>
                  <a:fillRect l="-11" t="-14" r="4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973014" y="4056238"/>
                <a:ext cx="3001591" cy="936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𝝉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𝒂𝒕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Arial" panose="020B0604020202020204" pitchFamily="34" charset="0"/>
                        </a:rPr>
                        <m:t>=±</m:t>
                      </m:r>
                      <m:f>
                        <m:fPr>
                          <m:ctrlP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Arial" panose="020B0604020202020204" pitchFamily="34" charset="0"/>
                            </a:rPr>
                            <m:t>𝒉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14" y="4056238"/>
                <a:ext cx="3001591" cy="936154"/>
              </a:xfrm>
              <a:prstGeom prst="rect">
                <a:avLst/>
              </a:prstGeom>
              <a:blipFill rotWithShape="1">
                <a:blip r:embed="rId4"/>
                <a:stretch>
                  <a:fillRect l="-11" t="-53" r="9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5"/>
            <a:ext cx="3761370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68875" y="532993"/>
            <a:ext cx="502360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Each beam will be in compression above its own neutral axis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and in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tension below its neutral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axis</a:t>
            </a:r>
            <a:endParaRPr lang="en-IN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bottom surface of </a:t>
            </a: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upper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beam will slide with respect to the top surface of the lower </a:t>
            </a: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beam</a:t>
            </a:r>
            <a:endParaRPr lang="en-IN" sz="22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this beam is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glued and loaded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horizontal shear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stresses must develop along the glued surface in order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to prevent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the sliding </a:t>
            </a:r>
            <a:endParaRPr lang="en-IN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presence of </a:t>
            </a: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shear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stresses, the single solid beam is much stiffer </a:t>
            </a: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stronger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lang="en-IN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two </a:t>
            </a:r>
            <a:r>
              <a:rPr lang="en-IN" sz="2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</a:t>
            </a:r>
            <a:r>
              <a:rPr lang="en-IN" sz="22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beams</a:t>
            </a:r>
            <a:endParaRPr lang="en-IN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69627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4988" y="44624"/>
            <a:ext cx="467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Derivation of Shear Formula</a:t>
            </a:r>
            <a:endParaRPr lang="en-IN" sz="2800" b="1" dirty="0">
              <a:solidFill>
                <a:srgbClr val="00B05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54" y="3429000"/>
            <a:ext cx="25527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27" y="3281362"/>
            <a:ext cx="258127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29" y="5589240"/>
            <a:ext cx="29622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"/>
            <a:ext cx="8712968" cy="620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88640"/>
            <a:ext cx="7696200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424936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640960" cy="6007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9"/>
            <a:ext cx="8568952" cy="600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568952" cy="648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5"/>
            <a:ext cx="8496944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280920" cy="606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496944" cy="619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424936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 descr="https://qphs.fs.quoracdn.net/main-qimg-652046fc5db609848157b2d365d5334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289" y="2061126"/>
            <a:ext cx="573405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332656"/>
            <a:ext cx="7972425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784975" cy="619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8892480" cy="623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3"/>
            <a:ext cx="8568951" cy="620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820471" cy="6120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67CA-9DB5-49CA-9F18-CD20EB43F4A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214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332656"/>
            <a:ext cx="9505056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8366</Words>
  <Application>WPS Presentation</Application>
  <PresentationFormat>On-screen Show (4:3)</PresentationFormat>
  <Paragraphs>522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7" baseType="lpstr">
      <vt:lpstr>Arial</vt:lpstr>
      <vt:lpstr>SimSun</vt:lpstr>
      <vt:lpstr>Wingdings</vt:lpstr>
      <vt:lpstr>Calibri</vt:lpstr>
      <vt:lpstr>Cambria Math</vt:lpstr>
      <vt:lpstr>Microsoft YaHei</vt:lpstr>
      <vt:lpstr>Arial Unicode MS</vt:lpstr>
      <vt:lpstr>Times New Roman</vt:lpstr>
      <vt:lpstr>Office Theme</vt:lpstr>
      <vt:lpstr>Unit 4 Bending &amp; Shear Stresses in Beams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Shear Stresses in Beams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 214 Strength of Materials Unit 2 Bending Stresses in Beams</dc:title>
  <dc:creator>christo</dc:creator>
  <cp:lastModifiedBy>Dr jeyanthi ganesh</cp:lastModifiedBy>
  <cp:revision>172</cp:revision>
  <dcterms:created xsi:type="dcterms:W3CDTF">2016-03-04T05:14:00Z</dcterms:created>
  <dcterms:modified xsi:type="dcterms:W3CDTF">2026-09-09T13:37:40Z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9CE3F589554545368DB4710BA642786F_12</vt:lpwstr>
  </property>
  <property fmtid="{D5CDD505-2E9C-101B-9397-08002B2CF9AE}" pid="3" name="KSOProductBuildVer">
    <vt:lpwstr>1033-12.1.0.28485</vt:lpwstr>
  </property>
</Properties>
</file>