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0"/>
  </p:notesMasterIdLst>
  <p:sldIdLst>
    <p:sldId id="258" r:id="rId3"/>
    <p:sldId id="259" r:id="rId4"/>
    <p:sldId id="262" r:id="rId5"/>
    <p:sldId id="260" r:id="rId6"/>
    <p:sldId id="263" r:id="rId7"/>
    <p:sldId id="264" r:id="rId8"/>
    <p:sldId id="261" r:id="rId9"/>
    <p:sldId id="265" r:id="rId10"/>
    <p:sldId id="289" r:id="rId11"/>
    <p:sldId id="290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91" r:id="rId21"/>
    <p:sldId id="292" r:id="rId22"/>
    <p:sldId id="293" r:id="rId23"/>
    <p:sldId id="274" r:id="rId24"/>
    <p:sldId id="275" r:id="rId25"/>
    <p:sldId id="294" r:id="rId26"/>
    <p:sldId id="276" r:id="rId27"/>
    <p:sldId id="288" r:id="rId28"/>
    <p:sldId id="287" r:id="rId29"/>
    <p:sldId id="277" r:id="rId30"/>
    <p:sldId id="278" r:id="rId31"/>
    <p:sldId id="279" r:id="rId32"/>
    <p:sldId id="280" r:id="rId33"/>
    <p:sldId id="283" r:id="rId34"/>
    <p:sldId id="284" r:id="rId35"/>
    <p:sldId id="281" r:id="rId36"/>
    <p:sldId id="282" r:id="rId37"/>
    <p:sldId id="285" r:id="rId38"/>
    <p:sldId id="286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952C80-6108-4223-A5E7-DDEBDD772030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5A7363-19F3-4BB3-A354-E2B02E0CAED4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81943-88AA-4D55-B0C4-BD941A697DA3}" type="datetime1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2002 Strength of Materials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91038-27C1-44E8-80A5-CA3FD487DA2B}" type="datetime1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2002 Strength of Materials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2F4AD-7A1A-45C9-820A-0F7BD7DDAB9F}" type="datetime1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2002 Strength of Materials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824EC-5F26-4469-865B-6EF4BC5BC56F}" type="datetime1">
              <a:rPr lang="en-US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2002 Strength of Materials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41E18-071D-41CA-B3A0-E820A29680E4}" type="datetime1">
              <a:rPr lang="en-US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2002 Strength of Materials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CCE99-A2A9-449E-AC33-21A7C8EEF9B8}" type="datetime1">
              <a:rPr lang="en-US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2002 Strength of Materials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9A44A-DA30-4C1F-A446-83E65C71F831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2002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2912B-620A-42C0-A712-9BE5C16982D9}" type="datetime1">
              <a:rPr lang="en-US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2002 Strength of Materials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7DD54-89B1-4B5A-B1FC-961911E75434}" type="datetime1">
              <a:rPr lang="en-US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2002 Strength of Materials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8DF9E-098C-4497-A1F4-B666EFC9C5AF}" type="datetime1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2002 Strength of Materials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AEBC7-A6A1-47CB-824C-621CF67AE0D2}" type="datetime1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2002 Strength of Materials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3B8CCE-5703-4D2D-B4CC-B97F2F642819}" type="datetime1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smtClean="0"/>
              <a:t>MEE 2002 Strength of Materials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98AE6-4016-467A-A0CC-CBBAEED0875F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1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1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3.emf"/><Relationship Id="rId1" Type="http://schemas.openxmlformats.org/officeDocument/2006/relationships/image" Target="../media/image32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5.emf"/><Relationship Id="rId1" Type="http://schemas.openxmlformats.org/officeDocument/2006/relationships/image" Target="../media/image34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7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8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9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685800" y="2514600"/>
            <a:ext cx="7772400" cy="24384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900" b="1" dirty="0" smtClean="0">
                <a:solidFill>
                  <a:srgbClr val="FF0000"/>
                </a:solidFill>
              </a:rPr>
              <a:t>MODULE 3</a:t>
            </a:r>
            <a:br>
              <a:rPr lang="en-US" sz="4900" b="1" dirty="0" smtClean="0">
                <a:solidFill>
                  <a:srgbClr val="FF0000"/>
                </a:solidFill>
              </a:rPr>
            </a:br>
            <a:r>
              <a:rPr lang="en-US" b="1" dirty="0" smtClean="0"/>
              <a:t>Shear Force and Bending Moment</a:t>
            </a:r>
            <a:endParaRPr lang="en-US" b="1" dirty="0" smtClean="0"/>
          </a:p>
        </p:txBody>
      </p:sp>
      <p:sp>
        <p:nvSpPr>
          <p:cNvPr id="2051" name="Subtitle 2"/>
          <p:cNvSpPr>
            <a:spLocks noGrp="1"/>
          </p:cNvSpPr>
          <p:nvPr>
            <p:ph type="subTitle" idx="1"/>
          </p:nvPr>
        </p:nvSpPr>
        <p:spPr>
          <a:xfrm>
            <a:off x="1600200" y="5181600"/>
            <a:ext cx="5943600" cy="1295400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400" b="1" dirty="0" smtClean="0">
                <a:solidFill>
                  <a:srgbClr val="002060"/>
                </a:solidFill>
              </a:rPr>
              <a:t>By</a:t>
            </a:r>
            <a:endParaRPr lang="en-US" sz="2400" b="1" dirty="0" smtClean="0">
              <a:solidFill>
                <a:srgbClr val="002060"/>
              </a:solidFill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400" b="1" dirty="0" smtClean="0">
                <a:solidFill>
                  <a:schemeClr val="tx2"/>
                </a:solidFill>
              </a:rPr>
              <a:t>Dr. </a:t>
            </a:r>
            <a:r>
              <a:rPr lang="en-US" sz="2400" b="1" dirty="0" err="1" smtClean="0">
                <a:solidFill>
                  <a:schemeClr val="tx2"/>
                </a:solidFill>
              </a:rPr>
              <a:t>s.jeyanthi</a:t>
            </a:r>
            <a:endParaRPr lang="en-US" sz="2400" b="1" dirty="0" smtClean="0">
              <a:solidFill>
                <a:schemeClr val="tx2"/>
              </a:solidFill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400" b="1" dirty="0" smtClean="0">
                <a:solidFill>
                  <a:schemeClr val="tx2"/>
                </a:solidFill>
              </a:rPr>
              <a:t> Professor</a:t>
            </a:r>
            <a:endParaRPr lang="en-US" sz="2400" b="1" dirty="0" smtClean="0">
              <a:solidFill>
                <a:schemeClr val="tx2"/>
              </a:solidFill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4847" y="568977"/>
            <a:ext cx="4545653" cy="1280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4546848" cy="706090"/>
          </a:xfrm>
        </p:spPr>
        <p:txBody>
          <a:bodyPr/>
          <a:lstStyle/>
          <a:p>
            <a:pPr algn="l" eaLnBrk="1" hangingPunct="1"/>
            <a:r>
              <a:rPr lang="en-IN" sz="32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  <a:endParaRPr lang="en-IN" sz="3200" b="1" dirty="0" smtClean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E40144D-8332-479D-B197-87EA1C93BD53}" type="datetime1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MEE 2002 Strength of Materials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8DC5C0-0B3E-4EE7-90AF-B403B765D2B1}" type="slidenum">
              <a:rPr lang="en-US" smtClean="0"/>
            </a:fld>
            <a:endParaRPr lang="en-US" dirty="0"/>
          </a:p>
        </p:txBody>
      </p:sp>
      <p:sp>
        <p:nvSpPr>
          <p:cNvPr id="3078" name="TextBox 5"/>
          <p:cNvSpPr txBox="1">
            <a:spLocks noChangeArrowheads="1"/>
          </p:cNvSpPr>
          <p:nvPr/>
        </p:nvSpPr>
        <p:spPr bwMode="auto">
          <a:xfrm>
            <a:off x="533400" y="1371600"/>
            <a:ext cx="7848600" cy="3600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IN" sz="2400" dirty="0" smtClean="0"/>
              <a:t>Types of Beams</a:t>
            </a:r>
            <a:endParaRPr lang="en-IN" sz="2400" dirty="0" smtClean="0"/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IN" sz="2400" dirty="0" smtClean="0"/>
              <a:t>Shear Force and Bending Moment</a:t>
            </a:r>
            <a:endParaRPr lang="en-IN" sz="2400" dirty="0" smtClean="0"/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IN" sz="2400" dirty="0" smtClean="0"/>
              <a:t>Relation between Load, Shear and Bending Moment</a:t>
            </a:r>
            <a:endParaRPr lang="en-IN" sz="2400" dirty="0" smtClean="0"/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IN" sz="2400" dirty="0" smtClean="0"/>
              <a:t>Problems for various Loads</a:t>
            </a:r>
            <a:endParaRPr lang="en-IN" sz="2400" dirty="0" smtClean="0"/>
          </a:p>
          <a:p>
            <a:pPr marL="800100" lvl="1" indent="-342900" eaLnBrk="1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 smtClean="0"/>
              <a:t>Cantilever Beam</a:t>
            </a:r>
            <a:endParaRPr lang="en-IN" sz="2400" dirty="0"/>
          </a:p>
          <a:p>
            <a:pPr marL="800100" lvl="1" indent="-342900" eaLnBrk="1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 smtClean="0"/>
              <a:t>Simply Supported Beam</a:t>
            </a:r>
            <a:endParaRPr lang="en-IN" sz="2400" dirty="0" smtClean="0"/>
          </a:p>
          <a:p>
            <a:pPr marL="800100" lvl="1" indent="-342900" eaLnBrk="1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 smtClean="0"/>
              <a:t>Overhanging Beam</a:t>
            </a:r>
            <a:endParaRPr lang="en-I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63156-0234-4719-BBFD-BE931E15AEF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2002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sp>
        <p:nvSpPr>
          <p:cNvPr id="5" name="Title 1"/>
          <p:cNvSpPr txBox="1"/>
          <p:nvPr/>
        </p:nvSpPr>
        <p:spPr>
          <a:xfrm>
            <a:off x="457200" y="116632"/>
            <a:ext cx="8291264" cy="70609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2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Types of Beams</a:t>
            </a:r>
            <a:endParaRPr lang="en-IN" sz="3200" b="1" dirty="0" smtClean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042"/>
          <a:stretch>
            <a:fillRect/>
          </a:stretch>
        </p:blipFill>
        <p:spPr bwMode="auto">
          <a:xfrm>
            <a:off x="107504" y="1537569"/>
            <a:ext cx="8903242" cy="1315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767"/>
          <a:stretch>
            <a:fillRect/>
          </a:stretch>
        </p:blipFill>
        <p:spPr bwMode="auto">
          <a:xfrm>
            <a:off x="107499" y="4087091"/>
            <a:ext cx="8903247" cy="1818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itle 1"/>
          <p:cNvSpPr txBox="1"/>
          <p:nvPr/>
        </p:nvSpPr>
        <p:spPr>
          <a:xfrm>
            <a:off x="179512" y="836712"/>
            <a:ext cx="5382646" cy="54166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4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Statically Determinate Beams</a:t>
            </a:r>
            <a:endParaRPr lang="en-IN" sz="2400" b="1" dirty="0" smtClean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le 1"/>
          <p:cNvSpPr txBox="1"/>
          <p:nvPr/>
        </p:nvSpPr>
        <p:spPr>
          <a:xfrm>
            <a:off x="107499" y="3284984"/>
            <a:ext cx="5382646" cy="54166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4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Statically Indeterminate Beams</a:t>
            </a:r>
            <a:endParaRPr lang="en-IN" sz="2400" b="1" dirty="0" smtClean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1441" y="548680"/>
            <a:ext cx="3737023" cy="6217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63156-0234-4719-BBFD-BE931E15AEF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2002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sp>
        <p:nvSpPr>
          <p:cNvPr id="5" name="Title 1"/>
          <p:cNvSpPr txBox="1"/>
          <p:nvPr/>
        </p:nvSpPr>
        <p:spPr>
          <a:xfrm>
            <a:off x="457200" y="44624"/>
            <a:ext cx="8291264" cy="70609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2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Shear Force and Bending Moment</a:t>
            </a:r>
            <a:endParaRPr lang="en-IN" sz="3200" b="1" dirty="0" smtClean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79512" y="985952"/>
            <a:ext cx="44233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algebraic sum of the vertical forces at any section of a beam to the right or left of the section is known as </a:t>
            </a:r>
            <a:r>
              <a:rPr lang="en-IN" sz="24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shear force</a:t>
            </a: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79513" y="3429000"/>
            <a:ext cx="442331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algebraic sum of the moments of all the forces acting to the right or left of the section is known as </a:t>
            </a:r>
            <a:r>
              <a:rPr lang="en-IN" sz="24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bending moment</a:t>
            </a: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63156-0234-4719-BBFD-BE931E15AEF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2002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sp>
        <p:nvSpPr>
          <p:cNvPr id="5" name="Title 1"/>
          <p:cNvSpPr txBox="1"/>
          <p:nvPr/>
        </p:nvSpPr>
        <p:spPr>
          <a:xfrm>
            <a:off x="457200" y="116632"/>
            <a:ext cx="8291264" cy="70609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2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 Convention (Positive sign)</a:t>
            </a:r>
            <a:endParaRPr lang="en-IN" sz="3200" b="1" dirty="0" smtClean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863" y="1268760"/>
            <a:ext cx="3540194" cy="1463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576" y="3645025"/>
            <a:ext cx="3858768" cy="1463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itle 1"/>
          <p:cNvSpPr txBox="1"/>
          <p:nvPr/>
        </p:nvSpPr>
        <p:spPr>
          <a:xfrm>
            <a:off x="1304567" y="1729449"/>
            <a:ext cx="1979712" cy="54166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4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Shear Force</a:t>
            </a:r>
            <a:endParaRPr lang="en-IN" sz="2400" b="1" dirty="0" smtClean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304567" y="4105714"/>
            <a:ext cx="2839144" cy="54166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4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Bending Moment</a:t>
            </a:r>
            <a:endParaRPr lang="en-IN" sz="2400" b="1" dirty="0" smtClean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854032"/>
            <a:ext cx="3739183" cy="3931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63156-0234-4719-BBFD-BE931E15AEF7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2002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sp>
        <p:nvSpPr>
          <p:cNvPr id="5" name="Title 1"/>
          <p:cNvSpPr txBox="1"/>
          <p:nvPr/>
        </p:nvSpPr>
        <p:spPr>
          <a:xfrm>
            <a:off x="107504" y="58614"/>
            <a:ext cx="8291264" cy="70609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6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 among Load, Shear and Bending Moment</a:t>
            </a:r>
            <a:endParaRPr lang="en-IN" sz="2600" b="1" dirty="0" smtClean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548680"/>
            <a:ext cx="4239575" cy="2377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2202" y="1033785"/>
            <a:ext cx="1611630" cy="548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0763" y="1637510"/>
            <a:ext cx="3648048" cy="822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4617" y="2580134"/>
            <a:ext cx="1556951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1899" y="3789040"/>
            <a:ext cx="161059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4264124"/>
            <a:ext cx="4800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3027" y="5733256"/>
            <a:ext cx="1289712" cy="822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5E727-27E9-4BFF-A8D1-6BC7D06B10B5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2002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sp>
        <p:nvSpPr>
          <p:cNvPr id="5" name="Title 1"/>
          <p:cNvSpPr txBox="1"/>
          <p:nvPr/>
        </p:nvSpPr>
        <p:spPr>
          <a:xfrm>
            <a:off x="179512" y="104835"/>
            <a:ext cx="2592288" cy="587861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2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1</a:t>
            </a:r>
            <a:endParaRPr lang="en-IN" sz="3200" b="1" dirty="0" smtClean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6704112" y="44624"/>
            <a:ext cx="2332384" cy="35304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Cantilever Beams</a:t>
            </a:r>
            <a:endParaRPr lang="en-IN" sz="2000" b="1" dirty="0" smtClean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05" y="692695"/>
            <a:ext cx="5467578" cy="4480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itle 1"/>
          <p:cNvSpPr txBox="1"/>
          <p:nvPr/>
        </p:nvSpPr>
        <p:spPr>
          <a:xfrm>
            <a:off x="5796136" y="908720"/>
            <a:ext cx="2880320" cy="504056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Shear Force</a:t>
            </a:r>
            <a:endParaRPr lang="en-IN" sz="2800" b="1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868144" y="1556792"/>
                <a:ext cx="145886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/>
                            </a:rPr>
                            <m:t>𝑥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/>
                        </a:rPr>
                        <m:t>𝑊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8144" y="1556792"/>
                <a:ext cx="1458861" cy="461665"/>
              </a:xfrm>
              <a:prstGeom prst="rect">
                <a:avLst/>
              </a:prstGeom>
              <a:blipFill rotWithShape="1">
                <a:blip r:embed="rId2"/>
                <a:stretch>
                  <a:fillRect l="-7" t="-88" r="26" b="9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itle 1"/>
          <p:cNvSpPr txBox="1"/>
          <p:nvPr/>
        </p:nvSpPr>
        <p:spPr>
          <a:xfrm>
            <a:off x="7379661" y="1611101"/>
            <a:ext cx="1425352" cy="35304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(Constant)</a:t>
            </a:r>
            <a:endParaRPr lang="en-IN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itle 1"/>
          <p:cNvSpPr txBox="1"/>
          <p:nvPr/>
        </p:nvSpPr>
        <p:spPr>
          <a:xfrm>
            <a:off x="5796136" y="2084530"/>
            <a:ext cx="3240360" cy="504056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Bending Moment</a:t>
            </a:r>
            <a:endParaRPr lang="en-IN" sz="2800" b="1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5868144" y="2732602"/>
                <a:ext cx="174265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/>
                            </a:rPr>
                            <m:t>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/>
                            </a:rPr>
                            <m:t>𝑥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/>
                        </a:rPr>
                        <m:t>𝑊𝑥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8144" y="2732602"/>
                <a:ext cx="1742657" cy="461665"/>
              </a:xfrm>
              <a:prstGeom prst="rect">
                <a:avLst/>
              </a:prstGeom>
              <a:blipFill rotWithShape="1">
                <a:blip r:embed="rId3"/>
                <a:stretch>
                  <a:fillRect l="-6" t="-43" r="19" b="4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"/>
          <p:cNvSpPr txBox="1"/>
          <p:nvPr/>
        </p:nvSpPr>
        <p:spPr>
          <a:xfrm>
            <a:off x="7611144" y="2786911"/>
            <a:ext cx="1425352" cy="35304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(Linear)</a:t>
            </a:r>
            <a:endParaRPr lang="en-IN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le 1"/>
          <p:cNvSpPr txBox="1"/>
          <p:nvPr/>
        </p:nvSpPr>
        <p:spPr>
          <a:xfrm>
            <a:off x="5868144" y="3429000"/>
            <a:ext cx="1425352" cy="35304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At x=0</a:t>
            </a:r>
            <a:endParaRPr lang="en-IN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876256" y="3356992"/>
                <a:ext cx="123803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/>
                            </a:rPr>
                            <m:t>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/>
                            </a:rPr>
                            <m:t>B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6256" y="3356992"/>
                <a:ext cx="1238031" cy="461665"/>
              </a:xfrm>
              <a:prstGeom prst="rect">
                <a:avLst/>
              </a:prstGeom>
              <a:blipFill rotWithShape="1">
                <a:blip r:embed="rId4"/>
                <a:stretch>
                  <a:fillRect l="-38" t="-83" r="21" b="8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itle 1"/>
          <p:cNvSpPr txBox="1"/>
          <p:nvPr/>
        </p:nvSpPr>
        <p:spPr>
          <a:xfrm>
            <a:off x="5884898" y="4081038"/>
            <a:ext cx="1425352" cy="35304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At x=L</a:t>
            </a:r>
            <a:endParaRPr lang="en-IN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6893010" y="4009030"/>
                <a:ext cx="175766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/>
                            </a:rPr>
                            <m:t>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/>
                            </a:rPr>
                            <m:t>A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/>
                        </a:rPr>
                        <m:t>𝑊𝐿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3010" y="4009030"/>
                <a:ext cx="1757661" cy="461665"/>
              </a:xfrm>
              <a:prstGeom prst="rect">
                <a:avLst/>
              </a:prstGeom>
              <a:blipFill rotWithShape="1">
                <a:blip r:embed="rId5"/>
                <a:stretch>
                  <a:fillRect l="-5" t="-60" r="4" b="6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5E727-27E9-4BFF-A8D1-6BC7D06B10B5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2002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sp>
        <p:nvSpPr>
          <p:cNvPr id="5" name="Title 1"/>
          <p:cNvSpPr txBox="1"/>
          <p:nvPr/>
        </p:nvSpPr>
        <p:spPr>
          <a:xfrm>
            <a:off x="179512" y="104835"/>
            <a:ext cx="2592288" cy="587861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2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2</a:t>
            </a:r>
            <a:endParaRPr lang="en-IN" sz="3200" b="1" dirty="0" smtClean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6704112" y="44624"/>
            <a:ext cx="2332384" cy="35304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Cantilever Beams</a:t>
            </a:r>
            <a:endParaRPr lang="en-IN" sz="2000" b="1" dirty="0" smtClean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472" y="692695"/>
            <a:ext cx="6070661" cy="6126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9A44A-DA30-4C1F-A446-83E65C71F831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2002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692696"/>
            <a:ext cx="7488832" cy="104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916832"/>
            <a:ext cx="8676456" cy="2581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9A44A-DA30-4C1F-A446-83E65C71F831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2002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692696"/>
            <a:ext cx="7488832" cy="104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450594"/>
            <a:ext cx="7200800" cy="328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9A44A-DA30-4C1F-A446-83E65C71F831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2002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sp>
        <p:nvSpPr>
          <p:cNvPr id="5" name="Title 1"/>
          <p:cNvSpPr txBox="1"/>
          <p:nvPr/>
        </p:nvSpPr>
        <p:spPr>
          <a:xfrm>
            <a:off x="179512" y="104835"/>
            <a:ext cx="2592288" cy="587861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2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3</a:t>
            </a:r>
            <a:endParaRPr lang="en-IN" sz="3200" b="1" dirty="0" smtClean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6704112" y="44624"/>
            <a:ext cx="2332384" cy="35304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Cantilever Beams</a:t>
            </a:r>
            <a:endParaRPr lang="en-IN" sz="2000" b="1" dirty="0" smtClean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725487"/>
            <a:ext cx="6341927" cy="5577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9A44A-DA30-4C1F-A446-83E65C71F831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2002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sp>
        <p:nvSpPr>
          <p:cNvPr id="5" name="Title 1"/>
          <p:cNvSpPr txBox="1"/>
          <p:nvPr/>
        </p:nvSpPr>
        <p:spPr>
          <a:xfrm>
            <a:off x="179512" y="104835"/>
            <a:ext cx="2592288" cy="587861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2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4</a:t>
            </a:r>
            <a:endParaRPr lang="en-IN" sz="3200" b="1" dirty="0" smtClean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6704112" y="44624"/>
            <a:ext cx="2332384" cy="35304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Cantilever Beams</a:t>
            </a:r>
            <a:endParaRPr lang="en-IN" sz="2000" b="1" dirty="0" smtClean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4" y="710207"/>
            <a:ext cx="6541484" cy="5669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9A44A-DA30-4C1F-A446-83E65C71F831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2002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sp>
        <p:nvSpPr>
          <p:cNvPr id="5" name="Title 1"/>
          <p:cNvSpPr txBox="1"/>
          <p:nvPr/>
        </p:nvSpPr>
        <p:spPr>
          <a:xfrm>
            <a:off x="179512" y="104835"/>
            <a:ext cx="2592288" cy="587861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2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5</a:t>
            </a:r>
            <a:endParaRPr lang="en-IN" sz="3200" b="1" dirty="0" smtClean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6704112" y="44624"/>
            <a:ext cx="2332384" cy="35304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Cantilever Beams</a:t>
            </a:r>
            <a:endParaRPr lang="en-IN" sz="2000" b="1" dirty="0" smtClean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32" y="764703"/>
            <a:ext cx="6776140" cy="5577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9A44A-DA30-4C1F-A446-83E65C71F831}" type="datetime1">
              <a:rPr lang="en-US" smtClean="0"/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692695"/>
            <a:ext cx="4921506" cy="6035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1"/>
          <p:cNvSpPr txBox="1"/>
          <p:nvPr/>
        </p:nvSpPr>
        <p:spPr>
          <a:xfrm>
            <a:off x="179512" y="104835"/>
            <a:ext cx="2592288" cy="587861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2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6</a:t>
            </a:r>
            <a:endParaRPr lang="en-IN" sz="3200" b="1" dirty="0" smtClean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6704112" y="44624"/>
            <a:ext cx="2332384" cy="35304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Cantilever Beams</a:t>
            </a:r>
            <a:endParaRPr lang="en-IN" sz="2000" b="1" dirty="0" smtClean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9A44A-DA30-4C1F-A446-83E65C71F831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2002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1" y="692695"/>
            <a:ext cx="5844430" cy="6126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1"/>
          <p:cNvSpPr txBox="1"/>
          <p:nvPr/>
        </p:nvSpPr>
        <p:spPr>
          <a:xfrm>
            <a:off x="179512" y="104835"/>
            <a:ext cx="2592288" cy="587861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2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7</a:t>
            </a:r>
            <a:endParaRPr lang="en-IN" sz="3200" b="1" dirty="0" smtClean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6704112" y="44624"/>
            <a:ext cx="2332384" cy="35304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Cantilever Beams</a:t>
            </a:r>
            <a:endParaRPr lang="en-IN" sz="2000" b="1" dirty="0" smtClean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9A44A-DA30-4C1F-A446-83E65C71F831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2002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692696"/>
            <a:ext cx="6228588" cy="6126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1"/>
          <p:cNvSpPr txBox="1"/>
          <p:nvPr/>
        </p:nvSpPr>
        <p:spPr>
          <a:xfrm>
            <a:off x="179512" y="104835"/>
            <a:ext cx="2592288" cy="587861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2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8</a:t>
            </a:r>
            <a:endParaRPr lang="en-IN" sz="3200" b="1" dirty="0" smtClean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6704112" y="44624"/>
            <a:ext cx="2332384" cy="35304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Cantilever Beams</a:t>
            </a:r>
            <a:endParaRPr lang="en-IN" sz="2000" b="1" dirty="0" smtClean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9A44A-DA30-4C1F-A446-83E65C71F831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2002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15" y="692696"/>
            <a:ext cx="5877696" cy="6126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1"/>
          <p:cNvSpPr txBox="1"/>
          <p:nvPr/>
        </p:nvSpPr>
        <p:spPr>
          <a:xfrm>
            <a:off x="179512" y="104835"/>
            <a:ext cx="2592288" cy="587861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2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9</a:t>
            </a:r>
            <a:endParaRPr lang="en-IN" sz="3200" b="1" dirty="0" smtClean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6704112" y="44624"/>
            <a:ext cx="2332384" cy="35304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Cantilever Beams</a:t>
            </a:r>
            <a:endParaRPr lang="en-IN" sz="2000" b="1" dirty="0" smtClean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9A44A-DA30-4C1F-A446-83E65C71F831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2002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856" y="692695"/>
            <a:ext cx="7071034" cy="6035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1"/>
          <p:cNvSpPr txBox="1"/>
          <p:nvPr/>
        </p:nvSpPr>
        <p:spPr>
          <a:xfrm>
            <a:off x="179512" y="104835"/>
            <a:ext cx="2592288" cy="587861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2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10</a:t>
            </a:r>
            <a:endParaRPr lang="en-IN" sz="3200" b="1" dirty="0" smtClean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5652120" y="44624"/>
            <a:ext cx="3384376" cy="35304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Simply Supported  Beams</a:t>
            </a:r>
            <a:endParaRPr lang="en-IN" sz="2000" b="1" dirty="0" smtClean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9A44A-DA30-4C1F-A446-83E65C71F831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2002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268760"/>
            <a:ext cx="8352927" cy="48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483768" y="836712"/>
            <a:ext cx="2837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Simply </a:t>
            </a:r>
            <a:r>
              <a:rPr lang="en-IN" dirty="0" err="1" smtClean="0"/>
              <a:t>supp</a:t>
            </a:r>
            <a:r>
              <a:rPr lang="en-IN" dirty="0" smtClean="0"/>
              <a:t> beam problems</a:t>
            </a:r>
            <a:endParaRPr lang="en-I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9A44A-DA30-4C1F-A446-83E65C71F831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2002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-25361"/>
            <a:ext cx="7632848" cy="3025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852936"/>
            <a:ext cx="8280920" cy="3672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9A44A-DA30-4C1F-A446-83E65C71F831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2002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4005064"/>
            <a:ext cx="6408712" cy="2376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404664"/>
            <a:ext cx="6840760" cy="3180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9A44A-DA30-4C1F-A446-83E65C71F831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2002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1" y="764704"/>
            <a:ext cx="6872302" cy="594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1"/>
          <p:cNvSpPr txBox="1"/>
          <p:nvPr/>
        </p:nvSpPr>
        <p:spPr>
          <a:xfrm>
            <a:off x="179512" y="104835"/>
            <a:ext cx="2592288" cy="587861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2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11</a:t>
            </a:r>
            <a:endParaRPr lang="en-IN" sz="3200" b="1" dirty="0" smtClean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5652120" y="44624"/>
            <a:ext cx="3384376" cy="35304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Simply Supported  Beams</a:t>
            </a:r>
            <a:endParaRPr lang="en-IN" sz="2000" b="1" dirty="0" smtClean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9A44A-DA30-4C1F-A446-83E65C71F831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2002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728045"/>
            <a:ext cx="6739128" cy="6035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1"/>
          <p:cNvSpPr txBox="1"/>
          <p:nvPr/>
        </p:nvSpPr>
        <p:spPr>
          <a:xfrm>
            <a:off x="179512" y="104835"/>
            <a:ext cx="2592288" cy="587861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2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12</a:t>
            </a:r>
            <a:endParaRPr lang="en-IN" sz="3200" b="1" dirty="0" smtClean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5652120" y="44624"/>
            <a:ext cx="3384376" cy="35304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Simply Supported  Beams</a:t>
            </a:r>
            <a:endParaRPr lang="en-IN" sz="2000" b="1" dirty="0" smtClean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FD9A44A-DA30-4C1F-A446-83E65C71F831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IN" smtClean="0"/>
              <a:t>MEE 2002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3B98AE6-4016-467A-A0CC-CBBAEED0875F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9A44A-DA30-4C1F-A446-83E65C71F831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2002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658415"/>
            <a:ext cx="6530835" cy="6035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1"/>
          <p:cNvSpPr txBox="1"/>
          <p:nvPr/>
        </p:nvSpPr>
        <p:spPr>
          <a:xfrm>
            <a:off x="179512" y="104835"/>
            <a:ext cx="2592288" cy="587861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2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13</a:t>
            </a:r>
            <a:endParaRPr lang="en-IN" sz="3200" b="1" dirty="0" smtClean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5652120" y="44624"/>
            <a:ext cx="3384376" cy="35304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Simply Supported  Beams</a:t>
            </a:r>
            <a:endParaRPr lang="en-IN" sz="2000" b="1" dirty="0" smtClean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4363" y="1844824"/>
            <a:ext cx="143661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 smtClean="0"/>
              <a:t>Ra+Rb</a:t>
            </a:r>
            <a:r>
              <a:rPr lang="en-IN" dirty="0" smtClean="0"/>
              <a:t>=60KN</a:t>
            </a:r>
            <a:endParaRPr lang="en-IN" dirty="0" smtClean="0"/>
          </a:p>
          <a:p>
            <a:r>
              <a:rPr lang="en-IN" dirty="0" smtClean="0"/>
              <a:t>MOENT AT A</a:t>
            </a:r>
            <a:endParaRPr lang="en-IN" dirty="0" smtClean="0"/>
          </a:p>
          <a:p>
            <a:r>
              <a:rPr lang="en-IN" dirty="0" smtClean="0"/>
              <a:t>RB*9-60*3=0</a:t>
            </a:r>
            <a:endParaRPr lang="en-IN" dirty="0" smtClean="0"/>
          </a:p>
          <a:p>
            <a:r>
              <a:rPr lang="en-IN" dirty="0" smtClean="0"/>
              <a:t>RA=40</a:t>
            </a:r>
            <a:endParaRPr lang="en-IN" dirty="0" smtClean="0"/>
          </a:p>
          <a:p>
            <a:r>
              <a:rPr lang="en-IN" dirty="0" smtClean="0"/>
              <a:t>RB=20</a:t>
            </a:r>
            <a:endParaRPr lang="en-IN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9A44A-DA30-4C1F-A446-83E65C71F831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2002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692696"/>
            <a:ext cx="8568952" cy="5184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9A44A-DA30-4C1F-A446-83E65C71F831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2002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980728"/>
            <a:ext cx="8136904" cy="4968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9A44A-DA30-4C1F-A446-83E65C71F831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2002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120" y="692695"/>
            <a:ext cx="6909202" cy="6035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1"/>
          <p:cNvSpPr txBox="1"/>
          <p:nvPr/>
        </p:nvSpPr>
        <p:spPr>
          <a:xfrm>
            <a:off x="179512" y="104835"/>
            <a:ext cx="2592288" cy="587861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2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14</a:t>
            </a:r>
            <a:endParaRPr lang="en-IN" sz="3200" b="1" dirty="0" smtClean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5652120" y="44624"/>
            <a:ext cx="3384376" cy="35304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Simply Supported  Beams</a:t>
            </a:r>
            <a:endParaRPr lang="en-IN" sz="2000" b="1" dirty="0" smtClean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9A44A-DA30-4C1F-A446-83E65C71F831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2002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536" y="699800"/>
            <a:ext cx="6531782" cy="6126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1"/>
          <p:cNvSpPr txBox="1"/>
          <p:nvPr/>
        </p:nvSpPr>
        <p:spPr>
          <a:xfrm>
            <a:off x="179512" y="104835"/>
            <a:ext cx="2592288" cy="587861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2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15</a:t>
            </a:r>
            <a:endParaRPr lang="en-IN" sz="3200" b="1" dirty="0" smtClean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5652120" y="44624"/>
            <a:ext cx="3384376" cy="35304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Simply Supported  Beams</a:t>
            </a:r>
            <a:endParaRPr lang="en-IN" sz="2000" b="1" dirty="0" smtClean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9A44A-DA30-4C1F-A446-83E65C71F831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2002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08" y="675878"/>
            <a:ext cx="6514997" cy="6126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1"/>
          <p:cNvSpPr txBox="1"/>
          <p:nvPr/>
        </p:nvSpPr>
        <p:spPr>
          <a:xfrm>
            <a:off x="179512" y="104835"/>
            <a:ext cx="2592288" cy="587861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2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16</a:t>
            </a:r>
            <a:endParaRPr lang="en-IN" sz="3200" b="1" dirty="0" smtClean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5652120" y="44624"/>
            <a:ext cx="3384376" cy="35304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Simply Supported  Beams</a:t>
            </a:r>
            <a:endParaRPr lang="en-IN" sz="2000" b="1" dirty="0" smtClean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9A44A-DA30-4C1F-A446-83E65C71F831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2002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609" y="692695"/>
            <a:ext cx="6995053" cy="6126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1"/>
          <p:cNvSpPr txBox="1"/>
          <p:nvPr/>
        </p:nvSpPr>
        <p:spPr>
          <a:xfrm>
            <a:off x="179512" y="104835"/>
            <a:ext cx="2592288" cy="587861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2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17</a:t>
            </a:r>
            <a:endParaRPr lang="en-IN" sz="3200" b="1" dirty="0" smtClean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5652120" y="44624"/>
            <a:ext cx="3384376" cy="35304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Simply Supported  Beams</a:t>
            </a:r>
            <a:endParaRPr lang="en-IN" sz="2000" b="1" dirty="0" smtClean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9A44A-DA30-4C1F-A446-83E65C71F831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2002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22" y="702537"/>
            <a:ext cx="7994708" cy="5669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1"/>
          <p:cNvSpPr txBox="1"/>
          <p:nvPr/>
        </p:nvSpPr>
        <p:spPr>
          <a:xfrm>
            <a:off x="179512" y="104835"/>
            <a:ext cx="2592288" cy="587861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2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18</a:t>
            </a:r>
            <a:endParaRPr lang="en-IN" sz="3200" b="1" dirty="0" smtClean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6300192" y="44624"/>
            <a:ext cx="2736303" cy="35304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Overhanging Beams</a:t>
            </a:r>
            <a:endParaRPr lang="en-IN" sz="2000" b="1" dirty="0" smtClean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9A44A-DA30-4C1F-A446-83E65C71F831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2002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37" y="692696"/>
            <a:ext cx="7126059" cy="6126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1"/>
          <p:cNvSpPr txBox="1"/>
          <p:nvPr/>
        </p:nvSpPr>
        <p:spPr>
          <a:xfrm>
            <a:off x="179512" y="104835"/>
            <a:ext cx="2592288" cy="587861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2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19</a:t>
            </a:r>
            <a:endParaRPr lang="en-IN" sz="3200" b="1" dirty="0" smtClean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6300192" y="44624"/>
            <a:ext cx="2736303" cy="35304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Overhanging Beams</a:t>
            </a:r>
            <a:endParaRPr lang="en-IN" sz="2000" b="1" dirty="0" smtClean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9A44A-DA30-4C1F-A446-83E65C71F831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2002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92696"/>
            <a:ext cx="7119168" cy="6035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1"/>
          <p:cNvSpPr txBox="1"/>
          <p:nvPr/>
        </p:nvSpPr>
        <p:spPr>
          <a:xfrm>
            <a:off x="179512" y="104835"/>
            <a:ext cx="2592288" cy="587861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2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20</a:t>
            </a:r>
            <a:endParaRPr lang="en-IN" sz="3200" b="1" dirty="0" smtClean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6300192" y="44624"/>
            <a:ext cx="2736303" cy="35304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Overhanging Beams</a:t>
            </a:r>
            <a:endParaRPr lang="en-IN" sz="2000" b="1" dirty="0" smtClean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9A44A-DA30-4C1F-A446-83E65C71F831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2002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048" y="692696"/>
            <a:ext cx="5867607" cy="6126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1"/>
          <p:cNvSpPr txBox="1"/>
          <p:nvPr/>
        </p:nvSpPr>
        <p:spPr>
          <a:xfrm>
            <a:off x="179512" y="104835"/>
            <a:ext cx="2592288" cy="587861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2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21</a:t>
            </a:r>
            <a:endParaRPr lang="en-IN" sz="3200" b="1" dirty="0" smtClean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6300192" y="44624"/>
            <a:ext cx="2736303" cy="35304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Overhanging Beams</a:t>
            </a:r>
            <a:endParaRPr lang="en-IN" sz="2000" b="1" dirty="0" smtClean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9A44A-DA30-4C1F-A446-83E65C71F831}" type="datetime1">
              <a:rPr lang="en-US" smtClean="0"/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1" y="548680"/>
            <a:ext cx="4868994" cy="6217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1"/>
          <p:cNvSpPr txBox="1"/>
          <p:nvPr/>
        </p:nvSpPr>
        <p:spPr>
          <a:xfrm>
            <a:off x="179512" y="32827"/>
            <a:ext cx="2592288" cy="587861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2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22</a:t>
            </a:r>
            <a:endParaRPr lang="en-IN" sz="3200" b="1" dirty="0" smtClean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6300192" y="44624"/>
            <a:ext cx="2736303" cy="35304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Overhanging Beams</a:t>
            </a:r>
            <a:endParaRPr lang="en-IN" sz="2000" b="1" dirty="0" smtClean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9A44A-DA30-4C1F-A446-83E65C71F831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MEE 2002 Strength of Materials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8AE6-4016-467A-A0CC-CBBAEED0875F}" type="slidenum">
              <a:rPr lang="en-IN" smtClean="0"/>
            </a:fld>
            <a:endParaRPr lang="en-IN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35" y="620687"/>
            <a:ext cx="7483715" cy="6126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1"/>
          <p:cNvSpPr txBox="1"/>
          <p:nvPr/>
        </p:nvSpPr>
        <p:spPr>
          <a:xfrm>
            <a:off x="179512" y="32827"/>
            <a:ext cx="2592288" cy="587861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2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23</a:t>
            </a:r>
            <a:endParaRPr lang="en-IN" sz="3200" b="1" dirty="0" smtClean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6300192" y="44624"/>
            <a:ext cx="2736303" cy="35304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Overhanging Beams</a:t>
            </a:r>
            <a:endParaRPr lang="en-IN" sz="2000" b="1" dirty="0" smtClean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2600</Words>
  <Application>WPS Presentation</Application>
  <PresentationFormat>On-screen Show (4:3)</PresentationFormat>
  <Paragraphs>368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5" baseType="lpstr">
      <vt:lpstr>Arial</vt:lpstr>
      <vt:lpstr>SimSun</vt:lpstr>
      <vt:lpstr>Wingdings</vt:lpstr>
      <vt:lpstr>Cambria Math</vt:lpstr>
      <vt:lpstr>Calibri</vt:lpstr>
      <vt:lpstr>Microsoft YaHei</vt:lpstr>
      <vt:lpstr>Arial Unicode MS</vt:lpstr>
      <vt:lpstr>Office Theme</vt:lpstr>
      <vt:lpstr>MODULE 3 Shear Force and Bending Moment</vt:lpstr>
      <vt:lpstr>Outline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 214 Strength of Materials Unit 2 Bending Stresses in Beams</dc:title>
  <dc:creator>christo</dc:creator>
  <cp:lastModifiedBy>Dr jeyanthi ganesh</cp:lastModifiedBy>
  <cp:revision>193</cp:revision>
  <dcterms:created xsi:type="dcterms:W3CDTF">2016-03-04T05:14:00Z</dcterms:created>
  <dcterms:modified xsi:type="dcterms:W3CDTF">2026-08-27T03:58:00Z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93409E8BF0804CF9B957E819420BD68F_12</vt:lpwstr>
  </property>
  <property fmtid="{D5CDD505-2E9C-101B-9397-08002B2CF9AE}" pid="3" name="KSOProductBuildVer">
    <vt:lpwstr>1033-12.1.0.28032</vt:lpwstr>
  </property>
</Properties>
</file>